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4" r:id="rId9"/>
    <p:sldId id="265" r:id="rId10"/>
    <p:sldId id="263" r:id="rId11"/>
    <p:sldId id="267" r:id="rId12"/>
    <p:sldId id="268" r:id="rId13"/>
    <p:sldId id="266" r:id="rId14"/>
    <p:sldId id="269" r:id="rId15"/>
    <p:sldId id="271" r:id="rId16"/>
    <p:sldId id="272" r:id="rId17"/>
    <p:sldId id="274" r:id="rId18"/>
    <p:sldId id="275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532" y="8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27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08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628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02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8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3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66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03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24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4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739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C0EEA-2219-4626-BC35-C13612AF592B}" type="datetimeFigureOut">
              <a:rPr lang="zh-CN" altLang="en-US" smtClean="0"/>
              <a:t>2020/9/5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30ABA-877A-46AD-8E8C-7795F9BF88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6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" y="4354914"/>
            <a:ext cx="890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考察方向：获取并解读图像有效信息的能力；我国冷空气南下的时间分布特征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" y="480170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解题思路：依据图像信息可得，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项，与</a:t>
            </a:r>
            <a:r>
              <a:rPr lang="en-US" altLang="zh-CN" sz="2000" b="1" dirty="0" smtClean="0"/>
              <a:t>11</a:t>
            </a:r>
            <a:r>
              <a:rPr lang="zh-CN" altLang="en-US" sz="2000" b="1" dirty="0" smtClean="0"/>
              <a:t>月份实际情况不符；</a:t>
            </a:r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项，</a:t>
            </a:r>
            <a:r>
              <a:rPr lang="en-US" altLang="zh-CN" sz="2000" b="1" dirty="0" smtClean="0"/>
              <a:t>3</a:t>
            </a:r>
            <a:r>
              <a:rPr lang="zh-CN" altLang="en-US" sz="2000" b="1" dirty="0" smtClean="0"/>
              <a:t>月与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月频次不相等（要仔细读图）；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Ｄ项，冷空气南下在我国一年四季都会出现，在冬春季频次较高，其他季节较少，所以在图中２月频次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最低，不代表一年中最低</a:t>
            </a:r>
            <a:r>
              <a:rPr lang="zh-CN" altLang="en-US" sz="2000" b="1" dirty="0"/>
              <a:t>；</a:t>
            </a:r>
            <a:r>
              <a:rPr lang="zh-CN" altLang="en-US" sz="2000" b="1" dirty="0" smtClean="0"/>
              <a:t>故据图可知Ｃ项符合要求。</a:t>
            </a:r>
            <a:endParaRPr lang="en-US" altLang="zh-CN" sz="20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234462" y="74665"/>
            <a:ext cx="11494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图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为“我国京津冀地区</a:t>
            </a:r>
            <a:r>
              <a:rPr lang="en-US" altLang="zh-CN" sz="2000" b="1" dirty="0" smtClean="0"/>
              <a:t>1981-2015</a:t>
            </a:r>
            <a:r>
              <a:rPr lang="zh-CN" altLang="en-US" sz="2000" b="1" dirty="0" smtClean="0"/>
              <a:t>年连续数月冷空气过程发生频次及各级冷空气过程发生比例统计”。读图，完成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～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题。</a:t>
            </a:r>
            <a:endParaRPr lang="zh-CN" altLang="en-US" sz="2000" b="1" dirty="0"/>
          </a:p>
        </p:txBody>
      </p:sp>
      <p:pic>
        <p:nvPicPr>
          <p:cNvPr id="2050" name="Picture 2" descr="C:\Users\86153\AppData\Local\Temp\ksohtml18716\wp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21" y="720996"/>
            <a:ext cx="5923503" cy="339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6424246" y="1186851"/>
            <a:ext cx="57003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1.</a:t>
            </a:r>
            <a:r>
              <a:rPr lang="zh-CN" altLang="en-US" sz="2000" b="1" dirty="0" smtClean="0"/>
              <a:t>关于京津冀地区冷空气过程发生的描述，正确的是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A.</a:t>
            </a:r>
            <a:r>
              <a:rPr lang="zh-CN" altLang="en-US" sz="2000" b="1" dirty="0" smtClean="0"/>
              <a:t>级别越高，发生频次越低          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B.3</a:t>
            </a:r>
            <a:r>
              <a:rPr lang="zh-CN" altLang="en-US" sz="2000" b="1" dirty="0" smtClean="0"/>
              <a:t>月中等冷空气发生频次与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月相等</a:t>
            </a:r>
          </a:p>
          <a:p>
            <a:r>
              <a:rPr lang="en-US" altLang="zh-CN" sz="2000" b="1" dirty="0" smtClean="0"/>
              <a:t>C.</a:t>
            </a:r>
            <a:r>
              <a:rPr lang="zh-CN" altLang="en-US" sz="2000" b="1" dirty="0" smtClean="0"/>
              <a:t>一年中寒潮频次最多的是</a:t>
            </a:r>
            <a:r>
              <a:rPr lang="en-US" altLang="zh-CN" sz="2000" b="1" dirty="0" smtClean="0"/>
              <a:t>11</a:t>
            </a:r>
            <a:r>
              <a:rPr lang="zh-CN" altLang="en-US" sz="2000" b="1" dirty="0" smtClean="0"/>
              <a:t>月     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D.</a:t>
            </a:r>
            <a:r>
              <a:rPr lang="zh-CN" altLang="en-US" sz="2000" b="1" dirty="0" smtClean="0"/>
              <a:t>一年中寒潮频次最少的是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月份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8685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4222376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考察方向：气象灾害对人类活动的影响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4669169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解题思路：依据所学知识可得，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①春小麦主要分布于我国的东北地区，且一般春种，夏末秋初（８、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9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月）收，时空上与京津冀地区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11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月存在差异；②冬季，气温骤降，会引起人体不适，引起流行性感冒；③寒潮天气，可能存在道路结冰，交通安全威胁；④山体滑坡多发生在地形复杂的山区，该地区为平原</a:t>
            </a:r>
            <a:r>
              <a:rPr lang="zh-CN" altLang="en-US" sz="2000" b="1" dirty="0" smtClean="0"/>
              <a:t>；故本题选择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项。</a:t>
            </a:r>
            <a:endParaRPr lang="en-US" altLang="zh-CN" sz="20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234462" y="74665"/>
            <a:ext cx="11494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图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为“我国京津冀地区</a:t>
            </a:r>
            <a:r>
              <a:rPr lang="en-US" altLang="zh-CN" sz="2000" b="1" dirty="0" smtClean="0"/>
              <a:t>1981-2015</a:t>
            </a:r>
            <a:r>
              <a:rPr lang="zh-CN" altLang="en-US" sz="2000" b="1" dirty="0" smtClean="0"/>
              <a:t>年连续数月冷空气过程发生频次及各级冷空气过程发生比例统计”。读图，完成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～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题。</a:t>
            </a:r>
            <a:endParaRPr lang="zh-CN" altLang="en-US" sz="2000" b="1" dirty="0"/>
          </a:p>
        </p:txBody>
      </p:sp>
      <p:pic>
        <p:nvPicPr>
          <p:cNvPr id="8" name="Picture 2" descr="C:\Users\86153\AppData\Local\Temp\ksohtml18716\wp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21" y="720996"/>
            <a:ext cx="5923503" cy="339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6242224" y="1127935"/>
            <a:ext cx="59497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2.2015</a:t>
            </a:r>
            <a:r>
              <a:rPr lang="zh-CN" altLang="en-US" sz="2000" b="1" dirty="0" smtClean="0"/>
              <a:t>年</a:t>
            </a:r>
            <a:r>
              <a:rPr lang="en-US" altLang="zh-CN" sz="2000" b="1" dirty="0" smtClean="0"/>
              <a:t>11</a:t>
            </a:r>
            <a:r>
              <a:rPr lang="zh-CN" altLang="en-US" sz="2000" b="1" dirty="0" smtClean="0"/>
              <a:t>月下旬，寒潮侵袭京津冀地区，产生的主要影响可能有（   ）</a:t>
            </a:r>
          </a:p>
          <a:p>
            <a:r>
              <a:rPr lang="zh-CN" altLang="en-US" sz="2000" b="1" dirty="0" smtClean="0"/>
              <a:t>①春小麦遭受冻害，大面积减产   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②人体免疫能力下降，患者数量增加</a:t>
            </a:r>
          </a:p>
          <a:p>
            <a:r>
              <a:rPr lang="zh-CN" altLang="en-US" sz="2000" b="1" dirty="0" smtClean="0"/>
              <a:t>③城市交通流量减少，车速下降   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④诱发山体滑坡，掩埋农田和村庄</a:t>
            </a:r>
          </a:p>
          <a:p>
            <a:r>
              <a:rPr lang="en-US" altLang="zh-CN" sz="2000" b="1" dirty="0" smtClean="0"/>
              <a:t>A.①②        B.②③        C.①④         D.③④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9332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4881800"/>
            <a:ext cx="5775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3.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考察方向：依据图像分析区域自然地理环境特征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5328593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解题思路：依据图像并结合所学可得，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项，该区域河流由中间向南北两侧流动，故地势中部高，南北两侧低；</a:t>
            </a:r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项，本地区地处我国秦岭以北地区且河流短小，水运条件较差；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项，中国只有东北地区存在春夏两个汛期；</a:t>
            </a:r>
            <a:r>
              <a:rPr lang="en-US" altLang="zh-CN" sz="2000" b="1" dirty="0" smtClean="0"/>
              <a:t>D</a:t>
            </a:r>
            <a:r>
              <a:rPr lang="zh-CN" altLang="en-US" sz="2000" b="1" dirty="0" smtClean="0"/>
              <a:t>项，依据区域自然带的分布类型可以得出该区域甲为栎林带，乙为冷杉林带，所以甲热量优于乙；</a:t>
            </a:r>
            <a:endParaRPr lang="en-US" altLang="zh-CN" sz="20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b="20361"/>
          <a:stretch/>
        </p:blipFill>
        <p:spPr>
          <a:xfrm>
            <a:off x="61546" y="105508"/>
            <a:ext cx="9268964" cy="45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2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4908176"/>
            <a:ext cx="57759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4.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考察方向：依据图像分析区域自然地理环境特征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535496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解题思路：依据图像并结合所学可得，该地区从四周向中心的自然带演替具有明显的垂直地域分异规律</a:t>
            </a:r>
            <a:endParaRPr lang="en-US" altLang="zh-CN" sz="2000" b="1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39292"/>
          <a:stretch/>
        </p:blipFill>
        <p:spPr>
          <a:xfrm>
            <a:off x="0" y="27036"/>
            <a:ext cx="8782924" cy="32700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12" y="3350697"/>
            <a:ext cx="8193303" cy="127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4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25411" b="18222"/>
          <a:stretch/>
        </p:blipFill>
        <p:spPr>
          <a:xfrm>
            <a:off x="0" y="1120588"/>
            <a:ext cx="6354213" cy="357691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54213" y="1201271"/>
            <a:ext cx="583778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5-6.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考察方向：地貌的成因及特征分析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7" y="0"/>
            <a:ext cx="11394918" cy="120127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6354212" y="1601381"/>
            <a:ext cx="583778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       位于江苏中部的盐城沿海一带是我国海沉积地貌体系发育最特殊、潮滩资源最为富集的区域。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这片涨潮为大海，落潮为巨滩的特殊区域乃是潮沟水道发育的天然宝地。</a:t>
            </a:r>
            <a:r>
              <a:rPr lang="zh-CN" altLang="en-US" sz="2000" b="1" dirty="0" smtClean="0"/>
              <a:t>图为盐城滩涂上的潮沟景观，像是一排生长在金黄地平线上的深秋树林。一般来说，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这种因潮汐涨落而形成的“潮汐树”枝杈向陆，根部向海，在这里却完全调转了方向。</a:t>
            </a:r>
            <a:r>
              <a:rPr lang="zh-CN" altLang="en-US" sz="2000" b="1" dirty="0" smtClean="0"/>
              <a:t>究其原因，是因为这一带海洋动力复杂，并进一步影响了涨落潮时水流及潮沟走向。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图下方的波纹则是落潮后大潮沟底部细沙被海风强劲吹拂而形成的。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79" y="4697505"/>
            <a:ext cx="9075212" cy="20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8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083777" y="1802423"/>
            <a:ext cx="633046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75085" y="4879732"/>
            <a:ext cx="1565030" cy="803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34154" y="4211517"/>
            <a:ext cx="718038" cy="77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504592" y="2189284"/>
            <a:ext cx="633046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027127" y="5065834"/>
            <a:ext cx="1077058" cy="7420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576655" y="4739054"/>
            <a:ext cx="68740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576655" y="2070588"/>
            <a:ext cx="687405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1321" y="4699430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考察方向：太阳周日视运动轨迹与方位判断</a:t>
            </a:r>
            <a:endParaRPr lang="zh-CN" altLang="en-US" sz="20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218374" y="503170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解题思路：依据</a:t>
            </a:r>
            <a:endParaRPr lang="zh-CN" altLang="en-US" sz="2000" b="1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/>
          <a:srcRect t="8942" b="46760"/>
          <a:stretch/>
        </p:blipFill>
        <p:spPr>
          <a:xfrm>
            <a:off x="2193681" y="5067344"/>
            <a:ext cx="9821008" cy="16879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2" y="71559"/>
            <a:ext cx="10975836" cy="203561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19" y="1718055"/>
            <a:ext cx="7084738" cy="29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5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083777" y="1802423"/>
            <a:ext cx="633046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75085" y="4879732"/>
            <a:ext cx="1565030" cy="803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34154" y="4211517"/>
            <a:ext cx="718038" cy="7737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504592" y="2189284"/>
            <a:ext cx="633046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027127" y="5065834"/>
            <a:ext cx="1077058" cy="7420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576655" y="4739054"/>
            <a:ext cx="687405" cy="514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576655" y="2070588"/>
            <a:ext cx="687405" cy="53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1321" y="4699430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考察方向：依据三大岩的相互转化原理判断岩石类型</a:t>
            </a:r>
            <a:endParaRPr lang="zh-CN" altLang="en-US" sz="2000" b="1" dirty="0"/>
          </a:p>
        </p:txBody>
      </p:sp>
      <p:sp>
        <p:nvSpPr>
          <p:cNvPr id="17" name="文本框 16"/>
          <p:cNvSpPr txBox="1"/>
          <p:nvPr/>
        </p:nvSpPr>
        <p:spPr>
          <a:xfrm>
            <a:off x="231321" y="5072399"/>
            <a:ext cx="12239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解题思路：已知砂岩为沉积岩，依据三大岩的相互转化原理可得，乙和戊是三出一进为岩浆岩，甲为岩浆，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丙为变质岩，丁为沉积岩，所以答案选择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52" y="71559"/>
            <a:ext cx="10975836" cy="203561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19" y="1718055"/>
            <a:ext cx="7084738" cy="29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8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131" y="5379684"/>
            <a:ext cx="4493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9.</a:t>
            </a:r>
            <a:r>
              <a:rPr lang="zh-CN" altLang="en-US" sz="2000" b="1" dirty="0" smtClean="0"/>
              <a:t>考察方向：影响区域气温高低的因素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79131" y="5752653"/>
            <a:ext cx="12239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解题思路：结合所学和材料可得，火焰山地处吐鲁番盆地内部，纬度位置、海陆位置、大气环流条件一致，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只有地形条件与其他地区存在差异，故本题选择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2" y="89691"/>
            <a:ext cx="11436241" cy="1413794"/>
          </a:xfrm>
          <a:prstGeom prst="rect">
            <a:avLst/>
          </a:prstGeom>
        </p:spPr>
      </p:pic>
      <p:pic>
        <p:nvPicPr>
          <p:cNvPr id="3074" name="Picture 2" descr="C:\Users\86153\AppData\Local\Temp\ksohtml18716\wps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444" y="1503485"/>
            <a:ext cx="8113678" cy="203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29" y="3650523"/>
            <a:ext cx="7960726" cy="17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6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131" y="5370892"/>
            <a:ext cx="5918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10.</a:t>
            </a:r>
            <a:r>
              <a:rPr lang="zh-CN" altLang="en-US" sz="2000" b="1" dirty="0" smtClean="0"/>
              <a:t>考察方向：区域自然地理环境对人类活动的影响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0" y="5743861"/>
            <a:ext cx="122392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解题思路：结合所学和材料可得，荫房的作用是为了晾制葡萄，所以必须促进蒸发，即加强通风，同时阴干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的方式必须避免太阳直射。故本题选择①③。</a:t>
            </a:r>
            <a:endParaRPr lang="zh-CN" altLang="en-US" sz="20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2" y="89691"/>
            <a:ext cx="11436241" cy="1413794"/>
          </a:xfrm>
          <a:prstGeom prst="rect">
            <a:avLst/>
          </a:prstGeom>
        </p:spPr>
      </p:pic>
      <p:pic>
        <p:nvPicPr>
          <p:cNvPr id="9" name="Picture 2" descr="C:\Users\86153\AppData\Local\Temp\ksohtml18716\wps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444" y="1503485"/>
            <a:ext cx="8113678" cy="203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29" y="3650523"/>
            <a:ext cx="7960726" cy="171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9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131" y="5098331"/>
            <a:ext cx="5732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11.</a:t>
            </a:r>
            <a:r>
              <a:rPr lang="zh-CN" altLang="en-US" sz="2000" b="1" dirty="0" smtClean="0"/>
              <a:t>考察方向：影响交通运输工程建设的区位因素</a:t>
            </a:r>
            <a:endParaRPr lang="zh-CN" altLang="en-US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79131" y="5498441"/>
            <a:ext cx="12112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解题思路：桥隧比较高的原因</a:t>
            </a:r>
            <a:r>
              <a:rPr lang="en-US" altLang="zh-CN" sz="2000" b="1" dirty="0" smtClean="0"/>
              <a:t>——</a:t>
            </a:r>
            <a:r>
              <a:rPr lang="zh-CN" altLang="en-US" sz="2000" b="1" dirty="0" smtClean="0"/>
              <a:t>地形崎岖复杂，无平坦地形可以利用；本题所考察区域地处横断山区和东南亚湄公河流域，该地区山河相间、纵列分布，铁路需频繁穿越河流和山脉，故答案选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0" y="0"/>
            <a:ext cx="10447911" cy="51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7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131" y="5098331"/>
            <a:ext cx="5149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12.</a:t>
            </a:r>
            <a:r>
              <a:rPr lang="zh-CN" altLang="en-US" sz="2000" b="1" dirty="0" smtClean="0"/>
              <a:t>考察方向：交通运输工程建设的地理意义</a:t>
            </a:r>
            <a:endParaRPr lang="zh-CN" altLang="en-US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79131" y="5498441"/>
            <a:ext cx="123386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解题思路：依据材料和所学知识，该地区纬度较低且北部地势较高，不存在寒潮威胁，</a:t>
            </a:r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错；老挝为内陆国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家，万象的港口条件较差，中老铁路建设对港口服务范围的扩大意义不明显，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错；陆上丝绸之路一般指我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国北部地区经河西走廊、新疆地区与西方相连的商路，</a:t>
            </a:r>
            <a:r>
              <a:rPr lang="en-US" altLang="zh-CN" sz="2000" b="1" dirty="0" smtClean="0"/>
              <a:t>D</a:t>
            </a:r>
            <a:r>
              <a:rPr lang="zh-CN" altLang="en-US" sz="2000" b="1" dirty="0" smtClean="0"/>
              <a:t>错；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项比较明显的体现出了昆万铁路的设计特点。</a:t>
            </a:r>
            <a:endParaRPr lang="en-US" altLang="zh-CN" sz="2000" b="1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50" y="0"/>
            <a:ext cx="10447911" cy="515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5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imgsa.baidu.com/timg?image&amp;quality=80&amp;size=b9999_10000&amp;sec=1599233395364&amp;di=f9422737e81653d6a05e2b72f8221383&amp;imgtype=0&amp;src=http%3A%2F%2Fb.hiphotos.baidu.com%2Fbaike%2Fpic%2Fitem%2F0df3d7ca7bcb0a46736c09a76063f6246a60afe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6" y="141714"/>
            <a:ext cx="11860822" cy="657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9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297615" y="2039815"/>
            <a:ext cx="2980593" cy="360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9131" y="5098331"/>
            <a:ext cx="3379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13.</a:t>
            </a:r>
            <a:r>
              <a:rPr lang="zh-CN" altLang="en-US" sz="2000" b="1" dirty="0" smtClean="0"/>
              <a:t>考察方向：</a:t>
            </a:r>
            <a:r>
              <a:rPr lang="en-US" altLang="zh-CN" sz="2000" b="1" dirty="0" smtClean="0"/>
              <a:t>3S</a:t>
            </a:r>
            <a:r>
              <a:rPr lang="zh-CN" altLang="en-US" sz="2000" b="1" dirty="0" smtClean="0"/>
              <a:t>技术的选择</a:t>
            </a:r>
            <a:endParaRPr lang="zh-CN" altLang="en-US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9131" y="5498441"/>
            <a:ext cx="11178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解题思路：依据材料和所学知识，能及时准确获取地理事物空间分布变化的地理信息技术是“遥感”</a:t>
            </a:r>
            <a:endParaRPr lang="en-US" altLang="zh-CN" sz="2000" b="1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" y="0"/>
            <a:ext cx="11903375" cy="138039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7" y="1380392"/>
            <a:ext cx="4848666" cy="364994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091333" y="1580327"/>
            <a:ext cx="68911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13.</a:t>
            </a:r>
            <a:r>
              <a:rPr lang="zh-CN" altLang="en-US" sz="2000" dirty="0" smtClean="0"/>
              <a:t>为快速获取姜古迪如南北两支冰川的分布范围，需利用的地理信息技术主要是（    ）</a:t>
            </a:r>
          </a:p>
          <a:p>
            <a:r>
              <a:rPr lang="en-US" altLang="zh-CN" sz="2000" dirty="0" smtClean="0"/>
              <a:t>A.</a:t>
            </a:r>
            <a:r>
              <a:rPr lang="zh-CN" altLang="en-US" sz="2000" dirty="0" smtClean="0"/>
              <a:t>遥感系统      </a:t>
            </a:r>
            <a:endParaRPr lang="en-US" altLang="zh-CN" sz="2000" dirty="0" smtClean="0"/>
          </a:p>
          <a:p>
            <a:r>
              <a:rPr lang="en-US" altLang="zh-CN" sz="2000" dirty="0" smtClean="0"/>
              <a:t>B.</a:t>
            </a:r>
            <a:r>
              <a:rPr lang="zh-CN" altLang="en-US" sz="2000" dirty="0" smtClean="0"/>
              <a:t>地理信息系统     </a:t>
            </a:r>
            <a:endParaRPr lang="en-US" altLang="zh-CN" sz="2000" dirty="0" smtClean="0"/>
          </a:p>
          <a:p>
            <a:r>
              <a:rPr lang="en-US" altLang="zh-CN" sz="2000" dirty="0" smtClean="0"/>
              <a:t>C.</a:t>
            </a:r>
            <a:r>
              <a:rPr lang="zh-CN" altLang="en-US" sz="2000" dirty="0" smtClean="0"/>
              <a:t>全球卫星导航系统     </a:t>
            </a:r>
            <a:endParaRPr lang="en-US" altLang="zh-CN" sz="2000" dirty="0" smtClean="0"/>
          </a:p>
          <a:p>
            <a:r>
              <a:rPr lang="en-US" altLang="zh-CN" sz="2000" dirty="0" smtClean="0"/>
              <a:t>D.</a:t>
            </a:r>
            <a:r>
              <a:rPr lang="zh-CN" altLang="en-US" sz="2000" dirty="0" smtClean="0"/>
              <a:t>数字地球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4269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297615" y="2039815"/>
            <a:ext cx="2980593" cy="360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9131" y="5098331"/>
            <a:ext cx="4123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14.</a:t>
            </a:r>
            <a:r>
              <a:rPr lang="zh-CN" altLang="en-US" sz="2000" b="1" dirty="0" smtClean="0"/>
              <a:t>考察方向：影响冰川消融的因素</a:t>
            </a:r>
            <a:endParaRPr lang="zh-CN" altLang="en-US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9131" y="5498441"/>
            <a:ext cx="123258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解题思路：依据材料和所学知识，冰川的退缩速度快慢主要受温度的高低影响，所以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项南北坡条件相似，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不符合；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项，人类活动在材料中无法体现，且在该小尺度区域内无人类活动存在；</a:t>
            </a:r>
            <a:r>
              <a:rPr lang="en-US" altLang="zh-CN" sz="2000" b="1" dirty="0" smtClean="0"/>
              <a:t>D</a:t>
            </a:r>
            <a:r>
              <a:rPr lang="zh-CN" altLang="en-US" sz="2000" b="1" dirty="0" smtClean="0"/>
              <a:t>项大气环流，南北坡条</a:t>
            </a:r>
            <a:endParaRPr lang="en-US" altLang="zh-CN" sz="2000" b="1" dirty="0" smtClean="0"/>
          </a:p>
          <a:p>
            <a:r>
              <a:rPr lang="zh-CN" altLang="en-US" sz="2000" b="1" dirty="0" smtClean="0"/>
              <a:t>件相似，</a:t>
            </a:r>
            <a:r>
              <a:rPr lang="en-US" altLang="zh-CN" sz="2000" b="1" dirty="0" smtClean="0"/>
              <a:t>B</a:t>
            </a:r>
            <a:r>
              <a:rPr lang="zh-CN" altLang="en-US" sz="2000" b="1" dirty="0" smtClean="0"/>
              <a:t>项，因为南坡为阳坡，所以气温高于北坡，所以南坡的消融速度大于北坡，故正确。</a:t>
            </a:r>
            <a:endParaRPr lang="en-US" altLang="zh-CN" sz="2000" b="1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" y="0"/>
            <a:ext cx="11903375" cy="138039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7" y="1380392"/>
            <a:ext cx="4848666" cy="3649947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91332" y="1538462"/>
            <a:ext cx="698929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14.</a:t>
            </a:r>
            <a:r>
              <a:rPr lang="zh-CN" altLang="en-US" dirty="0" smtClean="0"/>
              <a:t>姜古迪如南北两支冰川退缩速度差异的主要因素是（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纬度位置       </a:t>
            </a:r>
            <a:r>
              <a:rPr lang="en-US" altLang="zh-CN" dirty="0" smtClean="0"/>
              <a:t>B.</a:t>
            </a:r>
            <a:r>
              <a:rPr lang="zh-CN" altLang="en-US" dirty="0" smtClean="0"/>
              <a:t>坡向坡度         </a:t>
            </a:r>
            <a:endParaRPr lang="en-US" altLang="zh-CN" dirty="0" smtClean="0"/>
          </a:p>
          <a:p>
            <a:r>
              <a:rPr lang="en-US" altLang="zh-CN" dirty="0" smtClean="0"/>
              <a:t>C.</a:t>
            </a:r>
            <a:r>
              <a:rPr lang="zh-CN" altLang="en-US" dirty="0" smtClean="0"/>
              <a:t>人类活动         </a:t>
            </a:r>
            <a:r>
              <a:rPr lang="en-US" altLang="zh-CN" dirty="0" smtClean="0"/>
              <a:t>D.</a:t>
            </a:r>
            <a:r>
              <a:rPr lang="zh-CN" altLang="en-US" dirty="0" smtClean="0"/>
              <a:t>大气环流</a:t>
            </a:r>
          </a:p>
          <a:p>
            <a:r>
              <a:rPr lang="en-US" altLang="zh-CN" dirty="0" smtClean="0"/>
              <a:t>15.</a:t>
            </a:r>
            <a:r>
              <a:rPr lang="zh-CN" altLang="en-US" dirty="0" smtClean="0"/>
              <a:t>从上世纪</a:t>
            </a:r>
            <a:r>
              <a:rPr lang="en-US" altLang="zh-CN" dirty="0" smtClean="0"/>
              <a:t>60</a:t>
            </a:r>
            <a:r>
              <a:rPr lang="zh-CN" altLang="en-US" dirty="0" smtClean="0"/>
              <a:t>年代到现在，冰川融化给图中所示区域带来的影响是（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河湖水量持续稳定增加               </a:t>
            </a:r>
            <a:endParaRPr lang="en-US" altLang="zh-CN" dirty="0" smtClean="0"/>
          </a:p>
          <a:p>
            <a:r>
              <a:rPr lang="en-US" altLang="zh-CN" dirty="0" smtClean="0"/>
              <a:t>B.</a:t>
            </a:r>
            <a:r>
              <a:rPr lang="zh-CN" altLang="en-US" dirty="0" smtClean="0"/>
              <a:t>冰川退缩区地表侵蚀加剧</a:t>
            </a:r>
          </a:p>
          <a:p>
            <a:r>
              <a:rPr lang="en-US" altLang="zh-CN" dirty="0" smtClean="0"/>
              <a:t>C.</a:t>
            </a:r>
            <a:r>
              <a:rPr lang="zh-CN" altLang="en-US" dirty="0" smtClean="0"/>
              <a:t>植被类型和覆盖率增加               </a:t>
            </a:r>
            <a:endParaRPr lang="en-US" altLang="zh-CN" dirty="0" smtClean="0"/>
          </a:p>
          <a:p>
            <a:r>
              <a:rPr lang="en-US" altLang="zh-CN" dirty="0" smtClean="0"/>
              <a:t>D.</a:t>
            </a:r>
            <a:r>
              <a:rPr lang="zh-CN" altLang="en-US" dirty="0" smtClean="0"/>
              <a:t>干旱、洪涝等气象灾害增多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993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297615" y="2039815"/>
            <a:ext cx="2980593" cy="3604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9131" y="5098331"/>
            <a:ext cx="3610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15.</a:t>
            </a:r>
            <a:r>
              <a:rPr lang="zh-CN" altLang="en-US" sz="2000" b="1" dirty="0" smtClean="0"/>
              <a:t>考察方向：冰川消融的影响</a:t>
            </a:r>
            <a:endParaRPr lang="zh-CN" altLang="en-US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9131" y="5498441"/>
            <a:ext cx="12112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解题思路：依据材料和所学知识，</a:t>
            </a:r>
            <a:r>
              <a:rPr lang="en-US" altLang="zh-CN" sz="2000" b="1" dirty="0" smtClean="0"/>
              <a:t>A</a:t>
            </a:r>
            <a:r>
              <a:rPr lang="zh-CN" altLang="en-US" sz="2000" b="1" dirty="0" smtClean="0"/>
              <a:t>项错误，因为冰川消融后会为河流提供大量补给，河流径流量增大，但随着消融量增加，冰川储量越来越少，所以径流量会再次减少；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项错误，冰川融化后，高海拔地区植被覆盖率和植被类型增加并不明显，</a:t>
            </a:r>
            <a:r>
              <a:rPr lang="en-US" altLang="zh-CN" sz="2000" b="1" dirty="0" smtClean="0"/>
              <a:t>D</a:t>
            </a:r>
            <a:r>
              <a:rPr lang="zh-CN" altLang="en-US" sz="2000" b="1" dirty="0" smtClean="0"/>
              <a:t>项，干旱、洪涝等气象灾害的增加与冰川融化无直接关系（前期可能出现洪涝，后期可能河流补给减少，出现干旱，但并不等于增加）。</a:t>
            </a:r>
            <a:endParaRPr lang="en-US" altLang="zh-CN" sz="2000" b="1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1" y="0"/>
            <a:ext cx="11903375" cy="138039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7" y="1380392"/>
            <a:ext cx="4848666" cy="364994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091332" y="1538462"/>
            <a:ext cx="698929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14.</a:t>
            </a:r>
            <a:r>
              <a:rPr lang="zh-CN" altLang="en-US" dirty="0" smtClean="0"/>
              <a:t>姜古迪如南北两支冰川退缩速度差异的主要因素是（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纬度位置       </a:t>
            </a:r>
            <a:r>
              <a:rPr lang="en-US" altLang="zh-CN" dirty="0" smtClean="0"/>
              <a:t>B.</a:t>
            </a:r>
            <a:r>
              <a:rPr lang="zh-CN" altLang="en-US" dirty="0" smtClean="0"/>
              <a:t>坡向坡度         </a:t>
            </a:r>
            <a:endParaRPr lang="en-US" altLang="zh-CN" dirty="0" smtClean="0"/>
          </a:p>
          <a:p>
            <a:r>
              <a:rPr lang="en-US" altLang="zh-CN" dirty="0" smtClean="0"/>
              <a:t>C.</a:t>
            </a:r>
            <a:r>
              <a:rPr lang="zh-CN" altLang="en-US" dirty="0" smtClean="0"/>
              <a:t>人类活动         </a:t>
            </a:r>
            <a:r>
              <a:rPr lang="en-US" altLang="zh-CN" dirty="0" smtClean="0"/>
              <a:t>D.</a:t>
            </a:r>
            <a:r>
              <a:rPr lang="zh-CN" altLang="en-US" dirty="0" smtClean="0"/>
              <a:t>大气环流</a:t>
            </a:r>
          </a:p>
          <a:p>
            <a:r>
              <a:rPr lang="en-US" altLang="zh-CN" dirty="0" smtClean="0"/>
              <a:t>15.</a:t>
            </a:r>
            <a:r>
              <a:rPr lang="zh-CN" altLang="en-US" dirty="0" smtClean="0"/>
              <a:t>从上世纪</a:t>
            </a:r>
            <a:r>
              <a:rPr lang="en-US" altLang="zh-CN" dirty="0" smtClean="0"/>
              <a:t>60</a:t>
            </a:r>
            <a:r>
              <a:rPr lang="zh-CN" altLang="en-US" dirty="0" smtClean="0"/>
              <a:t>年代到现在，冰川融化给图中所示区域带来的影响是（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河湖水量持续稳定增加               </a:t>
            </a:r>
            <a:endParaRPr lang="en-US" altLang="zh-CN" dirty="0" smtClean="0"/>
          </a:p>
          <a:p>
            <a:r>
              <a:rPr lang="en-US" altLang="zh-CN" dirty="0" smtClean="0"/>
              <a:t>B.</a:t>
            </a:r>
            <a:r>
              <a:rPr lang="zh-CN" altLang="en-US" dirty="0" smtClean="0"/>
              <a:t>冰川退缩区地表侵蚀加剧</a:t>
            </a:r>
          </a:p>
          <a:p>
            <a:r>
              <a:rPr lang="en-US" altLang="zh-CN" dirty="0" smtClean="0"/>
              <a:t>C.</a:t>
            </a:r>
            <a:r>
              <a:rPr lang="zh-CN" altLang="en-US" dirty="0" smtClean="0"/>
              <a:t>植被类型和覆盖率增加               </a:t>
            </a:r>
            <a:endParaRPr lang="en-US" altLang="zh-CN" dirty="0" smtClean="0"/>
          </a:p>
          <a:p>
            <a:r>
              <a:rPr lang="en-US" altLang="zh-CN" dirty="0" smtClean="0"/>
              <a:t>D.</a:t>
            </a:r>
            <a:r>
              <a:rPr lang="zh-CN" altLang="en-US" dirty="0" smtClean="0"/>
              <a:t>干旱、洪涝等气象灾害增多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78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6780" y="285681"/>
            <a:ext cx="115384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     北京时间</a:t>
            </a:r>
            <a:r>
              <a:rPr lang="en-US" altLang="zh-CN" sz="2000" dirty="0" smtClean="0"/>
              <a:t>2020</a:t>
            </a:r>
            <a:r>
              <a:rPr lang="zh-CN" altLang="en-US" sz="2000" dirty="0" smtClean="0"/>
              <a:t>年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月</a:t>
            </a:r>
            <a:r>
              <a:rPr lang="en-US" altLang="zh-CN" sz="2000" dirty="0" smtClean="0"/>
              <a:t>21</a:t>
            </a:r>
            <a:r>
              <a:rPr lang="zh-CN" altLang="en-US" sz="2000" dirty="0" smtClean="0"/>
              <a:t>日（夏至日）</a:t>
            </a:r>
            <a:r>
              <a:rPr lang="en-US" altLang="zh-CN" sz="2000" dirty="0" smtClean="0"/>
              <a:t>14</a:t>
            </a:r>
            <a:r>
              <a:rPr lang="zh-CN" altLang="en-US" sz="2000" dirty="0" smtClean="0"/>
              <a:t>时</a:t>
            </a:r>
            <a:r>
              <a:rPr lang="en-US" altLang="zh-CN" sz="2000" dirty="0" smtClean="0"/>
              <a:t>56</a:t>
            </a:r>
            <a:r>
              <a:rPr lang="zh-CN" altLang="en-US" sz="2000" dirty="0" smtClean="0"/>
              <a:t>分至</a:t>
            </a:r>
            <a:r>
              <a:rPr lang="en-US" altLang="zh-CN" sz="2000" dirty="0" smtClean="0"/>
              <a:t>16</a:t>
            </a:r>
            <a:r>
              <a:rPr lang="zh-CN" altLang="en-US" sz="2000" dirty="0" smtClean="0"/>
              <a:t>时</a:t>
            </a:r>
            <a:r>
              <a:rPr lang="en-US" altLang="zh-CN" sz="2000" dirty="0" smtClean="0"/>
              <a:t>14</a:t>
            </a:r>
            <a:r>
              <a:rPr lang="zh-CN" altLang="en-US" sz="2000" dirty="0" smtClean="0"/>
              <a:t>分，我国境内出现了罕见的“日环食”现象。图</a:t>
            </a:r>
            <a:r>
              <a:rPr lang="en-US" altLang="zh-CN" sz="2000" dirty="0" smtClean="0"/>
              <a:t>10</a:t>
            </a:r>
            <a:r>
              <a:rPr lang="zh-CN" altLang="en-US" sz="2000" dirty="0" smtClean="0"/>
              <a:t>为“该期间某时刻我国天气状况分布图”。读图，完成</a:t>
            </a:r>
            <a:r>
              <a:rPr lang="en-US" altLang="zh-CN" sz="2000" dirty="0" smtClean="0"/>
              <a:t>16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17</a:t>
            </a:r>
            <a:r>
              <a:rPr lang="zh-CN" altLang="en-US" sz="2000" dirty="0" smtClean="0"/>
              <a:t>题。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0" y="993567"/>
            <a:ext cx="5509498" cy="431077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836278" y="1057062"/>
            <a:ext cx="635572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16.</a:t>
            </a:r>
            <a:r>
              <a:rPr lang="zh-CN" altLang="en-US" sz="2000" dirty="0" smtClean="0"/>
              <a:t>据图判断，当日我国各地天气的判断正确的是（    ）</a:t>
            </a:r>
          </a:p>
          <a:p>
            <a:r>
              <a:rPr lang="en-US" altLang="zh-CN" sz="2000" dirty="0" smtClean="0"/>
              <a:t>A.</a:t>
            </a:r>
            <a:r>
              <a:rPr lang="zh-CN" altLang="en-US" sz="2000" dirty="0" smtClean="0"/>
              <a:t>安徽南部地区降水概率较大              </a:t>
            </a:r>
            <a:endParaRPr lang="en-US" altLang="zh-CN" sz="2000" dirty="0" smtClean="0"/>
          </a:p>
          <a:p>
            <a:r>
              <a:rPr lang="en-US" altLang="zh-CN" sz="2000" dirty="0" smtClean="0"/>
              <a:t>B.</a:t>
            </a:r>
            <a:r>
              <a:rPr lang="zh-CN" altLang="en-US" sz="2000" dirty="0" smtClean="0"/>
              <a:t>四川东部地区盛行偏南风</a:t>
            </a:r>
          </a:p>
          <a:p>
            <a:r>
              <a:rPr lang="en-US" altLang="zh-CN" sz="2000" dirty="0" smtClean="0"/>
              <a:t>C.</a:t>
            </a:r>
            <a:r>
              <a:rPr lang="zh-CN" altLang="en-US" sz="2000" dirty="0" smtClean="0"/>
              <a:t>内蒙古中部风力较西藏南部大            </a:t>
            </a:r>
            <a:endParaRPr lang="en-US" altLang="zh-CN" sz="2000" dirty="0" smtClean="0"/>
          </a:p>
          <a:p>
            <a:r>
              <a:rPr lang="en-US" altLang="zh-CN" sz="2000" dirty="0" smtClean="0"/>
              <a:t>D.</a:t>
            </a:r>
            <a:r>
              <a:rPr lang="zh-CN" altLang="en-US" sz="2000" dirty="0" smtClean="0"/>
              <a:t>贵州北部地区酷热难耐</a:t>
            </a:r>
          </a:p>
          <a:p>
            <a:r>
              <a:rPr lang="en-US" altLang="zh-CN" sz="2000" dirty="0" smtClean="0"/>
              <a:t>17.</a:t>
            </a:r>
            <a:r>
              <a:rPr lang="zh-CN" altLang="en-US" sz="2000" dirty="0" smtClean="0"/>
              <a:t>环食带穿过我国期间，下列叙述正确的是（     ）</a:t>
            </a:r>
          </a:p>
          <a:p>
            <a:r>
              <a:rPr lang="en-US" altLang="zh-CN" sz="2000" dirty="0" smtClean="0"/>
              <a:t>A.</a:t>
            </a:r>
            <a:r>
              <a:rPr lang="zh-CN" altLang="en-US" sz="2000" dirty="0" smtClean="0"/>
              <a:t>全球</a:t>
            </a:r>
            <a:r>
              <a:rPr lang="en-US" altLang="zh-CN" sz="2000" dirty="0" smtClean="0"/>
              <a:t>21</a:t>
            </a:r>
            <a:r>
              <a:rPr lang="zh-CN" altLang="en-US" sz="2000" dirty="0" smtClean="0"/>
              <a:t>日范围大于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日           </a:t>
            </a:r>
            <a:endParaRPr lang="en-US" altLang="zh-CN" sz="2000" dirty="0" smtClean="0"/>
          </a:p>
          <a:p>
            <a:r>
              <a:rPr lang="en-US" altLang="zh-CN" sz="2000" dirty="0" smtClean="0"/>
              <a:t>B.</a:t>
            </a:r>
            <a:r>
              <a:rPr lang="zh-CN" altLang="en-US" sz="2000" dirty="0" smtClean="0"/>
              <a:t>海口正午太阳高度达一年中最大值 </a:t>
            </a:r>
          </a:p>
          <a:p>
            <a:r>
              <a:rPr lang="en-US" altLang="zh-CN" sz="2000" dirty="0" smtClean="0"/>
              <a:t>C.</a:t>
            </a:r>
            <a:r>
              <a:rPr lang="zh-CN" altLang="en-US" sz="2000" dirty="0" smtClean="0"/>
              <a:t>华盛顿地区亦可观测该奇观        </a:t>
            </a:r>
            <a:endParaRPr lang="en-US" altLang="zh-CN" sz="2000" dirty="0" smtClean="0"/>
          </a:p>
          <a:p>
            <a:r>
              <a:rPr lang="en-US" altLang="zh-CN" sz="2000" dirty="0" smtClean="0"/>
              <a:t>D.</a:t>
            </a:r>
            <a:r>
              <a:rPr lang="zh-CN" altLang="en-US" sz="2000" dirty="0" smtClean="0"/>
              <a:t>先后穿过我国藏、贵、赣、台等省区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0636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591" y="169121"/>
            <a:ext cx="116527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根据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西部蓝皮书</a:t>
            </a:r>
            <a:r>
              <a:rPr lang="en-US" altLang="zh-CN" sz="2000" dirty="0" smtClean="0"/>
              <a:t>:</a:t>
            </a:r>
            <a:r>
              <a:rPr lang="zh-CN" altLang="en-US" sz="2000" dirty="0" smtClean="0"/>
              <a:t>中国西部发展报告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发布数据显示</a:t>
            </a:r>
            <a:r>
              <a:rPr lang="en-US" altLang="zh-CN" sz="2000" dirty="0" smtClean="0"/>
              <a:t>:2014</a:t>
            </a:r>
            <a:r>
              <a:rPr lang="zh-CN" altLang="en-US" sz="2000" dirty="0" smtClean="0"/>
              <a:t>年至</a:t>
            </a:r>
            <a:r>
              <a:rPr lang="en-US" altLang="zh-CN" sz="2000" dirty="0" smtClean="0"/>
              <a:t>2018 </a:t>
            </a:r>
            <a:r>
              <a:rPr lang="zh-CN" altLang="en-US" sz="2000" dirty="0" smtClean="0"/>
              <a:t>年末全国常住人口城镇化率从</a:t>
            </a:r>
            <a:r>
              <a:rPr lang="en-US" altLang="zh-CN" sz="2000" dirty="0" smtClean="0"/>
              <a:t>54.77%</a:t>
            </a:r>
            <a:r>
              <a:rPr lang="zh-CN" altLang="en-US" sz="2000" dirty="0" smtClean="0"/>
              <a:t>提高至</a:t>
            </a:r>
            <a:r>
              <a:rPr lang="en-US" altLang="zh-CN" sz="2000" dirty="0" smtClean="0"/>
              <a:t>59. 58%</a:t>
            </a:r>
            <a:r>
              <a:rPr lang="zh-CN" altLang="en-US" sz="2000" dirty="0" smtClean="0"/>
              <a:t>。截止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年末，甘肃省常住人口为</a:t>
            </a:r>
            <a:r>
              <a:rPr lang="en-US" altLang="zh-CN" sz="2000" dirty="0" smtClean="0"/>
              <a:t>2637. 26 </a:t>
            </a:r>
            <a:r>
              <a:rPr lang="zh-CN" altLang="en-US" sz="2000" dirty="0" smtClean="0"/>
              <a:t>万人。图</a:t>
            </a:r>
            <a:r>
              <a:rPr lang="en-US" altLang="zh-CN" sz="2000" dirty="0" smtClean="0"/>
              <a:t>11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2014—2018 </a:t>
            </a:r>
            <a:r>
              <a:rPr lang="zh-CN" altLang="en-US" sz="2000" dirty="0" smtClean="0"/>
              <a:t>年甘肃省常住人口城镇化率”。图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年甘肃省各市（州）常住人口城镇化率”。读图回答</a:t>
            </a:r>
            <a:r>
              <a:rPr lang="en-US" altLang="zh-CN" sz="2000" dirty="0" smtClean="0"/>
              <a:t>18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题。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65" y="1184784"/>
            <a:ext cx="9366916" cy="342710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3590" y="4704225"/>
            <a:ext cx="116527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18.</a:t>
            </a:r>
            <a:r>
              <a:rPr lang="zh-CN" altLang="en-US" sz="2000" b="1" dirty="0" smtClean="0"/>
              <a:t>甘肃省常住人口城镇化（    ）</a:t>
            </a:r>
          </a:p>
          <a:p>
            <a:r>
              <a:rPr lang="en-US" altLang="zh-CN" sz="2000" b="1" dirty="0" smtClean="0"/>
              <a:t>A.</a:t>
            </a:r>
            <a:r>
              <a:rPr lang="zh-CN" altLang="en-US" sz="2000" b="1" dirty="0" smtClean="0"/>
              <a:t>和全国相比，速度较慢                 </a:t>
            </a:r>
            <a:r>
              <a:rPr lang="en-US" altLang="zh-CN" sz="2000" b="1" dirty="0" smtClean="0"/>
              <a:t>B.</a:t>
            </a:r>
            <a:r>
              <a:rPr lang="zh-CN" altLang="en-US" sz="2000" b="1" dirty="0" smtClean="0"/>
              <a:t>和全国相比，水平较低</a:t>
            </a:r>
            <a:endParaRPr lang="en-US" altLang="zh-CN" sz="2000" b="1" dirty="0" smtClean="0"/>
          </a:p>
          <a:p>
            <a:r>
              <a:rPr lang="en-US" altLang="zh-CN" sz="2000" b="1" dirty="0" smtClean="0"/>
              <a:t>C.</a:t>
            </a:r>
            <a:r>
              <a:rPr lang="zh-CN" altLang="en-US" sz="2000" b="1" dirty="0" smtClean="0"/>
              <a:t>河西地区水平总体较低                 </a:t>
            </a:r>
            <a:r>
              <a:rPr lang="en-US" altLang="zh-CN" sz="2000" b="1" dirty="0" smtClean="0"/>
              <a:t>D.</a:t>
            </a:r>
            <a:r>
              <a:rPr lang="zh-CN" altLang="en-US" sz="2000" b="1" dirty="0" smtClean="0"/>
              <a:t>陇南地区处入中期阶段</a:t>
            </a:r>
          </a:p>
        </p:txBody>
      </p:sp>
    </p:spTree>
    <p:extLst>
      <p:ext uri="{BB962C8B-B14F-4D97-AF65-F5344CB8AC3E}">
        <p14:creationId xmlns:p14="http://schemas.microsoft.com/office/powerpoint/2010/main" val="422706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591" y="169121"/>
            <a:ext cx="116527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根据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西部蓝皮书</a:t>
            </a:r>
            <a:r>
              <a:rPr lang="en-US" altLang="zh-CN" sz="2000" dirty="0" smtClean="0"/>
              <a:t>:</a:t>
            </a:r>
            <a:r>
              <a:rPr lang="zh-CN" altLang="en-US" sz="2000" dirty="0" smtClean="0"/>
              <a:t>中国西部发展报告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发布数据显示</a:t>
            </a:r>
            <a:r>
              <a:rPr lang="en-US" altLang="zh-CN" sz="2000" dirty="0" smtClean="0"/>
              <a:t>:2014</a:t>
            </a:r>
            <a:r>
              <a:rPr lang="zh-CN" altLang="en-US" sz="2000" dirty="0" smtClean="0"/>
              <a:t>年至</a:t>
            </a:r>
            <a:r>
              <a:rPr lang="en-US" altLang="zh-CN" sz="2000" dirty="0" smtClean="0"/>
              <a:t>2018 </a:t>
            </a:r>
            <a:r>
              <a:rPr lang="zh-CN" altLang="en-US" sz="2000" dirty="0" smtClean="0"/>
              <a:t>年末全国常住人口城镇化率从</a:t>
            </a:r>
            <a:r>
              <a:rPr lang="en-US" altLang="zh-CN" sz="2000" dirty="0" smtClean="0"/>
              <a:t>54.77%</a:t>
            </a:r>
            <a:r>
              <a:rPr lang="zh-CN" altLang="en-US" sz="2000" dirty="0" smtClean="0"/>
              <a:t>提高至</a:t>
            </a:r>
            <a:r>
              <a:rPr lang="en-US" altLang="zh-CN" sz="2000" dirty="0" smtClean="0"/>
              <a:t>59. 58%</a:t>
            </a:r>
            <a:r>
              <a:rPr lang="zh-CN" altLang="en-US" sz="2000" dirty="0" smtClean="0"/>
              <a:t>。截止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年末，甘肃省常住人口为</a:t>
            </a:r>
            <a:r>
              <a:rPr lang="en-US" altLang="zh-CN" sz="2000" dirty="0" smtClean="0"/>
              <a:t>2637. 26 </a:t>
            </a:r>
            <a:r>
              <a:rPr lang="zh-CN" altLang="en-US" sz="2000" dirty="0" smtClean="0"/>
              <a:t>万人。图</a:t>
            </a:r>
            <a:r>
              <a:rPr lang="en-US" altLang="zh-CN" sz="2000" dirty="0" smtClean="0"/>
              <a:t>11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2014—2018 </a:t>
            </a:r>
            <a:r>
              <a:rPr lang="zh-CN" altLang="en-US" sz="2000" dirty="0" smtClean="0"/>
              <a:t>年甘肃省常住人口城镇化率”。图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年甘肃省各市（州）常住人口城镇化率”。读图回答</a:t>
            </a:r>
            <a:r>
              <a:rPr lang="en-US" altLang="zh-CN" sz="2000" dirty="0" smtClean="0"/>
              <a:t>18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题。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65" y="1184784"/>
            <a:ext cx="9366916" cy="342710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1707" y="4611892"/>
            <a:ext cx="112570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19.</a:t>
            </a:r>
            <a:r>
              <a:rPr lang="zh-CN" altLang="en-US" dirty="0" smtClean="0"/>
              <a:t>关于全省常住人口城镇化率空间分布的描述，正确的是（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省域内城镇化差异与各地的自然条件及经济发展有关</a:t>
            </a:r>
          </a:p>
          <a:p>
            <a:r>
              <a:rPr lang="en-US" altLang="zh-CN" dirty="0" smtClean="0"/>
              <a:t>B.</a:t>
            </a:r>
            <a:r>
              <a:rPr lang="zh-CN" altLang="en-US" dirty="0" smtClean="0"/>
              <a:t>部分城市已出现明显的逆城市化现象</a:t>
            </a:r>
          </a:p>
          <a:p>
            <a:r>
              <a:rPr lang="en-US" altLang="zh-CN" dirty="0" smtClean="0"/>
              <a:t>C.</a:t>
            </a:r>
            <a:r>
              <a:rPr lang="zh-CN" altLang="en-US" dirty="0" smtClean="0"/>
              <a:t>河西地区实现人口向城市迅速集聚的空间潜力最大</a:t>
            </a:r>
          </a:p>
          <a:p>
            <a:r>
              <a:rPr lang="en-US" altLang="zh-CN" dirty="0" smtClean="0"/>
              <a:t>D.</a:t>
            </a:r>
            <a:r>
              <a:rPr lang="zh-CN" altLang="en-US" dirty="0" smtClean="0"/>
              <a:t>空间分布特征反映出各市（州）产业集聚的程度</a:t>
            </a:r>
          </a:p>
        </p:txBody>
      </p:sp>
    </p:spTree>
    <p:extLst>
      <p:ext uri="{BB962C8B-B14F-4D97-AF65-F5344CB8AC3E}">
        <p14:creationId xmlns:p14="http://schemas.microsoft.com/office/powerpoint/2010/main" val="3617015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591" y="169121"/>
            <a:ext cx="116527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/>
              <a:t>根据</a:t>
            </a:r>
            <a:r>
              <a:rPr lang="en-US" altLang="zh-CN" sz="2000" dirty="0" smtClean="0"/>
              <a:t>《</a:t>
            </a:r>
            <a:r>
              <a:rPr lang="zh-CN" altLang="en-US" sz="2000" dirty="0" smtClean="0"/>
              <a:t>西部蓝皮书</a:t>
            </a:r>
            <a:r>
              <a:rPr lang="en-US" altLang="zh-CN" sz="2000" dirty="0" smtClean="0"/>
              <a:t>:</a:t>
            </a:r>
            <a:r>
              <a:rPr lang="zh-CN" altLang="en-US" sz="2000" dirty="0" smtClean="0"/>
              <a:t>中国西部发展报告</a:t>
            </a:r>
            <a:r>
              <a:rPr lang="en-US" altLang="zh-CN" sz="2000" dirty="0" smtClean="0"/>
              <a:t>》</a:t>
            </a:r>
            <a:r>
              <a:rPr lang="zh-CN" altLang="en-US" sz="2000" dirty="0" smtClean="0"/>
              <a:t>发布数据显示</a:t>
            </a:r>
            <a:r>
              <a:rPr lang="en-US" altLang="zh-CN" sz="2000" dirty="0" smtClean="0"/>
              <a:t>:2014</a:t>
            </a:r>
            <a:r>
              <a:rPr lang="zh-CN" altLang="en-US" sz="2000" dirty="0" smtClean="0"/>
              <a:t>年至</a:t>
            </a:r>
            <a:r>
              <a:rPr lang="en-US" altLang="zh-CN" sz="2000" dirty="0" smtClean="0"/>
              <a:t>2018 </a:t>
            </a:r>
            <a:r>
              <a:rPr lang="zh-CN" altLang="en-US" sz="2000" dirty="0" smtClean="0"/>
              <a:t>年末全国常住人口城镇化率从</a:t>
            </a:r>
            <a:r>
              <a:rPr lang="en-US" altLang="zh-CN" sz="2000" dirty="0" smtClean="0"/>
              <a:t>54.77%</a:t>
            </a:r>
            <a:r>
              <a:rPr lang="zh-CN" altLang="en-US" sz="2000" dirty="0" smtClean="0"/>
              <a:t>提高至</a:t>
            </a:r>
            <a:r>
              <a:rPr lang="en-US" altLang="zh-CN" sz="2000" dirty="0" smtClean="0"/>
              <a:t>59. 58%</a:t>
            </a:r>
            <a:r>
              <a:rPr lang="zh-CN" altLang="en-US" sz="2000" dirty="0" smtClean="0"/>
              <a:t>。截止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年末，甘肃省常住人口为</a:t>
            </a:r>
            <a:r>
              <a:rPr lang="en-US" altLang="zh-CN" sz="2000" dirty="0" smtClean="0"/>
              <a:t>2637. 26 </a:t>
            </a:r>
            <a:r>
              <a:rPr lang="zh-CN" altLang="en-US" sz="2000" dirty="0" smtClean="0"/>
              <a:t>万人。图</a:t>
            </a:r>
            <a:r>
              <a:rPr lang="en-US" altLang="zh-CN" sz="2000" dirty="0" smtClean="0"/>
              <a:t>11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2014—2018 </a:t>
            </a:r>
            <a:r>
              <a:rPr lang="zh-CN" altLang="en-US" sz="2000" dirty="0" smtClean="0"/>
              <a:t>年甘肃省常住人口城镇化率”。图</a:t>
            </a:r>
            <a:r>
              <a:rPr lang="en-US" altLang="zh-CN" sz="2000" dirty="0" smtClean="0"/>
              <a:t>12</a:t>
            </a:r>
            <a:r>
              <a:rPr lang="zh-CN" altLang="en-US" sz="2000" dirty="0" smtClean="0"/>
              <a:t>为“</a:t>
            </a:r>
            <a:r>
              <a:rPr lang="en-US" altLang="zh-CN" sz="2000" dirty="0" smtClean="0"/>
              <a:t>2018</a:t>
            </a:r>
            <a:r>
              <a:rPr lang="zh-CN" altLang="en-US" sz="2000" dirty="0" smtClean="0"/>
              <a:t>年甘肃省各市（州）常住人口城镇化率”。读图回答</a:t>
            </a:r>
            <a:r>
              <a:rPr lang="en-US" altLang="zh-CN" sz="2000" dirty="0" smtClean="0"/>
              <a:t>18</a:t>
            </a:r>
            <a:r>
              <a:rPr lang="zh-CN" altLang="en-US" sz="2000" dirty="0" smtClean="0"/>
              <a:t>～</a:t>
            </a:r>
            <a:r>
              <a:rPr lang="en-US" altLang="zh-CN" sz="2000" dirty="0" smtClean="0"/>
              <a:t>20</a:t>
            </a:r>
            <a:r>
              <a:rPr lang="zh-CN" altLang="en-US" sz="2000" dirty="0" smtClean="0"/>
              <a:t>题。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65" y="1184784"/>
            <a:ext cx="9366916" cy="342710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1707" y="4611892"/>
            <a:ext cx="112570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20.</a:t>
            </a:r>
            <a:r>
              <a:rPr lang="zh-CN" altLang="en-US" dirty="0" smtClean="0"/>
              <a:t>嘉峪关市城镇化率高达</a:t>
            </a:r>
            <a:r>
              <a:rPr lang="en-US" altLang="zh-CN" dirty="0" smtClean="0"/>
              <a:t>90%</a:t>
            </a:r>
            <a:r>
              <a:rPr lang="zh-CN" altLang="en-US" dirty="0" smtClean="0"/>
              <a:t>以上的原因有（    ）</a:t>
            </a:r>
          </a:p>
          <a:p>
            <a:r>
              <a:rPr lang="en-US" altLang="zh-CN" dirty="0" smtClean="0"/>
              <a:t>A.</a:t>
            </a:r>
            <a:r>
              <a:rPr lang="zh-CN" altLang="en-US" dirty="0" smtClean="0"/>
              <a:t>行政区划特殊      </a:t>
            </a:r>
            <a:r>
              <a:rPr lang="en-US" altLang="zh-CN" dirty="0" smtClean="0"/>
              <a:t>B.</a:t>
            </a:r>
            <a:r>
              <a:rPr lang="zh-CN" altLang="en-US" dirty="0" smtClean="0"/>
              <a:t>第二产业比重大     </a:t>
            </a:r>
            <a:r>
              <a:rPr lang="en-US" altLang="zh-CN" dirty="0" smtClean="0"/>
              <a:t>C.</a:t>
            </a:r>
            <a:r>
              <a:rPr lang="zh-CN" altLang="en-US" dirty="0" smtClean="0"/>
              <a:t>地理环境优越      </a:t>
            </a:r>
            <a:r>
              <a:rPr lang="en-US" altLang="zh-CN" dirty="0" smtClean="0"/>
              <a:t>D.</a:t>
            </a:r>
            <a:r>
              <a:rPr lang="zh-CN" altLang="en-US" dirty="0" smtClean="0"/>
              <a:t>基础设施完善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893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2024</Words>
  <Application>Microsoft Office PowerPoint</Application>
  <PresentationFormat>宽屏</PresentationFormat>
  <Paragraphs>96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程辰</dc:creator>
  <cp:lastModifiedBy>程辰</cp:lastModifiedBy>
  <cp:revision>72</cp:revision>
  <dcterms:created xsi:type="dcterms:W3CDTF">2020-09-04T10:33:40Z</dcterms:created>
  <dcterms:modified xsi:type="dcterms:W3CDTF">2020-09-04T23:18:51Z</dcterms:modified>
</cp:coreProperties>
</file>
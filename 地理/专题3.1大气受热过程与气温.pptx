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  <p:sldMasterId id="2147483820" r:id="rId2"/>
    <p:sldMasterId id="2147484839" r:id="rId3"/>
  </p:sldMasterIdLst>
  <p:notesMasterIdLst>
    <p:notesMasterId r:id="rId42"/>
  </p:notesMasterIdLst>
  <p:sldIdLst>
    <p:sldId id="1573" r:id="rId4"/>
    <p:sldId id="1592" r:id="rId5"/>
    <p:sldId id="1593" r:id="rId6"/>
    <p:sldId id="1574" r:id="rId7"/>
    <p:sldId id="1457" r:id="rId8"/>
    <p:sldId id="1456" r:id="rId9"/>
    <p:sldId id="1596" r:id="rId10"/>
    <p:sldId id="1599" r:id="rId11"/>
    <p:sldId id="1600" r:id="rId12"/>
    <p:sldId id="1602" r:id="rId13"/>
    <p:sldId id="1568" r:id="rId14"/>
    <p:sldId id="1594" r:id="rId15"/>
    <p:sldId id="1603" r:id="rId16"/>
    <p:sldId id="1604" r:id="rId17"/>
    <p:sldId id="1584" r:id="rId18"/>
    <p:sldId id="1605" r:id="rId19"/>
    <p:sldId id="1494" r:id="rId20"/>
    <p:sldId id="1560" r:id="rId21"/>
    <p:sldId id="1559" r:id="rId22"/>
    <p:sldId id="1552" r:id="rId23"/>
    <p:sldId id="1582" r:id="rId24"/>
    <p:sldId id="1595" r:id="rId25"/>
    <p:sldId id="1587" r:id="rId26"/>
    <p:sldId id="1561" r:id="rId27"/>
    <p:sldId id="1579" r:id="rId28"/>
    <p:sldId id="1492" r:id="rId29"/>
    <p:sldId id="1541" r:id="rId30"/>
    <p:sldId id="1545" r:id="rId31"/>
    <p:sldId id="1546" r:id="rId32"/>
    <p:sldId id="1547" r:id="rId33"/>
    <p:sldId id="1543" r:id="rId34"/>
    <p:sldId id="1542" r:id="rId35"/>
    <p:sldId id="1532" r:id="rId36"/>
    <p:sldId id="1526" r:id="rId37"/>
    <p:sldId id="1536" r:id="rId38"/>
    <p:sldId id="1528" r:id="rId39"/>
    <p:sldId id="1572" r:id="rId40"/>
    <p:sldId id="1451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79646"/>
    <a:srgbClr val="99FF66"/>
    <a:srgbClr val="E301D1"/>
    <a:srgbClr val="E56276"/>
    <a:srgbClr val="00FFFF"/>
    <a:srgbClr val="CFE0EA"/>
    <a:srgbClr val="CFE8ED"/>
    <a:srgbClr val="211E16"/>
    <a:srgbClr val="0F0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39" autoAdjust="0"/>
    <p:restoredTop sz="83392" autoAdjust="0"/>
  </p:normalViewPr>
  <p:slideViewPr>
    <p:cSldViewPr>
      <p:cViewPr varScale="1">
        <p:scale>
          <a:sx n="115" d="100"/>
          <a:sy n="115" d="100"/>
        </p:scale>
        <p:origin x="240" y="120"/>
      </p:cViewPr>
      <p:guideLst>
        <p:guide orient="horz" pos="2160"/>
        <p:guide pos="384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18841-1CE2-4F6C-86A6-E301FF001514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F714A-FF30-45AE-8878-FFB1DFF36D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020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>
              <a:defRPr/>
            </a:pPr>
            <a:fld id="{80AA8D0C-770A-4291-871B-6BE2B93C72A2}" type="slidenum">
              <a:rPr lang="zh-CN" altLang="en-US">
                <a:solidFill>
                  <a:prstClr val="black"/>
                </a:solidFill>
              </a:rPr>
              <a:t>15</a:t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182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>
              <a:defRPr/>
            </a:pPr>
            <a:fld id="{80AA8D0C-770A-4291-871B-6BE2B93C72A2}" type="slidenum">
              <a:rPr lang="zh-CN" altLang="en-US">
                <a:solidFill>
                  <a:prstClr val="black"/>
                </a:solidFill>
              </a:rPr>
              <a:t>21</a:t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430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>
              <a:defRPr/>
            </a:pPr>
            <a:fld id="{80AA8D0C-770A-4291-871B-6BE2B93C72A2}" type="slidenum">
              <a:rPr lang="zh-CN" altLang="en-US">
                <a:solidFill>
                  <a:prstClr val="black"/>
                </a:solidFill>
              </a:rPr>
              <a:t>23</a:t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993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>
              <a:defRPr/>
            </a:pPr>
            <a:fld id="{80AA8D0C-770A-4291-871B-6BE2B93C72A2}" type="slidenum">
              <a:rPr lang="zh-CN" altLang="en-US">
                <a:solidFill>
                  <a:prstClr val="black"/>
                </a:solidFill>
              </a:rPr>
              <a:t>25</a:t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603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9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F3AC0-D1D8-4280-9828-90CF6DB133A0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8B2CA-E6C2-4FFE-A579-BFA6CF6762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18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1152540" y="856388"/>
            <a:ext cx="1209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思考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118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9" y="752270"/>
            <a:ext cx="829158" cy="829158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1152540" y="856388"/>
            <a:ext cx="1209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判断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74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93923" y="902713"/>
            <a:ext cx="8568812" cy="529758"/>
          </a:xfrm>
        </p:spPr>
        <p:txBody>
          <a:bodyPr>
            <a:normAutofit/>
          </a:bodyPr>
          <a:lstStyle>
            <a:lvl1pPr algn="ctr">
              <a:defRPr sz="3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98744" y="856388"/>
            <a:ext cx="4733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zh-CN" sz="3200" b="1" kern="100" dirty="0">
                <a:solidFill>
                  <a:srgbClr val="0000FF"/>
                </a:solidFill>
                <a:latin typeface="Times New Roman"/>
                <a:ea typeface="华文细黑"/>
                <a:cs typeface="Times New Roman"/>
              </a:rPr>
              <a:t>见题知本　溯源归法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086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93923" y="902713"/>
            <a:ext cx="8568812" cy="529758"/>
          </a:xfrm>
        </p:spPr>
        <p:txBody>
          <a:bodyPr>
            <a:normAutofit/>
          </a:bodyPr>
          <a:lstStyle>
            <a:lvl1pPr algn="ctr">
              <a:defRPr sz="3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9" y="752270"/>
            <a:ext cx="829158" cy="829158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1152540" y="856388"/>
            <a:ext cx="2428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方法技巧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888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定向例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 userDrawn="1"/>
        </p:nvSpPr>
        <p:spPr>
          <a:xfrm>
            <a:off x="863988" y="843325"/>
            <a:ext cx="2758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拓展延伸</a:t>
            </a:r>
            <a:r>
              <a:rPr lang="en-US" altLang="zh-CN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】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897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1AF46-34F2-4B1D-9CD6-BF1F4825440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325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38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70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A64AD04-5EF6-FE48-938A-2215078438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5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674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46125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-3175" y="4507200"/>
            <a:ext cx="12192000" cy="2350800"/>
          </a:xfrm>
          <a:prstGeom prst="rect">
            <a:avLst/>
          </a:prstGeom>
          <a:solidFill>
            <a:srgbClr val="5B9BD5">
              <a:lumMod val="40000"/>
              <a:lumOff val="60000"/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79997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-3175" y="4147200"/>
            <a:ext cx="12192000" cy="2710800"/>
          </a:xfrm>
          <a:prstGeom prst="rect">
            <a:avLst/>
          </a:prstGeom>
          <a:solidFill>
            <a:srgbClr val="5B9BD5">
              <a:lumMod val="40000"/>
              <a:lumOff val="60000"/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27523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076A-7921-4180-AC92-C93799EE296F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1AEFF-6EBF-424D-A4E1-975565762A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7702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248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基础落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10"/>
          <p:cNvSpPr txBox="1"/>
          <p:nvPr userDrawn="1"/>
        </p:nvSpPr>
        <p:spPr>
          <a:xfrm>
            <a:off x="5122731" y="3013506"/>
            <a:ext cx="2954656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4800" b="1" spc="600" dirty="0">
                <a:solidFill>
                  <a:prstClr val="white"/>
                </a:solidFill>
              </a:rPr>
              <a:t>基础梳理</a:t>
            </a:r>
          </a:p>
        </p:txBody>
      </p:sp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4114800" y="3013076"/>
            <a:ext cx="833438" cy="831850"/>
          </a:xfrm>
          <a:custGeom>
            <a:avLst/>
            <a:gdLst>
              <a:gd name="T0" fmla="*/ 585 w 681"/>
              <a:gd name="T1" fmla="*/ 232 h 681"/>
              <a:gd name="T2" fmla="*/ 547 w 681"/>
              <a:gd name="T3" fmla="*/ 65 h 681"/>
              <a:gd name="T4" fmla="*/ 437 w 681"/>
              <a:gd name="T5" fmla="*/ 91 h 681"/>
              <a:gd name="T6" fmla="*/ 292 w 681"/>
              <a:gd name="T7" fmla="*/ 0 h 681"/>
              <a:gd name="T8" fmla="*/ 233 w 681"/>
              <a:gd name="T9" fmla="*/ 96 h 681"/>
              <a:gd name="T10" fmla="*/ 66 w 681"/>
              <a:gd name="T11" fmla="*/ 134 h 681"/>
              <a:gd name="T12" fmla="*/ 92 w 681"/>
              <a:gd name="T13" fmla="*/ 244 h 681"/>
              <a:gd name="T14" fmla="*/ 0 w 681"/>
              <a:gd name="T15" fmla="*/ 389 h 681"/>
              <a:gd name="T16" fmla="*/ 96 w 681"/>
              <a:gd name="T17" fmla="*/ 448 h 681"/>
              <a:gd name="T18" fmla="*/ 134 w 681"/>
              <a:gd name="T19" fmla="*/ 615 h 681"/>
              <a:gd name="T20" fmla="*/ 244 w 681"/>
              <a:gd name="T21" fmla="*/ 590 h 681"/>
              <a:gd name="T22" fmla="*/ 389 w 681"/>
              <a:gd name="T23" fmla="*/ 681 h 681"/>
              <a:gd name="T24" fmla="*/ 449 w 681"/>
              <a:gd name="T25" fmla="*/ 585 h 681"/>
              <a:gd name="T26" fmla="*/ 616 w 681"/>
              <a:gd name="T27" fmla="*/ 547 h 681"/>
              <a:gd name="T28" fmla="*/ 590 w 681"/>
              <a:gd name="T29" fmla="*/ 437 h 681"/>
              <a:gd name="T30" fmla="*/ 681 w 681"/>
              <a:gd name="T31" fmla="*/ 292 h 681"/>
              <a:gd name="T32" fmla="*/ 564 w 681"/>
              <a:gd name="T33" fmla="*/ 394 h 681"/>
              <a:gd name="T34" fmla="*/ 537 w 681"/>
              <a:gd name="T35" fmla="*/ 460 h 681"/>
              <a:gd name="T36" fmla="*/ 460 w 681"/>
              <a:gd name="T37" fmla="*/ 536 h 681"/>
              <a:gd name="T38" fmla="*/ 395 w 681"/>
              <a:gd name="T39" fmla="*/ 563 h 681"/>
              <a:gd name="T40" fmla="*/ 287 w 681"/>
              <a:gd name="T41" fmla="*/ 563 h 681"/>
              <a:gd name="T42" fmla="*/ 222 w 681"/>
              <a:gd name="T43" fmla="*/ 536 h 681"/>
              <a:gd name="T44" fmla="*/ 145 w 681"/>
              <a:gd name="T45" fmla="*/ 460 h 681"/>
              <a:gd name="T46" fmla="*/ 118 w 681"/>
              <a:gd name="T47" fmla="*/ 394 h 681"/>
              <a:gd name="T48" fmla="*/ 118 w 681"/>
              <a:gd name="T49" fmla="*/ 286 h 681"/>
              <a:gd name="T50" fmla="*/ 145 w 681"/>
              <a:gd name="T51" fmla="*/ 221 h 681"/>
              <a:gd name="T52" fmla="*/ 222 w 681"/>
              <a:gd name="T53" fmla="*/ 145 h 681"/>
              <a:gd name="T54" fmla="*/ 287 w 681"/>
              <a:gd name="T55" fmla="*/ 118 h 681"/>
              <a:gd name="T56" fmla="*/ 395 w 681"/>
              <a:gd name="T57" fmla="*/ 118 h 681"/>
              <a:gd name="T58" fmla="*/ 460 w 681"/>
              <a:gd name="T59" fmla="*/ 145 h 681"/>
              <a:gd name="T60" fmla="*/ 537 w 681"/>
              <a:gd name="T61" fmla="*/ 221 h 681"/>
              <a:gd name="T62" fmla="*/ 564 w 681"/>
              <a:gd name="T63" fmla="*/ 286 h 681"/>
              <a:gd name="T64" fmla="*/ 633 w 681"/>
              <a:gd name="T65" fmla="*/ 371 h 681"/>
              <a:gd name="T66" fmla="*/ 382 w 681"/>
              <a:gd name="T67" fmla="*/ 437 h 681"/>
              <a:gd name="T68" fmla="*/ 293 w 681"/>
              <a:gd name="T69" fmla="*/ 415 h 681"/>
              <a:gd name="T70" fmla="*/ 320 w 681"/>
              <a:gd name="T71" fmla="*/ 327 h 681"/>
              <a:gd name="T72" fmla="*/ 302 w 681"/>
              <a:gd name="T73" fmla="*/ 306 h 681"/>
              <a:gd name="T74" fmla="*/ 361 w 681"/>
              <a:gd name="T75" fmla="*/ 306 h 681"/>
              <a:gd name="T76" fmla="*/ 388 w 681"/>
              <a:gd name="T77" fmla="*/ 415 h 681"/>
              <a:gd name="T78" fmla="*/ 361 w 681"/>
              <a:gd name="T79" fmla="*/ 274 h 681"/>
              <a:gd name="T80" fmla="*/ 325 w 681"/>
              <a:gd name="T81" fmla="*/ 239 h 681"/>
              <a:gd name="T82" fmla="*/ 325 w 681"/>
              <a:gd name="T83" fmla="*/ 279 h 681"/>
              <a:gd name="T84" fmla="*/ 185 w 681"/>
              <a:gd name="T85" fmla="*/ 340 h 681"/>
              <a:gd name="T86" fmla="*/ 468 w 681"/>
              <a:gd name="T87" fmla="*/ 340 h 681"/>
              <a:gd name="T88" fmla="*/ 250 w 681"/>
              <a:gd name="T89" fmla="*/ 250 h 681"/>
              <a:gd name="T90" fmla="*/ 340 w 681"/>
              <a:gd name="T91" fmla="*/ 467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681" h="681">
                <a:moveTo>
                  <a:pt x="665" y="269"/>
                </a:moveTo>
                <a:cubicBezTo>
                  <a:pt x="590" y="244"/>
                  <a:pt x="590" y="244"/>
                  <a:pt x="590" y="244"/>
                </a:cubicBezTo>
                <a:cubicBezTo>
                  <a:pt x="589" y="240"/>
                  <a:pt x="587" y="236"/>
                  <a:pt x="585" y="232"/>
                </a:cubicBezTo>
                <a:cubicBezTo>
                  <a:pt x="620" y="162"/>
                  <a:pt x="620" y="162"/>
                  <a:pt x="620" y="162"/>
                </a:cubicBezTo>
                <a:cubicBezTo>
                  <a:pt x="625" y="153"/>
                  <a:pt x="623" y="141"/>
                  <a:pt x="616" y="134"/>
                </a:cubicBezTo>
                <a:cubicBezTo>
                  <a:pt x="547" y="65"/>
                  <a:pt x="547" y="65"/>
                  <a:pt x="547" y="65"/>
                </a:cubicBezTo>
                <a:cubicBezTo>
                  <a:pt x="540" y="58"/>
                  <a:pt x="528" y="56"/>
                  <a:pt x="519" y="61"/>
                </a:cubicBezTo>
                <a:cubicBezTo>
                  <a:pt x="449" y="96"/>
                  <a:pt x="449" y="96"/>
                  <a:pt x="449" y="96"/>
                </a:cubicBezTo>
                <a:cubicBezTo>
                  <a:pt x="445" y="94"/>
                  <a:pt x="441" y="93"/>
                  <a:pt x="437" y="91"/>
                </a:cubicBezTo>
                <a:cubicBezTo>
                  <a:pt x="413" y="16"/>
                  <a:pt x="413" y="16"/>
                  <a:pt x="413" y="16"/>
                </a:cubicBezTo>
                <a:cubicBezTo>
                  <a:pt x="409" y="7"/>
                  <a:pt x="400" y="0"/>
                  <a:pt x="389" y="0"/>
                </a:cubicBezTo>
                <a:cubicBezTo>
                  <a:pt x="292" y="0"/>
                  <a:pt x="292" y="0"/>
                  <a:pt x="292" y="0"/>
                </a:cubicBezTo>
                <a:cubicBezTo>
                  <a:pt x="282" y="0"/>
                  <a:pt x="272" y="7"/>
                  <a:pt x="269" y="16"/>
                </a:cubicBezTo>
                <a:cubicBezTo>
                  <a:pt x="244" y="91"/>
                  <a:pt x="244" y="91"/>
                  <a:pt x="244" y="91"/>
                </a:cubicBezTo>
                <a:cubicBezTo>
                  <a:pt x="240" y="93"/>
                  <a:pt x="237" y="94"/>
                  <a:pt x="233" y="96"/>
                </a:cubicBezTo>
                <a:cubicBezTo>
                  <a:pt x="163" y="61"/>
                  <a:pt x="163" y="61"/>
                  <a:pt x="163" y="61"/>
                </a:cubicBezTo>
                <a:cubicBezTo>
                  <a:pt x="153" y="56"/>
                  <a:pt x="142" y="58"/>
                  <a:pt x="134" y="65"/>
                </a:cubicBezTo>
                <a:cubicBezTo>
                  <a:pt x="66" y="134"/>
                  <a:pt x="66" y="134"/>
                  <a:pt x="66" y="134"/>
                </a:cubicBezTo>
                <a:cubicBezTo>
                  <a:pt x="58" y="141"/>
                  <a:pt x="56" y="153"/>
                  <a:pt x="61" y="162"/>
                </a:cubicBezTo>
                <a:cubicBezTo>
                  <a:pt x="96" y="232"/>
                  <a:pt x="96" y="232"/>
                  <a:pt x="96" y="232"/>
                </a:cubicBezTo>
                <a:cubicBezTo>
                  <a:pt x="95" y="236"/>
                  <a:pt x="93" y="240"/>
                  <a:pt x="92" y="244"/>
                </a:cubicBezTo>
                <a:cubicBezTo>
                  <a:pt x="17" y="269"/>
                  <a:pt x="17" y="269"/>
                  <a:pt x="17" y="269"/>
                </a:cubicBezTo>
                <a:cubicBezTo>
                  <a:pt x="7" y="272"/>
                  <a:pt x="0" y="281"/>
                  <a:pt x="0" y="292"/>
                </a:cubicBezTo>
                <a:cubicBezTo>
                  <a:pt x="0" y="389"/>
                  <a:pt x="0" y="389"/>
                  <a:pt x="0" y="389"/>
                </a:cubicBezTo>
                <a:cubicBezTo>
                  <a:pt x="0" y="399"/>
                  <a:pt x="7" y="409"/>
                  <a:pt x="17" y="412"/>
                </a:cubicBezTo>
                <a:cubicBezTo>
                  <a:pt x="92" y="437"/>
                  <a:pt x="92" y="437"/>
                  <a:pt x="92" y="437"/>
                </a:cubicBezTo>
                <a:cubicBezTo>
                  <a:pt x="93" y="441"/>
                  <a:pt x="95" y="445"/>
                  <a:pt x="96" y="448"/>
                </a:cubicBezTo>
                <a:cubicBezTo>
                  <a:pt x="61" y="519"/>
                  <a:pt x="61" y="519"/>
                  <a:pt x="61" y="519"/>
                </a:cubicBezTo>
                <a:cubicBezTo>
                  <a:pt x="56" y="528"/>
                  <a:pt x="58" y="539"/>
                  <a:pt x="66" y="547"/>
                </a:cubicBezTo>
                <a:cubicBezTo>
                  <a:pt x="134" y="615"/>
                  <a:pt x="134" y="615"/>
                  <a:pt x="134" y="615"/>
                </a:cubicBezTo>
                <a:cubicBezTo>
                  <a:pt x="142" y="623"/>
                  <a:pt x="153" y="625"/>
                  <a:pt x="163" y="620"/>
                </a:cubicBezTo>
                <a:cubicBezTo>
                  <a:pt x="233" y="585"/>
                  <a:pt x="233" y="585"/>
                  <a:pt x="233" y="585"/>
                </a:cubicBezTo>
                <a:cubicBezTo>
                  <a:pt x="237" y="587"/>
                  <a:pt x="240" y="588"/>
                  <a:pt x="244" y="590"/>
                </a:cubicBezTo>
                <a:cubicBezTo>
                  <a:pt x="269" y="664"/>
                  <a:pt x="269" y="664"/>
                  <a:pt x="269" y="664"/>
                </a:cubicBezTo>
                <a:cubicBezTo>
                  <a:pt x="272" y="674"/>
                  <a:pt x="282" y="681"/>
                  <a:pt x="292" y="681"/>
                </a:cubicBezTo>
                <a:cubicBezTo>
                  <a:pt x="389" y="681"/>
                  <a:pt x="389" y="681"/>
                  <a:pt x="389" y="681"/>
                </a:cubicBezTo>
                <a:cubicBezTo>
                  <a:pt x="400" y="681"/>
                  <a:pt x="409" y="674"/>
                  <a:pt x="413" y="664"/>
                </a:cubicBezTo>
                <a:cubicBezTo>
                  <a:pt x="437" y="590"/>
                  <a:pt x="437" y="590"/>
                  <a:pt x="437" y="590"/>
                </a:cubicBezTo>
                <a:cubicBezTo>
                  <a:pt x="441" y="588"/>
                  <a:pt x="445" y="587"/>
                  <a:pt x="449" y="585"/>
                </a:cubicBezTo>
                <a:cubicBezTo>
                  <a:pt x="519" y="620"/>
                  <a:pt x="519" y="620"/>
                  <a:pt x="519" y="620"/>
                </a:cubicBezTo>
                <a:cubicBezTo>
                  <a:pt x="528" y="625"/>
                  <a:pt x="540" y="623"/>
                  <a:pt x="547" y="615"/>
                </a:cubicBezTo>
                <a:cubicBezTo>
                  <a:pt x="616" y="547"/>
                  <a:pt x="616" y="547"/>
                  <a:pt x="616" y="547"/>
                </a:cubicBezTo>
                <a:cubicBezTo>
                  <a:pt x="623" y="539"/>
                  <a:pt x="625" y="528"/>
                  <a:pt x="620" y="519"/>
                </a:cubicBezTo>
                <a:cubicBezTo>
                  <a:pt x="585" y="448"/>
                  <a:pt x="585" y="448"/>
                  <a:pt x="585" y="448"/>
                </a:cubicBezTo>
                <a:cubicBezTo>
                  <a:pt x="587" y="444"/>
                  <a:pt x="589" y="441"/>
                  <a:pt x="590" y="437"/>
                </a:cubicBezTo>
                <a:cubicBezTo>
                  <a:pt x="665" y="412"/>
                  <a:pt x="665" y="412"/>
                  <a:pt x="665" y="412"/>
                </a:cubicBezTo>
                <a:cubicBezTo>
                  <a:pt x="675" y="409"/>
                  <a:pt x="681" y="399"/>
                  <a:pt x="681" y="389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81"/>
                  <a:pt x="675" y="272"/>
                  <a:pt x="665" y="269"/>
                </a:cubicBezTo>
                <a:close/>
                <a:moveTo>
                  <a:pt x="633" y="371"/>
                </a:moveTo>
                <a:cubicBezTo>
                  <a:pt x="564" y="394"/>
                  <a:pt x="564" y="394"/>
                  <a:pt x="564" y="394"/>
                </a:cubicBezTo>
                <a:cubicBezTo>
                  <a:pt x="556" y="397"/>
                  <a:pt x="551" y="403"/>
                  <a:pt x="548" y="410"/>
                </a:cubicBezTo>
                <a:cubicBezTo>
                  <a:pt x="545" y="419"/>
                  <a:pt x="541" y="428"/>
                  <a:pt x="537" y="438"/>
                </a:cubicBezTo>
                <a:cubicBezTo>
                  <a:pt x="533" y="445"/>
                  <a:pt x="533" y="453"/>
                  <a:pt x="537" y="460"/>
                </a:cubicBezTo>
                <a:cubicBezTo>
                  <a:pt x="569" y="525"/>
                  <a:pt x="569" y="525"/>
                  <a:pt x="569" y="525"/>
                </a:cubicBezTo>
                <a:cubicBezTo>
                  <a:pt x="525" y="569"/>
                  <a:pt x="525" y="569"/>
                  <a:pt x="525" y="569"/>
                </a:cubicBezTo>
                <a:cubicBezTo>
                  <a:pt x="460" y="536"/>
                  <a:pt x="460" y="536"/>
                  <a:pt x="460" y="536"/>
                </a:cubicBezTo>
                <a:cubicBezTo>
                  <a:pt x="453" y="533"/>
                  <a:pt x="445" y="533"/>
                  <a:pt x="438" y="536"/>
                </a:cubicBezTo>
                <a:cubicBezTo>
                  <a:pt x="429" y="541"/>
                  <a:pt x="420" y="545"/>
                  <a:pt x="410" y="548"/>
                </a:cubicBezTo>
                <a:cubicBezTo>
                  <a:pt x="403" y="550"/>
                  <a:pt x="397" y="556"/>
                  <a:pt x="395" y="563"/>
                </a:cubicBezTo>
                <a:cubicBezTo>
                  <a:pt x="372" y="632"/>
                  <a:pt x="372" y="632"/>
                  <a:pt x="372" y="632"/>
                </a:cubicBezTo>
                <a:cubicBezTo>
                  <a:pt x="310" y="632"/>
                  <a:pt x="310" y="632"/>
                  <a:pt x="310" y="632"/>
                </a:cubicBezTo>
                <a:cubicBezTo>
                  <a:pt x="287" y="563"/>
                  <a:pt x="287" y="563"/>
                  <a:pt x="287" y="563"/>
                </a:cubicBezTo>
                <a:cubicBezTo>
                  <a:pt x="284" y="556"/>
                  <a:pt x="279" y="550"/>
                  <a:pt x="271" y="548"/>
                </a:cubicBezTo>
                <a:cubicBezTo>
                  <a:pt x="262" y="545"/>
                  <a:pt x="253" y="541"/>
                  <a:pt x="243" y="536"/>
                </a:cubicBezTo>
                <a:cubicBezTo>
                  <a:pt x="236" y="533"/>
                  <a:pt x="228" y="533"/>
                  <a:pt x="222" y="536"/>
                </a:cubicBezTo>
                <a:cubicBezTo>
                  <a:pt x="156" y="569"/>
                  <a:pt x="156" y="569"/>
                  <a:pt x="156" y="569"/>
                </a:cubicBezTo>
                <a:cubicBezTo>
                  <a:pt x="112" y="525"/>
                  <a:pt x="112" y="525"/>
                  <a:pt x="112" y="525"/>
                </a:cubicBezTo>
                <a:cubicBezTo>
                  <a:pt x="145" y="460"/>
                  <a:pt x="145" y="460"/>
                  <a:pt x="145" y="460"/>
                </a:cubicBezTo>
                <a:cubicBezTo>
                  <a:pt x="148" y="453"/>
                  <a:pt x="148" y="445"/>
                  <a:pt x="145" y="438"/>
                </a:cubicBezTo>
                <a:cubicBezTo>
                  <a:pt x="140" y="428"/>
                  <a:pt x="137" y="419"/>
                  <a:pt x="133" y="410"/>
                </a:cubicBezTo>
                <a:cubicBezTo>
                  <a:pt x="131" y="403"/>
                  <a:pt x="125" y="397"/>
                  <a:pt x="118" y="394"/>
                </a:cubicBezTo>
                <a:cubicBezTo>
                  <a:pt x="49" y="371"/>
                  <a:pt x="49" y="371"/>
                  <a:pt x="49" y="371"/>
                </a:cubicBezTo>
                <a:cubicBezTo>
                  <a:pt x="49" y="309"/>
                  <a:pt x="49" y="309"/>
                  <a:pt x="49" y="309"/>
                </a:cubicBezTo>
                <a:cubicBezTo>
                  <a:pt x="118" y="286"/>
                  <a:pt x="118" y="286"/>
                  <a:pt x="118" y="286"/>
                </a:cubicBezTo>
                <a:cubicBezTo>
                  <a:pt x="125" y="284"/>
                  <a:pt x="131" y="278"/>
                  <a:pt x="133" y="271"/>
                </a:cubicBezTo>
                <a:cubicBezTo>
                  <a:pt x="137" y="262"/>
                  <a:pt x="140" y="252"/>
                  <a:pt x="145" y="243"/>
                </a:cubicBezTo>
                <a:cubicBezTo>
                  <a:pt x="148" y="236"/>
                  <a:pt x="148" y="228"/>
                  <a:pt x="145" y="221"/>
                </a:cubicBezTo>
                <a:cubicBezTo>
                  <a:pt x="112" y="156"/>
                  <a:pt x="112" y="156"/>
                  <a:pt x="112" y="156"/>
                </a:cubicBezTo>
                <a:cubicBezTo>
                  <a:pt x="156" y="112"/>
                  <a:pt x="156" y="112"/>
                  <a:pt x="156" y="112"/>
                </a:cubicBezTo>
                <a:cubicBezTo>
                  <a:pt x="222" y="145"/>
                  <a:pt x="222" y="145"/>
                  <a:pt x="222" y="145"/>
                </a:cubicBezTo>
                <a:cubicBezTo>
                  <a:pt x="228" y="148"/>
                  <a:pt x="237" y="148"/>
                  <a:pt x="243" y="145"/>
                </a:cubicBezTo>
                <a:cubicBezTo>
                  <a:pt x="253" y="140"/>
                  <a:pt x="262" y="136"/>
                  <a:pt x="271" y="133"/>
                </a:cubicBezTo>
                <a:cubicBezTo>
                  <a:pt x="279" y="131"/>
                  <a:pt x="284" y="125"/>
                  <a:pt x="287" y="118"/>
                </a:cubicBezTo>
                <a:cubicBezTo>
                  <a:pt x="310" y="49"/>
                  <a:pt x="310" y="49"/>
                  <a:pt x="310" y="49"/>
                </a:cubicBezTo>
                <a:cubicBezTo>
                  <a:pt x="372" y="49"/>
                  <a:pt x="372" y="49"/>
                  <a:pt x="372" y="49"/>
                </a:cubicBezTo>
                <a:cubicBezTo>
                  <a:pt x="395" y="118"/>
                  <a:pt x="395" y="118"/>
                  <a:pt x="395" y="118"/>
                </a:cubicBezTo>
                <a:cubicBezTo>
                  <a:pt x="397" y="125"/>
                  <a:pt x="403" y="131"/>
                  <a:pt x="410" y="133"/>
                </a:cubicBezTo>
                <a:cubicBezTo>
                  <a:pt x="420" y="136"/>
                  <a:pt x="429" y="140"/>
                  <a:pt x="438" y="145"/>
                </a:cubicBezTo>
                <a:cubicBezTo>
                  <a:pt x="445" y="148"/>
                  <a:pt x="453" y="148"/>
                  <a:pt x="460" y="145"/>
                </a:cubicBezTo>
                <a:cubicBezTo>
                  <a:pt x="525" y="112"/>
                  <a:pt x="525" y="112"/>
                  <a:pt x="525" y="112"/>
                </a:cubicBezTo>
                <a:cubicBezTo>
                  <a:pt x="569" y="156"/>
                  <a:pt x="569" y="156"/>
                  <a:pt x="569" y="156"/>
                </a:cubicBezTo>
                <a:cubicBezTo>
                  <a:pt x="537" y="221"/>
                  <a:pt x="537" y="221"/>
                  <a:pt x="537" y="221"/>
                </a:cubicBezTo>
                <a:cubicBezTo>
                  <a:pt x="533" y="228"/>
                  <a:pt x="533" y="236"/>
                  <a:pt x="537" y="243"/>
                </a:cubicBezTo>
                <a:cubicBezTo>
                  <a:pt x="541" y="252"/>
                  <a:pt x="545" y="262"/>
                  <a:pt x="548" y="271"/>
                </a:cubicBezTo>
                <a:cubicBezTo>
                  <a:pt x="551" y="278"/>
                  <a:pt x="556" y="284"/>
                  <a:pt x="564" y="286"/>
                </a:cubicBezTo>
                <a:cubicBezTo>
                  <a:pt x="633" y="309"/>
                  <a:pt x="633" y="309"/>
                  <a:pt x="633" y="309"/>
                </a:cubicBezTo>
                <a:cubicBezTo>
                  <a:pt x="633" y="371"/>
                  <a:pt x="633" y="371"/>
                  <a:pt x="633" y="371"/>
                </a:cubicBezTo>
                <a:cubicBezTo>
                  <a:pt x="633" y="371"/>
                  <a:pt x="633" y="371"/>
                  <a:pt x="633" y="371"/>
                </a:cubicBezTo>
                <a:close/>
                <a:moveTo>
                  <a:pt x="388" y="415"/>
                </a:moveTo>
                <a:cubicBezTo>
                  <a:pt x="388" y="431"/>
                  <a:pt x="388" y="431"/>
                  <a:pt x="388" y="431"/>
                </a:cubicBezTo>
                <a:cubicBezTo>
                  <a:pt x="388" y="434"/>
                  <a:pt x="385" y="437"/>
                  <a:pt x="382" y="437"/>
                </a:cubicBezTo>
                <a:cubicBezTo>
                  <a:pt x="298" y="437"/>
                  <a:pt x="298" y="437"/>
                  <a:pt x="298" y="437"/>
                </a:cubicBezTo>
                <a:cubicBezTo>
                  <a:pt x="296" y="437"/>
                  <a:pt x="293" y="434"/>
                  <a:pt x="293" y="431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3" y="412"/>
                  <a:pt x="296" y="410"/>
                  <a:pt x="298" y="410"/>
                </a:cubicBezTo>
                <a:cubicBezTo>
                  <a:pt x="320" y="410"/>
                  <a:pt x="320" y="410"/>
                  <a:pt x="320" y="410"/>
                </a:cubicBezTo>
                <a:cubicBezTo>
                  <a:pt x="320" y="327"/>
                  <a:pt x="320" y="327"/>
                  <a:pt x="320" y="327"/>
                </a:cubicBezTo>
                <a:cubicBezTo>
                  <a:pt x="308" y="327"/>
                  <a:pt x="308" y="327"/>
                  <a:pt x="308" y="327"/>
                </a:cubicBezTo>
                <a:cubicBezTo>
                  <a:pt x="305" y="327"/>
                  <a:pt x="302" y="325"/>
                  <a:pt x="302" y="322"/>
                </a:cubicBezTo>
                <a:cubicBezTo>
                  <a:pt x="302" y="306"/>
                  <a:pt x="302" y="306"/>
                  <a:pt x="302" y="306"/>
                </a:cubicBezTo>
                <a:cubicBezTo>
                  <a:pt x="302" y="303"/>
                  <a:pt x="305" y="300"/>
                  <a:pt x="308" y="300"/>
                </a:cubicBezTo>
                <a:cubicBezTo>
                  <a:pt x="355" y="300"/>
                  <a:pt x="355" y="300"/>
                  <a:pt x="355" y="300"/>
                </a:cubicBezTo>
                <a:cubicBezTo>
                  <a:pt x="358" y="300"/>
                  <a:pt x="361" y="303"/>
                  <a:pt x="361" y="306"/>
                </a:cubicBezTo>
                <a:cubicBezTo>
                  <a:pt x="361" y="410"/>
                  <a:pt x="361" y="410"/>
                  <a:pt x="361" y="410"/>
                </a:cubicBezTo>
                <a:cubicBezTo>
                  <a:pt x="382" y="410"/>
                  <a:pt x="382" y="410"/>
                  <a:pt x="382" y="410"/>
                </a:cubicBezTo>
                <a:cubicBezTo>
                  <a:pt x="385" y="410"/>
                  <a:pt x="388" y="412"/>
                  <a:pt x="388" y="415"/>
                </a:cubicBezTo>
                <a:close/>
                <a:moveTo>
                  <a:pt x="325" y="279"/>
                </a:moveTo>
                <a:cubicBezTo>
                  <a:pt x="355" y="279"/>
                  <a:pt x="355" y="279"/>
                  <a:pt x="355" y="279"/>
                </a:cubicBezTo>
                <a:cubicBezTo>
                  <a:pt x="358" y="279"/>
                  <a:pt x="361" y="277"/>
                  <a:pt x="361" y="274"/>
                </a:cubicBezTo>
                <a:cubicBezTo>
                  <a:pt x="361" y="244"/>
                  <a:pt x="361" y="244"/>
                  <a:pt x="361" y="244"/>
                </a:cubicBezTo>
                <a:cubicBezTo>
                  <a:pt x="361" y="241"/>
                  <a:pt x="358" y="239"/>
                  <a:pt x="355" y="239"/>
                </a:cubicBezTo>
                <a:cubicBezTo>
                  <a:pt x="325" y="239"/>
                  <a:pt x="325" y="239"/>
                  <a:pt x="325" y="239"/>
                </a:cubicBezTo>
                <a:cubicBezTo>
                  <a:pt x="322" y="239"/>
                  <a:pt x="320" y="241"/>
                  <a:pt x="320" y="244"/>
                </a:cubicBezTo>
                <a:cubicBezTo>
                  <a:pt x="320" y="274"/>
                  <a:pt x="320" y="274"/>
                  <a:pt x="320" y="274"/>
                </a:cubicBezTo>
                <a:cubicBezTo>
                  <a:pt x="320" y="277"/>
                  <a:pt x="322" y="279"/>
                  <a:pt x="325" y="279"/>
                </a:cubicBezTo>
                <a:close/>
                <a:moveTo>
                  <a:pt x="496" y="340"/>
                </a:moveTo>
                <a:cubicBezTo>
                  <a:pt x="496" y="426"/>
                  <a:pt x="426" y="496"/>
                  <a:pt x="340" y="496"/>
                </a:cubicBezTo>
                <a:cubicBezTo>
                  <a:pt x="254" y="496"/>
                  <a:pt x="185" y="426"/>
                  <a:pt x="185" y="340"/>
                </a:cubicBezTo>
                <a:cubicBezTo>
                  <a:pt x="185" y="254"/>
                  <a:pt x="254" y="184"/>
                  <a:pt x="340" y="184"/>
                </a:cubicBezTo>
                <a:cubicBezTo>
                  <a:pt x="426" y="184"/>
                  <a:pt x="496" y="254"/>
                  <a:pt x="496" y="340"/>
                </a:cubicBezTo>
                <a:close/>
                <a:moveTo>
                  <a:pt x="468" y="340"/>
                </a:moveTo>
                <a:cubicBezTo>
                  <a:pt x="468" y="306"/>
                  <a:pt x="454" y="274"/>
                  <a:pt x="430" y="250"/>
                </a:cubicBezTo>
                <a:cubicBezTo>
                  <a:pt x="406" y="226"/>
                  <a:pt x="374" y="213"/>
                  <a:pt x="340" y="213"/>
                </a:cubicBezTo>
                <a:cubicBezTo>
                  <a:pt x="306" y="213"/>
                  <a:pt x="275" y="226"/>
                  <a:pt x="250" y="250"/>
                </a:cubicBezTo>
                <a:cubicBezTo>
                  <a:pt x="226" y="274"/>
                  <a:pt x="213" y="306"/>
                  <a:pt x="213" y="340"/>
                </a:cubicBezTo>
                <a:cubicBezTo>
                  <a:pt x="213" y="374"/>
                  <a:pt x="226" y="406"/>
                  <a:pt x="250" y="430"/>
                </a:cubicBezTo>
                <a:cubicBezTo>
                  <a:pt x="275" y="454"/>
                  <a:pt x="306" y="467"/>
                  <a:pt x="340" y="467"/>
                </a:cubicBezTo>
                <a:cubicBezTo>
                  <a:pt x="374" y="467"/>
                  <a:pt x="406" y="454"/>
                  <a:pt x="430" y="430"/>
                </a:cubicBezTo>
                <a:cubicBezTo>
                  <a:pt x="454" y="406"/>
                  <a:pt x="468" y="374"/>
                  <a:pt x="468" y="3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1177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深化整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10"/>
          <p:cNvSpPr txBox="1"/>
          <p:nvPr userDrawn="1"/>
        </p:nvSpPr>
        <p:spPr>
          <a:xfrm>
            <a:off x="5122730" y="3013506"/>
            <a:ext cx="2954656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4800" b="1" spc="600" dirty="0">
                <a:solidFill>
                  <a:prstClr val="white"/>
                </a:solidFill>
              </a:rPr>
              <a:t>深化整合</a:t>
            </a:r>
          </a:p>
        </p:txBody>
      </p:sp>
      <p:sp>
        <p:nvSpPr>
          <p:cNvPr id="8" name="Freeform 5"/>
          <p:cNvSpPr>
            <a:spLocks noEditPoints="1"/>
          </p:cNvSpPr>
          <p:nvPr userDrawn="1"/>
        </p:nvSpPr>
        <p:spPr bwMode="auto">
          <a:xfrm>
            <a:off x="4118546" y="3013501"/>
            <a:ext cx="825784" cy="830998"/>
          </a:xfrm>
          <a:custGeom>
            <a:avLst/>
            <a:gdLst>
              <a:gd name="T0" fmla="*/ 68 w 699"/>
              <a:gd name="T1" fmla="*/ 324 h 705"/>
              <a:gd name="T2" fmla="*/ 105 w 699"/>
              <a:gd name="T3" fmla="*/ 650 h 705"/>
              <a:gd name="T4" fmla="*/ 301 w 699"/>
              <a:gd name="T5" fmla="*/ 681 h 705"/>
              <a:gd name="T6" fmla="*/ 154 w 699"/>
              <a:gd name="T7" fmla="*/ 657 h 705"/>
              <a:gd name="T8" fmla="*/ 69 w 699"/>
              <a:gd name="T9" fmla="*/ 446 h 705"/>
              <a:gd name="T10" fmla="*/ 112 w 699"/>
              <a:gd name="T11" fmla="*/ 327 h 705"/>
              <a:gd name="T12" fmla="*/ 653 w 699"/>
              <a:gd name="T13" fmla="*/ 313 h 705"/>
              <a:gd name="T14" fmla="*/ 383 w 699"/>
              <a:gd name="T15" fmla="*/ 0 h 705"/>
              <a:gd name="T16" fmla="*/ 460 w 699"/>
              <a:gd name="T17" fmla="*/ 368 h 705"/>
              <a:gd name="T18" fmla="*/ 409 w 699"/>
              <a:gd name="T19" fmla="*/ 427 h 705"/>
              <a:gd name="T20" fmla="*/ 323 w 699"/>
              <a:gd name="T21" fmla="*/ 428 h 705"/>
              <a:gd name="T22" fmla="*/ 272 w 699"/>
              <a:gd name="T23" fmla="*/ 336 h 705"/>
              <a:gd name="T24" fmla="*/ 246 w 699"/>
              <a:gd name="T25" fmla="*/ 263 h 705"/>
              <a:gd name="T26" fmla="*/ 278 w 699"/>
              <a:gd name="T27" fmla="*/ 205 h 705"/>
              <a:gd name="T28" fmla="*/ 354 w 699"/>
              <a:gd name="T29" fmla="*/ 189 h 705"/>
              <a:gd name="T30" fmla="*/ 459 w 699"/>
              <a:gd name="T31" fmla="*/ 185 h 705"/>
              <a:gd name="T32" fmla="*/ 504 w 699"/>
              <a:gd name="T33" fmla="*/ 258 h 705"/>
              <a:gd name="T34" fmla="*/ 504 w 699"/>
              <a:gd name="T35" fmla="*/ 304 h 705"/>
              <a:gd name="T36" fmla="*/ 435 w 699"/>
              <a:gd name="T37" fmla="*/ 227 h 705"/>
              <a:gd name="T38" fmla="*/ 413 w 699"/>
              <a:gd name="T39" fmla="*/ 191 h 705"/>
              <a:gd name="T40" fmla="*/ 317 w 699"/>
              <a:gd name="T41" fmla="*/ 182 h 705"/>
              <a:gd name="T42" fmla="*/ 295 w 699"/>
              <a:gd name="T43" fmla="*/ 253 h 705"/>
              <a:gd name="T44" fmla="*/ 246 w 699"/>
              <a:gd name="T45" fmla="*/ 309 h 705"/>
              <a:gd name="T46" fmla="*/ 305 w 699"/>
              <a:gd name="T47" fmla="*/ 386 h 705"/>
              <a:gd name="T48" fmla="*/ 347 w 699"/>
              <a:gd name="T49" fmla="*/ 386 h 705"/>
              <a:gd name="T50" fmla="*/ 449 w 699"/>
              <a:gd name="T51" fmla="*/ 404 h 705"/>
              <a:gd name="T52" fmla="*/ 465 w 699"/>
              <a:gd name="T53" fmla="*/ 314 h 705"/>
              <a:gd name="T54" fmla="*/ 335 w 699"/>
              <a:gd name="T55" fmla="*/ 275 h 705"/>
              <a:gd name="T56" fmla="*/ 389 w 699"/>
              <a:gd name="T57" fmla="*/ 273 h 705"/>
              <a:gd name="T58" fmla="*/ 389 w 699"/>
              <a:gd name="T59" fmla="*/ 273 h 705"/>
              <a:gd name="T60" fmla="*/ 590 w 699"/>
              <a:gd name="T61" fmla="*/ 473 h 705"/>
              <a:gd name="T62" fmla="*/ 563 w 699"/>
              <a:gd name="T63" fmla="*/ 506 h 705"/>
              <a:gd name="T64" fmla="*/ 517 w 699"/>
              <a:gd name="T65" fmla="*/ 507 h 705"/>
              <a:gd name="T66" fmla="*/ 489 w 699"/>
              <a:gd name="T67" fmla="*/ 458 h 705"/>
              <a:gd name="T68" fmla="*/ 474 w 699"/>
              <a:gd name="T69" fmla="*/ 419 h 705"/>
              <a:gd name="T70" fmla="*/ 491 w 699"/>
              <a:gd name="T71" fmla="*/ 388 h 705"/>
              <a:gd name="T72" fmla="*/ 531 w 699"/>
              <a:gd name="T73" fmla="*/ 378 h 705"/>
              <a:gd name="T74" fmla="*/ 588 w 699"/>
              <a:gd name="T75" fmla="*/ 375 h 705"/>
              <a:gd name="T76" fmla="*/ 612 w 699"/>
              <a:gd name="T77" fmla="*/ 414 h 705"/>
              <a:gd name="T78" fmla="*/ 613 w 699"/>
              <a:gd name="T79" fmla="*/ 439 h 705"/>
              <a:gd name="T80" fmla="*/ 576 w 699"/>
              <a:gd name="T81" fmla="*/ 398 h 705"/>
              <a:gd name="T82" fmla="*/ 563 w 699"/>
              <a:gd name="T83" fmla="*/ 379 h 705"/>
              <a:gd name="T84" fmla="*/ 512 w 699"/>
              <a:gd name="T85" fmla="*/ 375 h 705"/>
              <a:gd name="T86" fmla="*/ 500 w 699"/>
              <a:gd name="T87" fmla="*/ 413 h 705"/>
              <a:gd name="T88" fmla="*/ 475 w 699"/>
              <a:gd name="T89" fmla="*/ 444 h 705"/>
              <a:gd name="T90" fmla="*/ 507 w 699"/>
              <a:gd name="T91" fmla="*/ 485 h 705"/>
              <a:gd name="T92" fmla="*/ 530 w 699"/>
              <a:gd name="T93" fmla="*/ 484 h 705"/>
              <a:gd name="T94" fmla="*/ 585 w 699"/>
              <a:gd name="T95" fmla="*/ 493 h 705"/>
              <a:gd name="T96" fmla="*/ 593 w 699"/>
              <a:gd name="T97" fmla="*/ 445 h 705"/>
              <a:gd name="T98" fmla="*/ 522 w 699"/>
              <a:gd name="T99" fmla="*/ 425 h 705"/>
              <a:gd name="T100" fmla="*/ 551 w 699"/>
              <a:gd name="T101" fmla="*/ 423 h 705"/>
              <a:gd name="T102" fmla="*/ 551 w 699"/>
              <a:gd name="T103" fmla="*/ 423 h 7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99" h="705">
                <a:moveTo>
                  <a:pt x="383" y="0"/>
                </a:moveTo>
                <a:cubicBezTo>
                  <a:pt x="382" y="0"/>
                  <a:pt x="380" y="0"/>
                  <a:pt x="379" y="0"/>
                </a:cubicBezTo>
                <a:cubicBezTo>
                  <a:pt x="205" y="3"/>
                  <a:pt x="65" y="146"/>
                  <a:pt x="67" y="320"/>
                </a:cubicBezTo>
                <a:cubicBezTo>
                  <a:pt x="67" y="322"/>
                  <a:pt x="67" y="323"/>
                  <a:pt x="68" y="324"/>
                </a:cubicBezTo>
                <a:cubicBezTo>
                  <a:pt x="46" y="347"/>
                  <a:pt x="0" y="399"/>
                  <a:pt x="1" y="436"/>
                </a:cubicBezTo>
                <a:cubicBezTo>
                  <a:pt x="1" y="476"/>
                  <a:pt x="39" y="491"/>
                  <a:pt x="67" y="491"/>
                </a:cubicBezTo>
                <a:cubicBezTo>
                  <a:pt x="98" y="498"/>
                  <a:pt x="98" y="498"/>
                  <a:pt x="98" y="498"/>
                </a:cubicBezTo>
                <a:cubicBezTo>
                  <a:pt x="105" y="650"/>
                  <a:pt x="105" y="650"/>
                  <a:pt x="105" y="650"/>
                </a:cubicBezTo>
                <a:cubicBezTo>
                  <a:pt x="106" y="681"/>
                  <a:pt x="131" y="705"/>
                  <a:pt x="162" y="705"/>
                </a:cubicBezTo>
                <a:cubicBezTo>
                  <a:pt x="162" y="705"/>
                  <a:pt x="162" y="705"/>
                  <a:pt x="163" y="705"/>
                </a:cubicBezTo>
                <a:cubicBezTo>
                  <a:pt x="279" y="704"/>
                  <a:pt x="279" y="704"/>
                  <a:pt x="279" y="704"/>
                </a:cubicBezTo>
                <a:cubicBezTo>
                  <a:pt x="291" y="704"/>
                  <a:pt x="301" y="693"/>
                  <a:pt x="301" y="681"/>
                </a:cubicBezTo>
                <a:cubicBezTo>
                  <a:pt x="301" y="668"/>
                  <a:pt x="291" y="659"/>
                  <a:pt x="278" y="659"/>
                </a:cubicBezTo>
                <a:cubicBezTo>
                  <a:pt x="278" y="659"/>
                  <a:pt x="278" y="659"/>
                  <a:pt x="278" y="659"/>
                </a:cubicBezTo>
                <a:cubicBezTo>
                  <a:pt x="162" y="660"/>
                  <a:pt x="162" y="660"/>
                  <a:pt x="162" y="660"/>
                </a:cubicBezTo>
                <a:cubicBezTo>
                  <a:pt x="158" y="660"/>
                  <a:pt x="155" y="658"/>
                  <a:pt x="154" y="657"/>
                </a:cubicBezTo>
                <a:cubicBezTo>
                  <a:pt x="153" y="656"/>
                  <a:pt x="151" y="653"/>
                  <a:pt x="151" y="649"/>
                </a:cubicBezTo>
                <a:cubicBezTo>
                  <a:pt x="141" y="461"/>
                  <a:pt x="141" y="461"/>
                  <a:pt x="141" y="461"/>
                </a:cubicBezTo>
                <a:cubicBezTo>
                  <a:pt x="71" y="446"/>
                  <a:pt x="71" y="446"/>
                  <a:pt x="71" y="446"/>
                </a:cubicBezTo>
                <a:cubicBezTo>
                  <a:pt x="69" y="446"/>
                  <a:pt x="69" y="446"/>
                  <a:pt x="69" y="446"/>
                </a:cubicBezTo>
                <a:cubicBezTo>
                  <a:pt x="69" y="446"/>
                  <a:pt x="61" y="446"/>
                  <a:pt x="54" y="443"/>
                </a:cubicBezTo>
                <a:cubicBezTo>
                  <a:pt x="46" y="441"/>
                  <a:pt x="46" y="438"/>
                  <a:pt x="46" y="435"/>
                </a:cubicBezTo>
                <a:cubicBezTo>
                  <a:pt x="46" y="422"/>
                  <a:pt x="74" y="382"/>
                  <a:pt x="106" y="350"/>
                </a:cubicBezTo>
                <a:cubicBezTo>
                  <a:pt x="112" y="343"/>
                  <a:pt x="114" y="334"/>
                  <a:pt x="112" y="327"/>
                </a:cubicBezTo>
                <a:cubicBezTo>
                  <a:pt x="112" y="324"/>
                  <a:pt x="113" y="322"/>
                  <a:pt x="113" y="320"/>
                </a:cubicBezTo>
                <a:cubicBezTo>
                  <a:pt x="111" y="171"/>
                  <a:pt x="230" y="48"/>
                  <a:pt x="380" y="46"/>
                </a:cubicBezTo>
                <a:cubicBezTo>
                  <a:pt x="381" y="46"/>
                  <a:pt x="382" y="46"/>
                  <a:pt x="383" y="46"/>
                </a:cubicBezTo>
                <a:cubicBezTo>
                  <a:pt x="531" y="46"/>
                  <a:pt x="652" y="165"/>
                  <a:pt x="653" y="313"/>
                </a:cubicBezTo>
                <a:cubicBezTo>
                  <a:pt x="654" y="325"/>
                  <a:pt x="664" y="335"/>
                  <a:pt x="676" y="335"/>
                </a:cubicBezTo>
                <a:cubicBezTo>
                  <a:pt x="676" y="335"/>
                  <a:pt x="676" y="335"/>
                  <a:pt x="676" y="335"/>
                </a:cubicBezTo>
                <a:cubicBezTo>
                  <a:pt x="689" y="335"/>
                  <a:pt x="699" y="325"/>
                  <a:pt x="699" y="312"/>
                </a:cubicBezTo>
                <a:cubicBezTo>
                  <a:pt x="696" y="139"/>
                  <a:pt x="555" y="0"/>
                  <a:pt x="383" y="0"/>
                </a:cubicBezTo>
                <a:close/>
                <a:moveTo>
                  <a:pt x="504" y="332"/>
                </a:moveTo>
                <a:cubicBezTo>
                  <a:pt x="479" y="333"/>
                  <a:pt x="479" y="333"/>
                  <a:pt x="479" y="333"/>
                </a:cubicBezTo>
                <a:cubicBezTo>
                  <a:pt x="477" y="339"/>
                  <a:pt x="475" y="345"/>
                  <a:pt x="471" y="351"/>
                </a:cubicBezTo>
                <a:cubicBezTo>
                  <a:pt x="468" y="357"/>
                  <a:pt x="464" y="363"/>
                  <a:pt x="460" y="368"/>
                </a:cubicBezTo>
                <a:cubicBezTo>
                  <a:pt x="472" y="389"/>
                  <a:pt x="472" y="389"/>
                  <a:pt x="472" y="389"/>
                </a:cubicBezTo>
                <a:cubicBezTo>
                  <a:pt x="478" y="398"/>
                  <a:pt x="475" y="409"/>
                  <a:pt x="466" y="415"/>
                </a:cubicBezTo>
                <a:cubicBezTo>
                  <a:pt x="434" y="434"/>
                  <a:pt x="434" y="434"/>
                  <a:pt x="434" y="434"/>
                </a:cubicBezTo>
                <a:cubicBezTo>
                  <a:pt x="425" y="439"/>
                  <a:pt x="414" y="436"/>
                  <a:pt x="409" y="427"/>
                </a:cubicBezTo>
                <a:cubicBezTo>
                  <a:pt x="396" y="406"/>
                  <a:pt x="396" y="406"/>
                  <a:pt x="396" y="406"/>
                </a:cubicBezTo>
                <a:cubicBezTo>
                  <a:pt x="383" y="408"/>
                  <a:pt x="369" y="409"/>
                  <a:pt x="356" y="407"/>
                </a:cubicBezTo>
                <a:cubicBezTo>
                  <a:pt x="348" y="421"/>
                  <a:pt x="348" y="421"/>
                  <a:pt x="348" y="421"/>
                </a:cubicBezTo>
                <a:cubicBezTo>
                  <a:pt x="343" y="429"/>
                  <a:pt x="332" y="433"/>
                  <a:pt x="323" y="428"/>
                </a:cubicBezTo>
                <a:cubicBezTo>
                  <a:pt x="291" y="410"/>
                  <a:pt x="291" y="410"/>
                  <a:pt x="291" y="410"/>
                </a:cubicBezTo>
                <a:cubicBezTo>
                  <a:pt x="282" y="405"/>
                  <a:pt x="279" y="394"/>
                  <a:pt x="284" y="385"/>
                </a:cubicBezTo>
                <a:cubicBezTo>
                  <a:pt x="292" y="371"/>
                  <a:pt x="292" y="371"/>
                  <a:pt x="292" y="371"/>
                </a:cubicBezTo>
                <a:cubicBezTo>
                  <a:pt x="283" y="361"/>
                  <a:pt x="276" y="349"/>
                  <a:pt x="272" y="336"/>
                </a:cubicBezTo>
                <a:cubicBezTo>
                  <a:pt x="246" y="337"/>
                  <a:pt x="246" y="337"/>
                  <a:pt x="246" y="337"/>
                </a:cubicBezTo>
                <a:cubicBezTo>
                  <a:pt x="236" y="337"/>
                  <a:pt x="228" y="329"/>
                  <a:pt x="228" y="318"/>
                </a:cubicBezTo>
                <a:cubicBezTo>
                  <a:pt x="227" y="281"/>
                  <a:pt x="227" y="281"/>
                  <a:pt x="227" y="281"/>
                </a:cubicBezTo>
                <a:cubicBezTo>
                  <a:pt x="227" y="271"/>
                  <a:pt x="236" y="263"/>
                  <a:pt x="246" y="263"/>
                </a:cubicBezTo>
                <a:cubicBezTo>
                  <a:pt x="271" y="262"/>
                  <a:pt x="271" y="262"/>
                  <a:pt x="271" y="262"/>
                </a:cubicBezTo>
                <a:cubicBezTo>
                  <a:pt x="273" y="256"/>
                  <a:pt x="275" y="250"/>
                  <a:pt x="279" y="244"/>
                </a:cubicBezTo>
                <a:cubicBezTo>
                  <a:pt x="282" y="238"/>
                  <a:pt x="286" y="232"/>
                  <a:pt x="290" y="227"/>
                </a:cubicBezTo>
                <a:cubicBezTo>
                  <a:pt x="278" y="205"/>
                  <a:pt x="278" y="205"/>
                  <a:pt x="278" y="205"/>
                </a:cubicBezTo>
                <a:cubicBezTo>
                  <a:pt x="272" y="197"/>
                  <a:pt x="275" y="185"/>
                  <a:pt x="284" y="180"/>
                </a:cubicBezTo>
                <a:cubicBezTo>
                  <a:pt x="316" y="161"/>
                  <a:pt x="316" y="161"/>
                  <a:pt x="316" y="161"/>
                </a:cubicBezTo>
                <a:cubicBezTo>
                  <a:pt x="325" y="156"/>
                  <a:pt x="336" y="159"/>
                  <a:pt x="341" y="167"/>
                </a:cubicBezTo>
                <a:cubicBezTo>
                  <a:pt x="354" y="189"/>
                  <a:pt x="354" y="189"/>
                  <a:pt x="354" y="189"/>
                </a:cubicBezTo>
                <a:cubicBezTo>
                  <a:pt x="367" y="186"/>
                  <a:pt x="381" y="186"/>
                  <a:pt x="394" y="188"/>
                </a:cubicBezTo>
                <a:cubicBezTo>
                  <a:pt x="402" y="174"/>
                  <a:pt x="402" y="174"/>
                  <a:pt x="402" y="174"/>
                </a:cubicBezTo>
                <a:cubicBezTo>
                  <a:pt x="407" y="165"/>
                  <a:pt x="418" y="162"/>
                  <a:pt x="427" y="167"/>
                </a:cubicBezTo>
                <a:cubicBezTo>
                  <a:pt x="459" y="185"/>
                  <a:pt x="459" y="185"/>
                  <a:pt x="459" y="185"/>
                </a:cubicBezTo>
                <a:cubicBezTo>
                  <a:pt x="468" y="190"/>
                  <a:pt x="471" y="201"/>
                  <a:pt x="466" y="210"/>
                </a:cubicBezTo>
                <a:cubicBezTo>
                  <a:pt x="458" y="224"/>
                  <a:pt x="458" y="224"/>
                  <a:pt x="458" y="224"/>
                </a:cubicBezTo>
                <a:cubicBezTo>
                  <a:pt x="467" y="234"/>
                  <a:pt x="474" y="246"/>
                  <a:pt x="478" y="259"/>
                </a:cubicBezTo>
                <a:cubicBezTo>
                  <a:pt x="504" y="258"/>
                  <a:pt x="504" y="258"/>
                  <a:pt x="504" y="258"/>
                </a:cubicBezTo>
                <a:cubicBezTo>
                  <a:pt x="514" y="258"/>
                  <a:pt x="522" y="266"/>
                  <a:pt x="522" y="276"/>
                </a:cubicBezTo>
                <a:cubicBezTo>
                  <a:pt x="523" y="313"/>
                  <a:pt x="523" y="313"/>
                  <a:pt x="523" y="313"/>
                </a:cubicBezTo>
                <a:cubicBezTo>
                  <a:pt x="523" y="323"/>
                  <a:pt x="515" y="332"/>
                  <a:pt x="504" y="332"/>
                </a:cubicBezTo>
                <a:close/>
                <a:moveTo>
                  <a:pt x="504" y="304"/>
                </a:moveTo>
                <a:cubicBezTo>
                  <a:pt x="504" y="286"/>
                  <a:pt x="504" y="286"/>
                  <a:pt x="504" y="286"/>
                </a:cubicBezTo>
                <a:cubicBezTo>
                  <a:pt x="504" y="281"/>
                  <a:pt x="500" y="277"/>
                  <a:pt x="495" y="277"/>
                </a:cubicBezTo>
                <a:cubicBezTo>
                  <a:pt x="465" y="277"/>
                  <a:pt x="465" y="277"/>
                  <a:pt x="465" y="277"/>
                </a:cubicBezTo>
                <a:cubicBezTo>
                  <a:pt x="461" y="258"/>
                  <a:pt x="451" y="240"/>
                  <a:pt x="435" y="227"/>
                </a:cubicBezTo>
                <a:cubicBezTo>
                  <a:pt x="445" y="209"/>
                  <a:pt x="445" y="209"/>
                  <a:pt x="445" y="209"/>
                </a:cubicBezTo>
                <a:cubicBezTo>
                  <a:pt x="448" y="205"/>
                  <a:pt x="446" y="199"/>
                  <a:pt x="442" y="197"/>
                </a:cubicBezTo>
                <a:cubicBezTo>
                  <a:pt x="426" y="188"/>
                  <a:pt x="426" y="188"/>
                  <a:pt x="426" y="188"/>
                </a:cubicBezTo>
                <a:cubicBezTo>
                  <a:pt x="421" y="185"/>
                  <a:pt x="416" y="187"/>
                  <a:pt x="413" y="191"/>
                </a:cubicBezTo>
                <a:cubicBezTo>
                  <a:pt x="403" y="209"/>
                  <a:pt x="403" y="209"/>
                  <a:pt x="403" y="209"/>
                </a:cubicBezTo>
                <a:cubicBezTo>
                  <a:pt x="384" y="203"/>
                  <a:pt x="363" y="204"/>
                  <a:pt x="345" y="210"/>
                </a:cubicBezTo>
                <a:cubicBezTo>
                  <a:pt x="330" y="185"/>
                  <a:pt x="330" y="185"/>
                  <a:pt x="330" y="185"/>
                </a:cubicBezTo>
                <a:cubicBezTo>
                  <a:pt x="327" y="180"/>
                  <a:pt x="322" y="179"/>
                  <a:pt x="317" y="182"/>
                </a:cubicBezTo>
                <a:cubicBezTo>
                  <a:pt x="301" y="191"/>
                  <a:pt x="301" y="191"/>
                  <a:pt x="301" y="191"/>
                </a:cubicBezTo>
                <a:cubicBezTo>
                  <a:pt x="297" y="194"/>
                  <a:pt x="296" y="199"/>
                  <a:pt x="298" y="204"/>
                </a:cubicBezTo>
                <a:cubicBezTo>
                  <a:pt x="313" y="229"/>
                  <a:pt x="313" y="229"/>
                  <a:pt x="313" y="229"/>
                </a:cubicBezTo>
                <a:cubicBezTo>
                  <a:pt x="306" y="236"/>
                  <a:pt x="300" y="244"/>
                  <a:pt x="295" y="253"/>
                </a:cubicBezTo>
                <a:cubicBezTo>
                  <a:pt x="290" y="262"/>
                  <a:pt x="287" y="271"/>
                  <a:pt x="285" y="280"/>
                </a:cubicBezTo>
                <a:cubicBezTo>
                  <a:pt x="255" y="281"/>
                  <a:pt x="255" y="281"/>
                  <a:pt x="255" y="281"/>
                </a:cubicBezTo>
                <a:cubicBezTo>
                  <a:pt x="250" y="281"/>
                  <a:pt x="246" y="285"/>
                  <a:pt x="246" y="290"/>
                </a:cubicBezTo>
                <a:cubicBezTo>
                  <a:pt x="246" y="309"/>
                  <a:pt x="246" y="309"/>
                  <a:pt x="246" y="309"/>
                </a:cubicBezTo>
                <a:cubicBezTo>
                  <a:pt x="246" y="314"/>
                  <a:pt x="250" y="318"/>
                  <a:pt x="255" y="318"/>
                </a:cubicBezTo>
                <a:cubicBezTo>
                  <a:pt x="285" y="317"/>
                  <a:pt x="285" y="317"/>
                  <a:pt x="285" y="317"/>
                </a:cubicBezTo>
                <a:cubicBezTo>
                  <a:pt x="289" y="337"/>
                  <a:pt x="299" y="354"/>
                  <a:pt x="315" y="368"/>
                </a:cubicBezTo>
                <a:cubicBezTo>
                  <a:pt x="305" y="386"/>
                  <a:pt x="305" y="386"/>
                  <a:pt x="305" y="386"/>
                </a:cubicBezTo>
                <a:cubicBezTo>
                  <a:pt x="302" y="390"/>
                  <a:pt x="304" y="396"/>
                  <a:pt x="308" y="398"/>
                </a:cubicBezTo>
                <a:cubicBezTo>
                  <a:pt x="324" y="407"/>
                  <a:pt x="324" y="407"/>
                  <a:pt x="324" y="407"/>
                </a:cubicBezTo>
                <a:cubicBezTo>
                  <a:pt x="329" y="410"/>
                  <a:pt x="334" y="408"/>
                  <a:pt x="337" y="403"/>
                </a:cubicBezTo>
                <a:cubicBezTo>
                  <a:pt x="347" y="386"/>
                  <a:pt x="347" y="386"/>
                  <a:pt x="347" y="386"/>
                </a:cubicBezTo>
                <a:cubicBezTo>
                  <a:pt x="366" y="392"/>
                  <a:pt x="387" y="391"/>
                  <a:pt x="405" y="385"/>
                </a:cubicBezTo>
                <a:cubicBezTo>
                  <a:pt x="420" y="410"/>
                  <a:pt x="420" y="410"/>
                  <a:pt x="420" y="410"/>
                </a:cubicBezTo>
                <a:cubicBezTo>
                  <a:pt x="423" y="414"/>
                  <a:pt x="428" y="416"/>
                  <a:pt x="433" y="413"/>
                </a:cubicBezTo>
                <a:cubicBezTo>
                  <a:pt x="449" y="404"/>
                  <a:pt x="449" y="404"/>
                  <a:pt x="449" y="404"/>
                </a:cubicBezTo>
                <a:cubicBezTo>
                  <a:pt x="453" y="401"/>
                  <a:pt x="454" y="395"/>
                  <a:pt x="452" y="391"/>
                </a:cubicBezTo>
                <a:cubicBezTo>
                  <a:pt x="437" y="365"/>
                  <a:pt x="437" y="365"/>
                  <a:pt x="437" y="365"/>
                </a:cubicBezTo>
                <a:cubicBezTo>
                  <a:pt x="444" y="359"/>
                  <a:pt x="450" y="351"/>
                  <a:pt x="455" y="342"/>
                </a:cubicBezTo>
                <a:cubicBezTo>
                  <a:pt x="460" y="333"/>
                  <a:pt x="463" y="324"/>
                  <a:pt x="465" y="314"/>
                </a:cubicBezTo>
                <a:cubicBezTo>
                  <a:pt x="495" y="314"/>
                  <a:pt x="495" y="314"/>
                  <a:pt x="495" y="314"/>
                </a:cubicBezTo>
                <a:cubicBezTo>
                  <a:pt x="500" y="314"/>
                  <a:pt x="504" y="309"/>
                  <a:pt x="504" y="304"/>
                </a:cubicBezTo>
                <a:close/>
                <a:moveTo>
                  <a:pt x="352" y="338"/>
                </a:moveTo>
                <a:cubicBezTo>
                  <a:pt x="330" y="325"/>
                  <a:pt x="322" y="297"/>
                  <a:pt x="335" y="275"/>
                </a:cubicBezTo>
                <a:cubicBezTo>
                  <a:pt x="347" y="253"/>
                  <a:pt x="375" y="245"/>
                  <a:pt x="398" y="257"/>
                </a:cubicBezTo>
                <a:cubicBezTo>
                  <a:pt x="420" y="269"/>
                  <a:pt x="428" y="297"/>
                  <a:pt x="415" y="320"/>
                </a:cubicBezTo>
                <a:cubicBezTo>
                  <a:pt x="403" y="342"/>
                  <a:pt x="375" y="350"/>
                  <a:pt x="352" y="338"/>
                </a:cubicBezTo>
                <a:close/>
                <a:moveTo>
                  <a:pt x="389" y="273"/>
                </a:moveTo>
                <a:cubicBezTo>
                  <a:pt x="375" y="266"/>
                  <a:pt x="358" y="271"/>
                  <a:pt x="351" y="284"/>
                </a:cubicBezTo>
                <a:cubicBezTo>
                  <a:pt x="343" y="297"/>
                  <a:pt x="348" y="314"/>
                  <a:pt x="361" y="322"/>
                </a:cubicBezTo>
                <a:cubicBezTo>
                  <a:pt x="375" y="329"/>
                  <a:pt x="392" y="324"/>
                  <a:pt x="399" y="311"/>
                </a:cubicBezTo>
                <a:cubicBezTo>
                  <a:pt x="407" y="297"/>
                  <a:pt x="402" y="281"/>
                  <a:pt x="389" y="273"/>
                </a:cubicBezTo>
                <a:close/>
                <a:moveTo>
                  <a:pt x="614" y="454"/>
                </a:moveTo>
                <a:cubicBezTo>
                  <a:pt x="600" y="454"/>
                  <a:pt x="600" y="454"/>
                  <a:pt x="600" y="454"/>
                </a:cubicBezTo>
                <a:cubicBezTo>
                  <a:pt x="599" y="458"/>
                  <a:pt x="598" y="461"/>
                  <a:pt x="596" y="464"/>
                </a:cubicBezTo>
                <a:cubicBezTo>
                  <a:pt x="594" y="468"/>
                  <a:pt x="592" y="471"/>
                  <a:pt x="590" y="473"/>
                </a:cubicBezTo>
                <a:cubicBezTo>
                  <a:pt x="597" y="485"/>
                  <a:pt x="597" y="485"/>
                  <a:pt x="597" y="485"/>
                </a:cubicBezTo>
                <a:cubicBezTo>
                  <a:pt x="600" y="489"/>
                  <a:pt x="599" y="496"/>
                  <a:pt x="594" y="498"/>
                </a:cubicBezTo>
                <a:cubicBezTo>
                  <a:pt x="577" y="509"/>
                  <a:pt x="577" y="509"/>
                  <a:pt x="577" y="509"/>
                </a:cubicBezTo>
                <a:cubicBezTo>
                  <a:pt x="572" y="512"/>
                  <a:pt x="566" y="511"/>
                  <a:pt x="563" y="506"/>
                </a:cubicBezTo>
                <a:cubicBezTo>
                  <a:pt x="556" y="494"/>
                  <a:pt x="556" y="494"/>
                  <a:pt x="556" y="494"/>
                </a:cubicBezTo>
                <a:cubicBezTo>
                  <a:pt x="549" y="496"/>
                  <a:pt x="542" y="496"/>
                  <a:pt x="535" y="495"/>
                </a:cubicBezTo>
                <a:cubicBezTo>
                  <a:pt x="531" y="503"/>
                  <a:pt x="531" y="503"/>
                  <a:pt x="531" y="503"/>
                </a:cubicBezTo>
                <a:cubicBezTo>
                  <a:pt x="528" y="508"/>
                  <a:pt x="522" y="510"/>
                  <a:pt x="517" y="507"/>
                </a:cubicBezTo>
                <a:cubicBezTo>
                  <a:pt x="500" y="498"/>
                  <a:pt x="500" y="498"/>
                  <a:pt x="500" y="498"/>
                </a:cubicBezTo>
                <a:cubicBezTo>
                  <a:pt x="495" y="495"/>
                  <a:pt x="493" y="489"/>
                  <a:pt x="496" y="484"/>
                </a:cubicBezTo>
                <a:cubicBezTo>
                  <a:pt x="500" y="477"/>
                  <a:pt x="500" y="477"/>
                  <a:pt x="500" y="477"/>
                </a:cubicBezTo>
                <a:cubicBezTo>
                  <a:pt x="495" y="471"/>
                  <a:pt x="491" y="465"/>
                  <a:pt x="489" y="458"/>
                </a:cubicBezTo>
                <a:cubicBezTo>
                  <a:pt x="475" y="459"/>
                  <a:pt x="475" y="459"/>
                  <a:pt x="475" y="459"/>
                </a:cubicBezTo>
                <a:cubicBezTo>
                  <a:pt x="470" y="459"/>
                  <a:pt x="465" y="455"/>
                  <a:pt x="465" y="449"/>
                </a:cubicBezTo>
                <a:cubicBezTo>
                  <a:pt x="464" y="429"/>
                  <a:pt x="464" y="429"/>
                  <a:pt x="464" y="429"/>
                </a:cubicBezTo>
                <a:cubicBezTo>
                  <a:pt x="464" y="424"/>
                  <a:pt x="468" y="419"/>
                  <a:pt x="474" y="419"/>
                </a:cubicBezTo>
                <a:cubicBezTo>
                  <a:pt x="487" y="419"/>
                  <a:pt x="487" y="419"/>
                  <a:pt x="487" y="419"/>
                </a:cubicBezTo>
                <a:cubicBezTo>
                  <a:pt x="488" y="415"/>
                  <a:pt x="490" y="412"/>
                  <a:pt x="492" y="409"/>
                </a:cubicBezTo>
                <a:cubicBezTo>
                  <a:pt x="493" y="405"/>
                  <a:pt x="495" y="402"/>
                  <a:pt x="498" y="399"/>
                </a:cubicBezTo>
                <a:cubicBezTo>
                  <a:pt x="491" y="388"/>
                  <a:pt x="491" y="388"/>
                  <a:pt x="491" y="388"/>
                </a:cubicBezTo>
                <a:cubicBezTo>
                  <a:pt x="488" y="383"/>
                  <a:pt x="489" y="377"/>
                  <a:pt x="494" y="374"/>
                </a:cubicBezTo>
                <a:cubicBezTo>
                  <a:pt x="511" y="364"/>
                  <a:pt x="511" y="364"/>
                  <a:pt x="511" y="364"/>
                </a:cubicBezTo>
                <a:cubicBezTo>
                  <a:pt x="515" y="361"/>
                  <a:pt x="521" y="362"/>
                  <a:pt x="524" y="367"/>
                </a:cubicBezTo>
                <a:cubicBezTo>
                  <a:pt x="531" y="378"/>
                  <a:pt x="531" y="378"/>
                  <a:pt x="531" y="378"/>
                </a:cubicBezTo>
                <a:cubicBezTo>
                  <a:pt x="538" y="377"/>
                  <a:pt x="546" y="376"/>
                  <a:pt x="553" y="377"/>
                </a:cubicBezTo>
                <a:cubicBezTo>
                  <a:pt x="557" y="370"/>
                  <a:pt x="557" y="370"/>
                  <a:pt x="557" y="370"/>
                </a:cubicBezTo>
                <a:cubicBezTo>
                  <a:pt x="559" y="365"/>
                  <a:pt x="565" y="363"/>
                  <a:pt x="570" y="366"/>
                </a:cubicBezTo>
                <a:cubicBezTo>
                  <a:pt x="588" y="375"/>
                  <a:pt x="588" y="375"/>
                  <a:pt x="588" y="375"/>
                </a:cubicBezTo>
                <a:cubicBezTo>
                  <a:pt x="593" y="378"/>
                  <a:pt x="594" y="384"/>
                  <a:pt x="592" y="389"/>
                </a:cubicBezTo>
                <a:cubicBezTo>
                  <a:pt x="588" y="396"/>
                  <a:pt x="588" y="396"/>
                  <a:pt x="588" y="396"/>
                </a:cubicBezTo>
                <a:cubicBezTo>
                  <a:pt x="593" y="401"/>
                  <a:pt x="596" y="408"/>
                  <a:pt x="599" y="414"/>
                </a:cubicBezTo>
                <a:cubicBezTo>
                  <a:pt x="612" y="414"/>
                  <a:pt x="612" y="414"/>
                  <a:pt x="612" y="414"/>
                </a:cubicBezTo>
                <a:cubicBezTo>
                  <a:pt x="618" y="414"/>
                  <a:pt x="623" y="418"/>
                  <a:pt x="623" y="423"/>
                </a:cubicBezTo>
                <a:cubicBezTo>
                  <a:pt x="623" y="443"/>
                  <a:pt x="623" y="443"/>
                  <a:pt x="623" y="443"/>
                </a:cubicBezTo>
                <a:cubicBezTo>
                  <a:pt x="623" y="449"/>
                  <a:pt x="619" y="453"/>
                  <a:pt x="614" y="454"/>
                </a:cubicBezTo>
                <a:close/>
                <a:moveTo>
                  <a:pt x="613" y="439"/>
                </a:moveTo>
                <a:cubicBezTo>
                  <a:pt x="613" y="429"/>
                  <a:pt x="613" y="429"/>
                  <a:pt x="613" y="429"/>
                </a:cubicBezTo>
                <a:cubicBezTo>
                  <a:pt x="613" y="426"/>
                  <a:pt x="611" y="424"/>
                  <a:pt x="608" y="424"/>
                </a:cubicBezTo>
                <a:cubicBezTo>
                  <a:pt x="592" y="425"/>
                  <a:pt x="592" y="425"/>
                  <a:pt x="592" y="425"/>
                </a:cubicBezTo>
                <a:cubicBezTo>
                  <a:pt x="590" y="414"/>
                  <a:pt x="584" y="405"/>
                  <a:pt x="576" y="398"/>
                </a:cubicBezTo>
                <a:cubicBezTo>
                  <a:pt x="581" y="388"/>
                  <a:pt x="581" y="388"/>
                  <a:pt x="581" y="388"/>
                </a:cubicBezTo>
                <a:cubicBezTo>
                  <a:pt x="582" y="386"/>
                  <a:pt x="581" y="383"/>
                  <a:pt x="579" y="382"/>
                </a:cubicBezTo>
                <a:cubicBezTo>
                  <a:pt x="570" y="377"/>
                  <a:pt x="570" y="377"/>
                  <a:pt x="570" y="377"/>
                </a:cubicBezTo>
                <a:cubicBezTo>
                  <a:pt x="568" y="376"/>
                  <a:pt x="565" y="377"/>
                  <a:pt x="563" y="379"/>
                </a:cubicBezTo>
                <a:cubicBezTo>
                  <a:pt x="558" y="389"/>
                  <a:pt x="558" y="389"/>
                  <a:pt x="558" y="389"/>
                </a:cubicBezTo>
                <a:cubicBezTo>
                  <a:pt x="548" y="386"/>
                  <a:pt x="537" y="386"/>
                  <a:pt x="527" y="390"/>
                </a:cubicBezTo>
                <a:cubicBezTo>
                  <a:pt x="518" y="376"/>
                  <a:pt x="518" y="376"/>
                  <a:pt x="518" y="376"/>
                </a:cubicBezTo>
                <a:cubicBezTo>
                  <a:pt x="517" y="374"/>
                  <a:pt x="514" y="373"/>
                  <a:pt x="512" y="375"/>
                </a:cubicBezTo>
                <a:cubicBezTo>
                  <a:pt x="503" y="380"/>
                  <a:pt x="503" y="380"/>
                  <a:pt x="503" y="380"/>
                </a:cubicBezTo>
                <a:cubicBezTo>
                  <a:pt x="501" y="382"/>
                  <a:pt x="500" y="385"/>
                  <a:pt x="502" y="387"/>
                </a:cubicBezTo>
                <a:cubicBezTo>
                  <a:pt x="510" y="401"/>
                  <a:pt x="510" y="401"/>
                  <a:pt x="510" y="401"/>
                </a:cubicBezTo>
                <a:cubicBezTo>
                  <a:pt x="506" y="404"/>
                  <a:pt x="503" y="408"/>
                  <a:pt x="500" y="413"/>
                </a:cubicBezTo>
                <a:cubicBezTo>
                  <a:pt x="498" y="418"/>
                  <a:pt x="496" y="423"/>
                  <a:pt x="495" y="428"/>
                </a:cubicBezTo>
                <a:cubicBezTo>
                  <a:pt x="479" y="429"/>
                  <a:pt x="479" y="429"/>
                  <a:pt x="479" y="429"/>
                </a:cubicBezTo>
                <a:cubicBezTo>
                  <a:pt x="476" y="429"/>
                  <a:pt x="474" y="431"/>
                  <a:pt x="474" y="434"/>
                </a:cubicBezTo>
                <a:cubicBezTo>
                  <a:pt x="475" y="444"/>
                  <a:pt x="475" y="444"/>
                  <a:pt x="475" y="444"/>
                </a:cubicBezTo>
                <a:cubicBezTo>
                  <a:pt x="475" y="447"/>
                  <a:pt x="477" y="449"/>
                  <a:pt x="480" y="449"/>
                </a:cubicBezTo>
                <a:cubicBezTo>
                  <a:pt x="496" y="448"/>
                  <a:pt x="496" y="448"/>
                  <a:pt x="496" y="448"/>
                </a:cubicBezTo>
                <a:cubicBezTo>
                  <a:pt x="498" y="458"/>
                  <a:pt x="504" y="468"/>
                  <a:pt x="512" y="475"/>
                </a:cubicBezTo>
                <a:cubicBezTo>
                  <a:pt x="507" y="485"/>
                  <a:pt x="507" y="485"/>
                  <a:pt x="507" y="485"/>
                </a:cubicBezTo>
                <a:cubicBezTo>
                  <a:pt x="506" y="487"/>
                  <a:pt x="507" y="490"/>
                  <a:pt x="509" y="491"/>
                </a:cubicBezTo>
                <a:cubicBezTo>
                  <a:pt x="518" y="496"/>
                  <a:pt x="518" y="496"/>
                  <a:pt x="518" y="496"/>
                </a:cubicBezTo>
                <a:cubicBezTo>
                  <a:pt x="520" y="497"/>
                  <a:pt x="523" y="496"/>
                  <a:pt x="524" y="494"/>
                </a:cubicBezTo>
                <a:cubicBezTo>
                  <a:pt x="530" y="484"/>
                  <a:pt x="530" y="484"/>
                  <a:pt x="530" y="484"/>
                </a:cubicBezTo>
                <a:cubicBezTo>
                  <a:pt x="540" y="487"/>
                  <a:pt x="551" y="487"/>
                  <a:pt x="561" y="483"/>
                </a:cubicBezTo>
                <a:cubicBezTo>
                  <a:pt x="569" y="496"/>
                  <a:pt x="569" y="496"/>
                  <a:pt x="569" y="496"/>
                </a:cubicBezTo>
                <a:cubicBezTo>
                  <a:pt x="571" y="499"/>
                  <a:pt x="574" y="499"/>
                  <a:pt x="576" y="498"/>
                </a:cubicBezTo>
                <a:cubicBezTo>
                  <a:pt x="585" y="493"/>
                  <a:pt x="585" y="493"/>
                  <a:pt x="585" y="493"/>
                </a:cubicBezTo>
                <a:cubicBezTo>
                  <a:pt x="587" y="491"/>
                  <a:pt x="588" y="488"/>
                  <a:pt x="586" y="486"/>
                </a:cubicBezTo>
                <a:cubicBezTo>
                  <a:pt x="578" y="472"/>
                  <a:pt x="578" y="472"/>
                  <a:pt x="578" y="472"/>
                </a:cubicBezTo>
                <a:cubicBezTo>
                  <a:pt x="582" y="469"/>
                  <a:pt x="585" y="465"/>
                  <a:pt x="587" y="460"/>
                </a:cubicBezTo>
                <a:cubicBezTo>
                  <a:pt x="590" y="455"/>
                  <a:pt x="592" y="450"/>
                  <a:pt x="593" y="445"/>
                </a:cubicBezTo>
                <a:cubicBezTo>
                  <a:pt x="608" y="444"/>
                  <a:pt x="608" y="444"/>
                  <a:pt x="608" y="444"/>
                </a:cubicBezTo>
                <a:cubicBezTo>
                  <a:pt x="611" y="444"/>
                  <a:pt x="613" y="442"/>
                  <a:pt x="613" y="439"/>
                </a:cubicBezTo>
                <a:close/>
                <a:moveTo>
                  <a:pt x="532" y="458"/>
                </a:moveTo>
                <a:cubicBezTo>
                  <a:pt x="520" y="452"/>
                  <a:pt x="516" y="437"/>
                  <a:pt x="522" y="425"/>
                </a:cubicBezTo>
                <a:cubicBezTo>
                  <a:pt x="528" y="413"/>
                  <a:pt x="544" y="408"/>
                  <a:pt x="556" y="414"/>
                </a:cubicBezTo>
                <a:cubicBezTo>
                  <a:pt x="568" y="421"/>
                  <a:pt x="572" y="436"/>
                  <a:pt x="566" y="448"/>
                </a:cubicBezTo>
                <a:cubicBezTo>
                  <a:pt x="559" y="460"/>
                  <a:pt x="544" y="465"/>
                  <a:pt x="532" y="458"/>
                </a:cubicBezTo>
                <a:close/>
                <a:moveTo>
                  <a:pt x="551" y="423"/>
                </a:moveTo>
                <a:cubicBezTo>
                  <a:pt x="544" y="419"/>
                  <a:pt x="535" y="422"/>
                  <a:pt x="531" y="429"/>
                </a:cubicBezTo>
                <a:cubicBezTo>
                  <a:pt x="527" y="437"/>
                  <a:pt x="530" y="446"/>
                  <a:pt x="537" y="450"/>
                </a:cubicBezTo>
                <a:cubicBezTo>
                  <a:pt x="544" y="453"/>
                  <a:pt x="553" y="451"/>
                  <a:pt x="557" y="443"/>
                </a:cubicBezTo>
                <a:cubicBezTo>
                  <a:pt x="561" y="436"/>
                  <a:pt x="558" y="427"/>
                  <a:pt x="551" y="4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2329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874518" y="2947982"/>
            <a:ext cx="8442972" cy="962038"/>
            <a:chOff x="1166094" y="3047546"/>
            <a:chExt cx="7099732" cy="808982"/>
          </a:xfrm>
        </p:grpSpPr>
        <p:sp>
          <p:nvSpPr>
            <p:cNvPr id="7" name="矩形: 圆角 6"/>
            <p:cNvSpPr/>
            <p:nvPr/>
          </p:nvSpPr>
          <p:spPr>
            <a:xfrm>
              <a:off x="2231151" y="3047546"/>
              <a:ext cx="6034675" cy="808982"/>
            </a:xfrm>
            <a:prstGeom prst="roundRect">
              <a:avLst>
                <a:gd name="adj" fmla="val 13060"/>
              </a:avLst>
            </a:prstGeom>
            <a:solidFill>
              <a:schemeClr val="bg1">
                <a:alpha val="85000"/>
              </a:schemeClr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166094" y="3047546"/>
              <a:ext cx="1459364" cy="808982"/>
              <a:chOff x="803329" y="3212977"/>
              <a:chExt cx="1459364" cy="808982"/>
            </a:xfrm>
          </p:grpSpPr>
          <p:sp>
            <p:nvSpPr>
              <p:cNvPr id="9" name="任意多边形: 形状 8"/>
              <p:cNvSpPr/>
              <p:nvPr/>
            </p:nvSpPr>
            <p:spPr>
              <a:xfrm>
                <a:off x="803329" y="3212977"/>
                <a:ext cx="1459364" cy="808982"/>
              </a:xfrm>
              <a:custGeom>
                <a:avLst/>
                <a:gdLst>
                  <a:gd name="connsiteX0" fmla="*/ 86197 w 1459364"/>
                  <a:gd name="connsiteY0" fmla="*/ 0 h 808982"/>
                  <a:gd name="connsiteX1" fmla="*/ 1246032 w 1459364"/>
                  <a:gd name="connsiteY1" fmla="*/ 0 h 808982"/>
                  <a:gd name="connsiteX2" fmla="*/ 1332229 w 1459364"/>
                  <a:gd name="connsiteY2" fmla="*/ 86197 h 808982"/>
                  <a:gd name="connsiteX3" fmla="*/ 1332229 w 1459364"/>
                  <a:gd name="connsiteY3" fmla="*/ 254985 h 808982"/>
                  <a:gd name="connsiteX4" fmla="*/ 1444169 w 1459364"/>
                  <a:gd name="connsiteY4" fmla="*/ 370406 h 808982"/>
                  <a:gd name="connsiteX5" fmla="*/ 1443004 w 1459364"/>
                  <a:gd name="connsiteY5" fmla="*/ 446555 h 808982"/>
                  <a:gd name="connsiteX6" fmla="*/ 1332229 w 1459364"/>
                  <a:gd name="connsiteY6" fmla="*/ 553989 h 808982"/>
                  <a:gd name="connsiteX7" fmla="*/ 1332229 w 1459364"/>
                  <a:gd name="connsiteY7" fmla="*/ 722785 h 808982"/>
                  <a:gd name="connsiteX8" fmla="*/ 1246032 w 1459364"/>
                  <a:gd name="connsiteY8" fmla="*/ 808982 h 808982"/>
                  <a:gd name="connsiteX9" fmla="*/ 86197 w 1459364"/>
                  <a:gd name="connsiteY9" fmla="*/ 808982 h 808982"/>
                  <a:gd name="connsiteX10" fmla="*/ 0 w 1459364"/>
                  <a:gd name="connsiteY10" fmla="*/ 722785 h 808982"/>
                  <a:gd name="connsiteX11" fmla="*/ 0 w 1459364"/>
                  <a:gd name="connsiteY11" fmla="*/ 86197 h 808982"/>
                  <a:gd name="connsiteX12" fmla="*/ 86197 w 1459364"/>
                  <a:gd name="connsiteY12" fmla="*/ 0 h 808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59364" h="808982">
                    <a:moveTo>
                      <a:pt x="86197" y="0"/>
                    </a:moveTo>
                    <a:lnTo>
                      <a:pt x="1246032" y="0"/>
                    </a:lnTo>
                    <a:cubicBezTo>
                      <a:pt x="1293637" y="0"/>
                      <a:pt x="1332229" y="38592"/>
                      <a:pt x="1332229" y="86197"/>
                    </a:cubicBezTo>
                    <a:lnTo>
                      <a:pt x="1332229" y="254985"/>
                    </a:lnTo>
                    <a:lnTo>
                      <a:pt x="1444169" y="370406"/>
                    </a:lnTo>
                    <a:cubicBezTo>
                      <a:pt x="1464876" y="391756"/>
                      <a:pt x="1464354" y="425848"/>
                      <a:pt x="1443004" y="446555"/>
                    </a:cubicBezTo>
                    <a:lnTo>
                      <a:pt x="1332229" y="553989"/>
                    </a:lnTo>
                    <a:lnTo>
                      <a:pt x="1332229" y="722785"/>
                    </a:lnTo>
                    <a:cubicBezTo>
                      <a:pt x="1332229" y="770390"/>
                      <a:pt x="1293637" y="808982"/>
                      <a:pt x="1246032" y="808982"/>
                    </a:cubicBezTo>
                    <a:lnTo>
                      <a:pt x="86197" y="808982"/>
                    </a:lnTo>
                    <a:cubicBezTo>
                      <a:pt x="38592" y="808982"/>
                      <a:pt x="0" y="770390"/>
                      <a:pt x="0" y="722785"/>
                    </a:cubicBezTo>
                    <a:lnTo>
                      <a:pt x="0" y="86197"/>
                    </a:lnTo>
                    <a:cubicBezTo>
                      <a:pt x="0" y="38592"/>
                      <a:pt x="38592" y="0"/>
                      <a:pt x="8619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961579" y="3474316"/>
                <a:ext cx="1029054" cy="300456"/>
              </a:xfrm>
              <a:custGeom>
                <a:avLst/>
                <a:gdLst/>
                <a:ahLst/>
                <a:cxnLst/>
                <a:rect l="l" t="t" r="r" b="b"/>
                <a:pathLst>
                  <a:path w="1029054" h="300456">
                    <a:moveTo>
                      <a:pt x="603666" y="236097"/>
                    </a:moveTo>
                    <a:lnTo>
                      <a:pt x="658044" y="236097"/>
                    </a:lnTo>
                    <a:lnTo>
                      <a:pt x="684200" y="300456"/>
                    </a:lnTo>
                    <a:lnTo>
                      <a:pt x="631887" y="300456"/>
                    </a:lnTo>
                    <a:close/>
                    <a:moveTo>
                      <a:pt x="525196" y="236097"/>
                    </a:moveTo>
                    <a:lnTo>
                      <a:pt x="578886" y="236097"/>
                    </a:lnTo>
                    <a:lnTo>
                      <a:pt x="606419" y="300456"/>
                    </a:lnTo>
                    <a:lnTo>
                      <a:pt x="552729" y="300456"/>
                    </a:lnTo>
                    <a:close/>
                    <a:moveTo>
                      <a:pt x="446038" y="236097"/>
                    </a:moveTo>
                    <a:lnTo>
                      <a:pt x="501105" y="236097"/>
                    </a:lnTo>
                    <a:lnTo>
                      <a:pt x="524508" y="300456"/>
                    </a:lnTo>
                    <a:lnTo>
                      <a:pt x="470818" y="300456"/>
                    </a:lnTo>
                    <a:close/>
                    <a:moveTo>
                      <a:pt x="384777" y="236097"/>
                    </a:moveTo>
                    <a:lnTo>
                      <a:pt x="437778" y="236097"/>
                    </a:lnTo>
                    <a:lnTo>
                      <a:pt x="407492" y="300456"/>
                    </a:lnTo>
                    <a:lnTo>
                      <a:pt x="354490" y="300456"/>
                    </a:lnTo>
                    <a:close/>
                    <a:moveTo>
                      <a:pt x="425388" y="136289"/>
                    </a:moveTo>
                    <a:lnTo>
                      <a:pt x="425388" y="178966"/>
                    </a:lnTo>
                    <a:lnTo>
                      <a:pt x="611237" y="178966"/>
                    </a:lnTo>
                    <a:lnTo>
                      <a:pt x="611237" y="136289"/>
                    </a:lnTo>
                    <a:close/>
                    <a:moveTo>
                      <a:pt x="713799" y="103250"/>
                    </a:moveTo>
                    <a:lnTo>
                      <a:pt x="1029054" y="103250"/>
                    </a:lnTo>
                    <a:lnTo>
                      <a:pt x="1029054" y="150056"/>
                    </a:lnTo>
                    <a:lnTo>
                      <a:pt x="713799" y="150056"/>
                    </a:lnTo>
                    <a:close/>
                    <a:moveTo>
                      <a:pt x="483208" y="0"/>
                    </a:moveTo>
                    <a:lnTo>
                      <a:pt x="534145" y="0"/>
                    </a:lnTo>
                    <a:lnTo>
                      <a:pt x="534145" y="19273"/>
                    </a:lnTo>
                    <a:lnTo>
                      <a:pt x="666304" y="19273"/>
                    </a:lnTo>
                    <a:lnTo>
                      <a:pt x="666304" y="66080"/>
                    </a:lnTo>
                    <a:lnTo>
                      <a:pt x="534145" y="66080"/>
                    </a:lnTo>
                    <a:lnTo>
                      <a:pt x="534145" y="89483"/>
                    </a:lnTo>
                    <a:lnTo>
                      <a:pt x="662174" y="89483"/>
                    </a:lnTo>
                    <a:lnTo>
                      <a:pt x="662174" y="225772"/>
                    </a:lnTo>
                    <a:lnTo>
                      <a:pt x="374452" y="225772"/>
                    </a:lnTo>
                    <a:lnTo>
                      <a:pt x="374452" y="89483"/>
                    </a:lnTo>
                    <a:lnTo>
                      <a:pt x="483208" y="89483"/>
                    </a:lnTo>
                    <a:close/>
                    <a:moveTo>
                      <a:pt x="132160" y="0"/>
                    </a:moveTo>
                    <a:lnTo>
                      <a:pt x="183096" y="0"/>
                    </a:lnTo>
                    <a:lnTo>
                      <a:pt x="183096" y="14455"/>
                    </a:lnTo>
                    <a:lnTo>
                      <a:pt x="248488" y="14455"/>
                    </a:lnTo>
                    <a:lnTo>
                      <a:pt x="248488" y="59885"/>
                    </a:lnTo>
                    <a:lnTo>
                      <a:pt x="183096" y="59885"/>
                    </a:lnTo>
                    <a:lnTo>
                      <a:pt x="183096" y="74340"/>
                    </a:lnTo>
                    <a:lnTo>
                      <a:pt x="242981" y="74340"/>
                    </a:lnTo>
                    <a:lnTo>
                      <a:pt x="278086" y="5507"/>
                    </a:lnTo>
                    <a:lnTo>
                      <a:pt x="333152" y="5507"/>
                    </a:lnTo>
                    <a:lnTo>
                      <a:pt x="300112" y="74340"/>
                    </a:lnTo>
                    <a:lnTo>
                      <a:pt x="322827" y="74340"/>
                    </a:lnTo>
                    <a:lnTo>
                      <a:pt x="322827" y="120458"/>
                    </a:lnTo>
                    <a:lnTo>
                      <a:pt x="104627" y="120458"/>
                    </a:lnTo>
                    <a:lnTo>
                      <a:pt x="98106" y="132848"/>
                    </a:lnTo>
                    <a:lnTo>
                      <a:pt x="316632" y="132848"/>
                    </a:lnTo>
                    <a:lnTo>
                      <a:pt x="316632" y="176901"/>
                    </a:lnTo>
                    <a:lnTo>
                      <a:pt x="180343" y="176901"/>
                    </a:lnTo>
                    <a:lnTo>
                      <a:pt x="172771" y="189291"/>
                    </a:lnTo>
                    <a:lnTo>
                      <a:pt x="309749" y="189291"/>
                    </a:lnTo>
                    <a:lnTo>
                      <a:pt x="301489" y="300456"/>
                    </a:lnTo>
                    <a:lnTo>
                      <a:pt x="74340" y="300456"/>
                    </a:lnTo>
                    <a:lnTo>
                      <a:pt x="74340" y="255371"/>
                    </a:lnTo>
                    <a:lnTo>
                      <a:pt x="252617" y="255371"/>
                    </a:lnTo>
                    <a:lnTo>
                      <a:pt x="254683" y="234032"/>
                    </a:lnTo>
                    <a:lnTo>
                      <a:pt x="90860" y="234032"/>
                    </a:lnTo>
                    <a:lnTo>
                      <a:pt x="127341" y="176901"/>
                    </a:lnTo>
                    <a:lnTo>
                      <a:pt x="97743" y="176901"/>
                    </a:lnTo>
                    <a:lnTo>
                      <a:pt x="97743" y="133536"/>
                    </a:lnTo>
                    <a:lnTo>
                      <a:pt x="56443" y="212006"/>
                    </a:lnTo>
                    <a:lnTo>
                      <a:pt x="0" y="212006"/>
                    </a:lnTo>
                    <a:lnTo>
                      <a:pt x="48872" y="120458"/>
                    </a:lnTo>
                    <a:lnTo>
                      <a:pt x="14455" y="120458"/>
                    </a:lnTo>
                    <a:lnTo>
                      <a:pt x="14455" y="74340"/>
                    </a:lnTo>
                    <a:lnTo>
                      <a:pt x="132160" y="74340"/>
                    </a:lnTo>
                    <a:lnTo>
                      <a:pt x="132160" y="59885"/>
                    </a:lnTo>
                    <a:lnTo>
                      <a:pt x="29599" y="59885"/>
                    </a:lnTo>
                    <a:lnTo>
                      <a:pt x="29599" y="14455"/>
                    </a:lnTo>
                    <a:lnTo>
                      <a:pt x="132160" y="1445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2800" dirty="0">
                  <a:solidFill>
                    <a:prstClr val="black"/>
                  </a:solidFill>
                  <a:latin typeface="锐字锐线怒放黑简1.0" panose="02010604000000000000" pitchFamily="2" charset="-122"/>
                  <a:ea typeface="锐字锐线怒放黑简1.0" panose="02010604000000000000" pitchFamily="2" charset="-122"/>
                </a:endParaRPr>
              </a:p>
            </p:txBody>
          </p:sp>
        </p:grpSp>
      </p:grp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</p:spTree>
    <p:extLst>
      <p:ext uri="{BB962C8B-B14F-4D97-AF65-F5344CB8AC3E}">
        <p14:creationId xmlns:p14="http://schemas.microsoft.com/office/powerpoint/2010/main" val="5598692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8" r="5748"/>
          <a:stretch/>
        </p:blipFill>
        <p:spPr>
          <a:xfrm>
            <a:off x="4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3141080" y="2947982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874514" y="2947982"/>
            <a:ext cx="1735470" cy="962038"/>
            <a:chOff x="834821" y="4393362"/>
            <a:chExt cx="1459364" cy="808982"/>
          </a:xfrm>
        </p:grpSpPr>
        <p:sp>
          <p:nvSpPr>
            <p:cNvPr id="14" name="任意多边形: 形状 13"/>
            <p:cNvSpPr/>
            <p:nvPr/>
          </p:nvSpPr>
          <p:spPr>
            <a:xfrm>
              <a:off x="834821" y="4393362"/>
              <a:ext cx="1459364" cy="808982"/>
            </a:xfrm>
            <a:custGeom>
              <a:avLst/>
              <a:gdLst>
                <a:gd name="connsiteX0" fmla="*/ 86197 w 1459364"/>
                <a:gd name="connsiteY0" fmla="*/ 0 h 808982"/>
                <a:gd name="connsiteX1" fmla="*/ 1246032 w 1459364"/>
                <a:gd name="connsiteY1" fmla="*/ 0 h 808982"/>
                <a:gd name="connsiteX2" fmla="*/ 1332229 w 1459364"/>
                <a:gd name="connsiteY2" fmla="*/ 86197 h 808982"/>
                <a:gd name="connsiteX3" fmla="*/ 1332229 w 1459364"/>
                <a:gd name="connsiteY3" fmla="*/ 254985 h 808982"/>
                <a:gd name="connsiteX4" fmla="*/ 1444169 w 1459364"/>
                <a:gd name="connsiteY4" fmla="*/ 370406 h 808982"/>
                <a:gd name="connsiteX5" fmla="*/ 1443004 w 1459364"/>
                <a:gd name="connsiteY5" fmla="*/ 446555 h 808982"/>
                <a:gd name="connsiteX6" fmla="*/ 1332229 w 1459364"/>
                <a:gd name="connsiteY6" fmla="*/ 553989 h 808982"/>
                <a:gd name="connsiteX7" fmla="*/ 1332229 w 1459364"/>
                <a:gd name="connsiteY7" fmla="*/ 722785 h 808982"/>
                <a:gd name="connsiteX8" fmla="*/ 1246032 w 1459364"/>
                <a:gd name="connsiteY8" fmla="*/ 808982 h 808982"/>
                <a:gd name="connsiteX9" fmla="*/ 86197 w 1459364"/>
                <a:gd name="connsiteY9" fmla="*/ 808982 h 808982"/>
                <a:gd name="connsiteX10" fmla="*/ 0 w 1459364"/>
                <a:gd name="connsiteY10" fmla="*/ 722785 h 808982"/>
                <a:gd name="connsiteX11" fmla="*/ 0 w 1459364"/>
                <a:gd name="connsiteY11" fmla="*/ 86197 h 808982"/>
                <a:gd name="connsiteX12" fmla="*/ 86197 w 1459364"/>
                <a:gd name="connsiteY12" fmla="*/ 0 h 80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59364" h="808982">
                  <a:moveTo>
                    <a:pt x="86197" y="0"/>
                  </a:moveTo>
                  <a:lnTo>
                    <a:pt x="1246032" y="0"/>
                  </a:lnTo>
                  <a:cubicBezTo>
                    <a:pt x="1293637" y="0"/>
                    <a:pt x="1332229" y="38592"/>
                    <a:pt x="1332229" y="86197"/>
                  </a:cubicBezTo>
                  <a:lnTo>
                    <a:pt x="1332229" y="254985"/>
                  </a:lnTo>
                  <a:lnTo>
                    <a:pt x="1444169" y="370406"/>
                  </a:lnTo>
                  <a:cubicBezTo>
                    <a:pt x="1464876" y="391756"/>
                    <a:pt x="1464354" y="425848"/>
                    <a:pt x="1443004" y="446555"/>
                  </a:cubicBezTo>
                  <a:lnTo>
                    <a:pt x="1332229" y="553989"/>
                  </a:lnTo>
                  <a:lnTo>
                    <a:pt x="1332229" y="722785"/>
                  </a:lnTo>
                  <a:cubicBezTo>
                    <a:pt x="1332229" y="770390"/>
                    <a:pt x="1293637" y="808982"/>
                    <a:pt x="1246032" y="808982"/>
                  </a:cubicBezTo>
                  <a:lnTo>
                    <a:pt x="86197" y="808982"/>
                  </a:lnTo>
                  <a:cubicBezTo>
                    <a:pt x="38592" y="808982"/>
                    <a:pt x="0" y="770390"/>
                    <a:pt x="0" y="722785"/>
                  </a:cubicBezTo>
                  <a:lnTo>
                    <a:pt x="0" y="86197"/>
                  </a:lnTo>
                  <a:cubicBezTo>
                    <a:pt x="0" y="38592"/>
                    <a:pt x="38592" y="0"/>
                    <a:pt x="86197" y="0"/>
                  </a:cubicBezTo>
                  <a:close/>
                </a:path>
              </a:pathLst>
            </a:custGeom>
            <a:solidFill>
              <a:srgbClr val="0070C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983343" y="4654701"/>
              <a:ext cx="1026988" cy="300456"/>
            </a:xfrm>
            <a:custGeom>
              <a:avLst/>
              <a:gdLst/>
              <a:ahLst/>
              <a:cxnLst/>
              <a:rect l="l" t="t" r="r" b="b"/>
              <a:pathLst>
                <a:path w="1026988" h="300456">
                  <a:moveTo>
                    <a:pt x="717240" y="240916"/>
                  </a:moveTo>
                  <a:lnTo>
                    <a:pt x="1026988" y="240916"/>
                  </a:lnTo>
                  <a:lnTo>
                    <a:pt x="1026988" y="286690"/>
                  </a:lnTo>
                  <a:lnTo>
                    <a:pt x="717240" y="286690"/>
                  </a:lnTo>
                  <a:close/>
                  <a:moveTo>
                    <a:pt x="603665" y="236097"/>
                  </a:moveTo>
                  <a:lnTo>
                    <a:pt x="658043" y="236097"/>
                  </a:lnTo>
                  <a:lnTo>
                    <a:pt x="684200" y="300456"/>
                  </a:lnTo>
                  <a:lnTo>
                    <a:pt x="631887" y="300456"/>
                  </a:lnTo>
                  <a:close/>
                  <a:moveTo>
                    <a:pt x="525196" y="236097"/>
                  </a:moveTo>
                  <a:lnTo>
                    <a:pt x="578885" y="236097"/>
                  </a:lnTo>
                  <a:lnTo>
                    <a:pt x="606419" y="300456"/>
                  </a:lnTo>
                  <a:lnTo>
                    <a:pt x="552729" y="300456"/>
                  </a:lnTo>
                  <a:close/>
                  <a:moveTo>
                    <a:pt x="446038" y="236097"/>
                  </a:moveTo>
                  <a:lnTo>
                    <a:pt x="501104" y="236097"/>
                  </a:lnTo>
                  <a:lnTo>
                    <a:pt x="524507" y="300456"/>
                  </a:lnTo>
                  <a:lnTo>
                    <a:pt x="470818" y="300456"/>
                  </a:lnTo>
                  <a:close/>
                  <a:moveTo>
                    <a:pt x="384776" y="236097"/>
                  </a:moveTo>
                  <a:lnTo>
                    <a:pt x="437778" y="236097"/>
                  </a:lnTo>
                  <a:lnTo>
                    <a:pt x="407491" y="300456"/>
                  </a:lnTo>
                  <a:lnTo>
                    <a:pt x="354490" y="300456"/>
                  </a:lnTo>
                  <a:close/>
                  <a:moveTo>
                    <a:pt x="425388" y="136290"/>
                  </a:moveTo>
                  <a:lnTo>
                    <a:pt x="425388" y="178966"/>
                  </a:lnTo>
                  <a:lnTo>
                    <a:pt x="611237" y="178966"/>
                  </a:lnTo>
                  <a:lnTo>
                    <a:pt x="611237" y="136290"/>
                  </a:lnTo>
                  <a:close/>
                  <a:moveTo>
                    <a:pt x="733760" y="19962"/>
                  </a:moveTo>
                  <a:lnTo>
                    <a:pt x="1010468" y="19962"/>
                  </a:lnTo>
                  <a:lnTo>
                    <a:pt x="1010468" y="66768"/>
                  </a:lnTo>
                  <a:lnTo>
                    <a:pt x="733760" y="66768"/>
                  </a:lnTo>
                  <a:close/>
                  <a:moveTo>
                    <a:pt x="483208" y="0"/>
                  </a:moveTo>
                  <a:lnTo>
                    <a:pt x="534144" y="0"/>
                  </a:lnTo>
                  <a:lnTo>
                    <a:pt x="534144" y="19273"/>
                  </a:lnTo>
                  <a:lnTo>
                    <a:pt x="666303" y="19273"/>
                  </a:lnTo>
                  <a:lnTo>
                    <a:pt x="666303" y="66080"/>
                  </a:lnTo>
                  <a:lnTo>
                    <a:pt x="534144" y="66080"/>
                  </a:lnTo>
                  <a:lnTo>
                    <a:pt x="534144" y="89483"/>
                  </a:lnTo>
                  <a:lnTo>
                    <a:pt x="662173" y="89483"/>
                  </a:lnTo>
                  <a:lnTo>
                    <a:pt x="662173" y="225772"/>
                  </a:lnTo>
                  <a:lnTo>
                    <a:pt x="374451" y="225772"/>
                  </a:lnTo>
                  <a:lnTo>
                    <a:pt x="374451" y="89483"/>
                  </a:lnTo>
                  <a:lnTo>
                    <a:pt x="483208" y="89483"/>
                  </a:lnTo>
                  <a:close/>
                  <a:moveTo>
                    <a:pt x="132159" y="0"/>
                  </a:moveTo>
                  <a:lnTo>
                    <a:pt x="183096" y="0"/>
                  </a:lnTo>
                  <a:lnTo>
                    <a:pt x="183096" y="14455"/>
                  </a:lnTo>
                  <a:lnTo>
                    <a:pt x="248487" y="14455"/>
                  </a:lnTo>
                  <a:lnTo>
                    <a:pt x="248487" y="59885"/>
                  </a:lnTo>
                  <a:lnTo>
                    <a:pt x="183096" y="59885"/>
                  </a:lnTo>
                  <a:lnTo>
                    <a:pt x="183096" y="74340"/>
                  </a:lnTo>
                  <a:lnTo>
                    <a:pt x="242980" y="74340"/>
                  </a:lnTo>
                  <a:lnTo>
                    <a:pt x="278085" y="5507"/>
                  </a:lnTo>
                  <a:lnTo>
                    <a:pt x="333152" y="5507"/>
                  </a:lnTo>
                  <a:lnTo>
                    <a:pt x="300112" y="74340"/>
                  </a:lnTo>
                  <a:lnTo>
                    <a:pt x="322827" y="74340"/>
                  </a:lnTo>
                  <a:lnTo>
                    <a:pt x="322827" y="120458"/>
                  </a:lnTo>
                  <a:lnTo>
                    <a:pt x="104626" y="120458"/>
                  </a:lnTo>
                  <a:lnTo>
                    <a:pt x="98105" y="132848"/>
                  </a:lnTo>
                  <a:lnTo>
                    <a:pt x="316632" y="132848"/>
                  </a:lnTo>
                  <a:lnTo>
                    <a:pt x="316632" y="176901"/>
                  </a:lnTo>
                  <a:lnTo>
                    <a:pt x="180342" y="176901"/>
                  </a:lnTo>
                  <a:lnTo>
                    <a:pt x="172771" y="189291"/>
                  </a:lnTo>
                  <a:lnTo>
                    <a:pt x="309748" y="189291"/>
                  </a:lnTo>
                  <a:lnTo>
                    <a:pt x="301488" y="300456"/>
                  </a:lnTo>
                  <a:lnTo>
                    <a:pt x="74340" y="300456"/>
                  </a:lnTo>
                  <a:lnTo>
                    <a:pt x="74340" y="255371"/>
                  </a:lnTo>
                  <a:lnTo>
                    <a:pt x="252617" y="255371"/>
                  </a:lnTo>
                  <a:lnTo>
                    <a:pt x="254682" y="234032"/>
                  </a:lnTo>
                  <a:lnTo>
                    <a:pt x="90859" y="234032"/>
                  </a:lnTo>
                  <a:lnTo>
                    <a:pt x="127341" y="176901"/>
                  </a:lnTo>
                  <a:lnTo>
                    <a:pt x="97743" y="176901"/>
                  </a:lnTo>
                  <a:lnTo>
                    <a:pt x="97743" y="133536"/>
                  </a:lnTo>
                  <a:lnTo>
                    <a:pt x="56443" y="212006"/>
                  </a:lnTo>
                  <a:lnTo>
                    <a:pt x="0" y="212006"/>
                  </a:lnTo>
                  <a:lnTo>
                    <a:pt x="48871" y="120458"/>
                  </a:lnTo>
                  <a:lnTo>
                    <a:pt x="14455" y="120458"/>
                  </a:lnTo>
                  <a:lnTo>
                    <a:pt x="14455" y="74340"/>
                  </a:lnTo>
                  <a:lnTo>
                    <a:pt x="132159" y="74340"/>
                  </a:lnTo>
                  <a:lnTo>
                    <a:pt x="132159" y="59885"/>
                  </a:lnTo>
                  <a:lnTo>
                    <a:pt x="29598" y="59885"/>
                  </a:lnTo>
                  <a:lnTo>
                    <a:pt x="29598" y="14455"/>
                  </a:lnTo>
                  <a:lnTo>
                    <a:pt x="132159" y="144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800" dirty="0">
                <a:solidFill>
                  <a:prstClr val="black"/>
                </a:solidFill>
                <a:latin typeface="锐字锐线怒放黑简1.0" panose="02010604000000000000" pitchFamily="2" charset="-122"/>
                <a:ea typeface="锐字锐线怒放黑简1.0" panose="02010604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2700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3141080" y="2947982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1874514" y="2947982"/>
            <a:ext cx="1735470" cy="962038"/>
            <a:chOff x="2807881" y="4245776"/>
            <a:chExt cx="1459364" cy="808982"/>
          </a:xfrm>
        </p:grpSpPr>
        <p:sp>
          <p:nvSpPr>
            <p:cNvPr id="17" name="任意多边形: 形状 16"/>
            <p:cNvSpPr/>
            <p:nvPr/>
          </p:nvSpPr>
          <p:spPr>
            <a:xfrm>
              <a:off x="2807881" y="4245776"/>
              <a:ext cx="1459364" cy="808982"/>
            </a:xfrm>
            <a:custGeom>
              <a:avLst/>
              <a:gdLst>
                <a:gd name="connsiteX0" fmla="*/ 86197 w 1459364"/>
                <a:gd name="connsiteY0" fmla="*/ 0 h 808982"/>
                <a:gd name="connsiteX1" fmla="*/ 1246032 w 1459364"/>
                <a:gd name="connsiteY1" fmla="*/ 0 h 808982"/>
                <a:gd name="connsiteX2" fmla="*/ 1332229 w 1459364"/>
                <a:gd name="connsiteY2" fmla="*/ 86197 h 808982"/>
                <a:gd name="connsiteX3" fmla="*/ 1332229 w 1459364"/>
                <a:gd name="connsiteY3" fmla="*/ 254985 h 808982"/>
                <a:gd name="connsiteX4" fmla="*/ 1444169 w 1459364"/>
                <a:gd name="connsiteY4" fmla="*/ 370406 h 808982"/>
                <a:gd name="connsiteX5" fmla="*/ 1443004 w 1459364"/>
                <a:gd name="connsiteY5" fmla="*/ 446555 h 808982"/>
                <a:gd name="connsiteX6" fmla="*/ 1332229 w 1459364"/>
                <a:gd name="connsiteY6" fmla="*/ 553989 h 808982"/>
                <a:gd name="connsiteX7" fmla="*/ 1332229 w 1459364"/>
                <a:gd name="connsiteY7" fmla="*/ 722785 h 808982"/>
                <a:gd name="connsiteX8" fmla="*/ 1246032 w 1459364"/>
                <a:gd name="connsiteY8" fmla="*/ 808982 h 808982"/>
                <a:gd name="connsiteX9" fmla="*/ 86197 w 1459364"/>
                <a:gd name="connsiteY9" fmla="*/ 808982 h 808982"/>
                <a:gd name="connsiteX10" fmla="*/ 0 w 1459364"/>
                <a:gd name="connsiteY10" fmla="*/ 722785 h 808982"/>
                <a:gd name="connsiteX11" fmla="*/ 0 w 1459364"/>
                <a:gd name="connsiteY11" fmla="*/ 86197 h 808982"/>
                <a:gd name="connsiteX12" fmla="*/ 86197 w 1459364"/>
                <a:gd name="connsiteY12" fmla="*/ 0 h 80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59364" h="808982">
                  <a:moveTo>
                    <a:pt x="86197" y="0"/>
                  </a:moveTo>
                  <a:lnTo>
                    <a:pt x="1246032" y="0"/>
                  </a:lnTo>
                  <a:cubicBezTo>
                    <a:pt x="1293637" y="0"/>
                    <a:pt x="1332229" y="38592"/>
                    <a:pt x="1332229" y="86197"/>
                  </a:cubicBezTo>
                  <a:lnTo>
                    <a:pt x="1332229" y="254985"/>
                  </a:lnTo>
                  <a:lnTo>
                    <a:pt x="1444169" y="370406"/>
                  </a:lnTo>
                  <a:cubicBezTo>
                    <a:pt x="1464876" y="391756"/>
                    <a:pt x="1464354" y="425848"/>
                    <a:pt x="1443004" y="446555"/>
                  </a:cubicBezTo>
                  <a:lnTo>
                    <a:pt x="1332229" y="553989"/>
                  </a:lnTo>
                  <a:lnTo>
                    <a:pt x="1332229" y="722785"/>
                  </a:lnTo>
                  <a:cubicBezTo>
                    <a:pt x="1332229" y="770390"/>
                    <a:pt x="1293637" y="808982"/>
                    <a:pt x="1246032" y="808982"/>
                  </a:cubicBezTo>
                  <a:lnTo>
                    <a:pt x="86197" y="808982"/>
                  </a:lnTo>
                  <a:cubicBezTo>
                    <a:pt x="38592" y="808982"/>
                    <a:pt x="0" y="770390"/>
                    <a:pt x="0" y="722785"/>
                  </a:cubicBezTo>
                  <a:lnTo>
                    <a:pt x="0" y="86197"/>
                  </a:lnTo>
                  <a:cubicBezTo>
                    <a:pt x="0" y="38592"/>
                    <a:pt x="38592" y="0"/>
                    <a:pt x="86197" y="0"/>
                  </a:cubicBezTo>
                  <a:close/>
                </a:path>
              </a:pathLst>
            </a:custGeom>
            <a:solidFill>
              <a:srgbClr val="0070C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2946675" y="4507115"/>
              <a:ext cx="1031807" cy="300456"/>
            </a:xfrm>
            <a:custGeom>
              <a:avLst/>
              <a:gdLst/>
              <a:ahLst/>
              <a:cxnLst/>
              <a:rect l="l" t="t" r="r" b="b"/>
              <a:pathLst>
                <a:path w="1031807" h="300456">
                  <a:moveTo>
                    <a:pt x="712422" y="245734"/>
                  </a:moveTo>
                  <a:lnTo>
                    <a:pt x="1031807" y="245734"/>
                  </a:lnTo>
                  <a:lnTo>
                    <a:pt x="1031807" y="291508"/>
                  </a:lnTo>
                  <a:lnTo>
                    <a:pt x="712422" y="291508"/>
                  </a:lnTo>
                  <a:close/>
                  <a:moveTo>
                    <a:pt x="603665" y="236097"/>
                  </a:moveTo>
                  <a:lnTo>
                    <a:pt x="658043" y="236097"/>
                  </a:lnTo>
                  <a:lnTo>
                    <a:pt x="684200" y="300456"/>
                  </a:lnTo>
                  <a:lnTo>
                    <a:pt x="631887" y="300456"/>
                  </a:lnTo>
                  <a:close/>
                  <a:moveTo>
                    <a:pt x="525196" y="236097"/>
                  </a:moveTo>
                  <a:lnTo>
                    <a:pt x="578886" y="236097"/>
                  </a:lnTo>
                  <a:lnTo>
                    <a:pt x="606419" y="300456"/>
                  </a:lnTo>
                  <a:lnTo>
                    <a:pt x="552729" y="300456"/>
                  </a:lnTo>
                  <a:close/>
                  <a:moveTo>
                    <a:pt x="446038" y="236097"/>
                  </a:moveTo>
                  <a:lnTo>
                    <a:pt x="501104" y="236097"/>
                  </a:lnTo>
                  <a:lnTo>
                    <a:pt x="524507" y="300456"/>
                  </a:lnTo>
                  <a:lnTo>
                    <a:pt x="470818" y="300456"/>
                  </a:lnTo>
                  <a:close/>
                  <a:moveTo>
                    <a:pt x="384776" y="236097"/>
                  </a:moveTo>
                  <a:lnTo>
                    <a:pt x="437778" y="236097"/>
                  </a:lnTo>
                  <a:lnTo>
                    <a:pt x="407491" y="300456"/>
                  </a:lnTo>
                  <a:lnTo>
                    <a:pt x="354490" y="300456"/>
                  </a:lnTo>
                  <a:close/>
                  <a:moveTo>
                    <a:pt x="425388" y="136290"/>
                  </a:moveTo>
                  <a:lnTo>
                    <a:pt x="425388" y="178966"/>
                  </a:lnTo>
                  <a:lnTo>
                    <a:pt x="611237" y="178966"/>
                  </a:lnTo>
                  <a:lnTo>
                    <a:pt x="611237" y="136290"/>
                  </a:lnTo>
                  <a:close/>
                  <a:moveTo>
                    <a:pt x="739955" y="124588"/>
                  </a:moveTo>
                  <a:lnTo>
                    <a:pt x="1002897" y="124588"/>
                  </a:lnTo>
                  <a:lnTo>
                    <a:pt x="1002897" y="171394"/>
                  </a:lnTo>
                  <a:lnTo>
                    <a:pt x="739955" y="171394"/>
                  </a:lnTo>
                  <a:close/>
                  <a:moveTo>
                    <a:pt x="729630" y="18585"/>
                  </a:moveTo>
                  <a:lnTo>
                    <a:pt x="1014599" y="18585"/>
                  </a:lnTo>
                  <a:lnTo>
                    <a:pt x="1014599" y="65392"/>
                  </a:lnTo>
                  <a:lnTo>
                    <a:pt x="729630" y="65392"/>
                  </a:lnTo>
                  <a:close/>
                  <a:moveTo>
                    <a:pt x="483208" y="0"/>
                  </a:moveTo>
                  <a:lnTo>
                    <a:pt x="534144" y="0"/>
                  </a:lnTo>
                  <a:lnTo>
                    <a:pt x="534144" y="19273"/>
                  </a:lnTo>
                  <a:lnTo>
                    <a:pt x="666303" y="19273"/>
                  </a:lnTo>
                  <a:lnTo>
                    <a:pt x="666303" y="66080"/>
                  </a:lnTo>
                  <a:lnTo>
                    <a:pt x="534144" y="66080"/>
                  </a:lnTo>
                  <a:lnTo>
                    <a:pt x="534144" y="89483"/>
                  </a:lnTo>
                  <a:lnTo>
                    <a:pt x="662173" y="89483"/>
                  </a:lnTo>
                  <a:lnTo>
                    <a:pt x="662173" y="225772"/>
                  </a:lnTo>
                  <a:lnTo>
                    <a:pt x="374451" y="225772"/>
                  </a:lnTo>
                  <a:lnTo>
                    <a:pt x="374451" y="89483"/>
                  </a:lnTo>
                  <a:lnTo>
                    <a:pt x="483208" y="89483"/>
                  </a:lnTo>
                  <a:close/>
                  <a:moveTo>
                    <a:pt x="132159" y="0"/>
                  </a:moveTo>
                  <a:lnTo>
                    <a:pt x="183096" y="0"/>
                  </a:lnTo>
                  <a:lnTo>
                    <a:pt x="183096" y="14455"/>
                  </a:lnTo>
                  <a:lnTo>
                    <a:pt x="248487" y="14455"/>
                  </a:lnTo>
                  <a:lnTo>
                    <a:pt x="248487" y="59885"/>
                  </a:lnTo>
                  <a:lnTo>
                    <a:pt x="183096" y="59885"/>
                  </a:lnTo>
                  <a:lnTo>
                    <a:pt x="183096" y="74340"/>
                  </a:lnTo>
                  <a:lnTo>
                    <a:pt x="242980" y="74340"/>
                  </a:lnTo>
                  <a:lnTo>
                    <a:pt x="278085" y="5507"/>
                  </a:lnTo>
                  <a:lnTo>
                    <a:pt x="333152" y="5507"/>
                  </a:lnTo>
                  <a:lnTo>
                    <a:pt x="300112" y="74340"/>
                  </a:lnTo>
                  <a:lnTo>
                    <a:pt x="322827" y="74340"/>
                  </a:lnTo>
                  <a:lnTo>
                    <a:pt x="322827" y="120458"/>
                  </a:lnTo>
                  <a:lnTo>
                    <a:pt x="104626" y="120458"/>
                  </a:lnTo>
                  <a:lnTo>
                    <a:pt x="98105" y="132848"/>
                  </a:lnTo>
                  <a:lnTo>
                    <a:pt x="316632" y="132848"/>
                  </a:lnTo>
                  <a:lnTo>
                    <a:pt x="316632" y="176901"/>
                  </a:lnTo>
                  <a:lnTo>
                    <a:pt x="180342" y="176901"/>
                  </a:lnTo>
                  <a:lnTo>
                    <a:pt x="172771" y="189291"/>
                  </a:lnTo>
                  <a:lnTo>
                    <a:pt x="309748" y="189291"/>
                  </a:lnTo>
                  <a:lnTo>
                    <a:pt x="301488" y="300456"/>
                  </a:lnTo>
                  <a:lnTo>
                    <a:pt x="74340" y="300456"/>
                  </a:lnTo>
                  <a:lnTo>
                    <a:pt x="74340" y="255371"/>
                  </a:lnTo>
                  <a:lnTo>
                    <a:pt x="252617" y="255371"/>
                  </a:lnTo>
                  <a:lnTo>
                    <a:pt x="254682" y="234032"/>
                  </a:lnTo>
                  <a:lnTo>
                    <a:pt x="90860" y="234032"/>
                  </a:lnTo>
                  <a:lnTo>
                    <a:pt x="127341" y="176901"/>
                  </a:lnTo>
                  <a:lnTo>
                    <a:pt x="97743" y="176901"/>
                  </a:lnTo>
                  <a:lnTo>
                    <a:pt x="97743" y="133536"/>
                  </a:lnTo>
                  <a:lnTo>
                    <a:pt x="56443" y="212006"/>
                  </a:lnTo>
                  <a:lnTo>
                    <a:pt x="0" y="212006"/>
                  </a:lnTo>
                  <a:lnTo>
                    <a:pt x="48871" y="120458"/>
                  </a:lnTo>
                  <a:lnTo>
                    <a:pt x="14455" y="120458"/>
                  </a:lnTo>
                  <a:lnTo>
                    <a:pt x="14455" y="74340"/>
                  </a:lnTo>
                  <a:lnTo>
                    <a:pt x="132159" y="74340"/>
                  </a:lnTo>
                  <a:lnTo>
                    <a:pt x="132159" y="59885"/>
                  </a:lnTo>
                  <a:lnTo>
                    <a:pt x="29598" y="59885"/>
                  </a:lnTo>
                  <a:lnTo>
                    <a:pt x="29598" y="14455"/>
                  </a:lnTo>
                  <a:lnTo>
                    <a:pt x="132159" y="144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800" dirty="0">
                <a:solidFill>
                  <a:prstClr val="black"/>
                </a:solidFill>
                <a:latin typeface="锐字锐线怒放黑简1.0" panose="02010604000000000000" pitchFamily="2" charset="-122"/>
                <a:ea typeface="锐字锐线怒放黑简1.0" panose="02010604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23351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2000" cy="6858000"/>
          </a:xfrm>
          <a:prstGeom prst="rect">
            <a:avLst/>
          </a:prstGeom>
        </p:spPr>
      </p:pic>
      <p:sp>
        <p:nvSpPr>
          <p:cNvPr id="7" name="矩形: 圆角 6"/>
          <p:cNvSpPr/>
          <p:nvPr/>
        </p:nvSpPr>
        <p:spPr>
          <a:xfrm>
            <a:off x="3141080" y="2947982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1874514" y="2945763"/>
            <a:ext cx="1735470" cy="962038"/>
            <a:chOff x="4536073" y="4251561"/>
            <a:chExt cx="1459364" cy="808982"/>
          </a:xfrm>
        </p:grpSpPr>
        <p:sp>
          <p:nvSpPr>
            <p:cNvPr id="20" name="任意多边形: 形状 19"/>
            <p:cNvSpPr/>
            <p:nvPr/>
          </p:nvSpPr>
          <p:spPr>
            <a:xfrm>
              <a:off x="4536073" y="4251561"/>
              <a:ext cx="1459364" cy="808982"/>
            </a:xfrm>
            <a:custGeom>
              <a:avLst/>
              <a:gdLst>
                <a:gd name="connsiteX0" fmla="*/ 86197 w 1459364"/>
                <a:gd name="connsiteY0" fmla="*/ 0 h 808982"/>
                <a:gd name="connsiteX1" fmla="*/ 1246032 w 1459364"/>
                <a:gd name="connsiteY1" fmla="*/ 0 h 808982"/>
                <a:gd name="connsiteX2" fmla="*/ 1332229 w 1459364"/>
                <a:gd name="connsiteY2" fmla="*/ 86197 h 808982"/>
                <a:gd name="connsiteX3" fmla="*/ 1332229 w 1459364"/>
                <a:gd name="connsiteY3" fmla="*/ 254985 h 808982"/>
                <a:gd name="connsiteX4" fmla="*/ 1444169 w 1459364"/>
                <a:gd name="connsiteY4" fmla="*/ 370406 h 808982"/>
                <a:gd name="connsiteX5" fmla="*/ 1443004 w 1459364"/>
                <a:gd name="connsiteY5" fmla="*/ 446555 h 808982"/>
                <a:gd name="connsiteX6" fmla="*/ 1332229 w 1459364"/>
                <a:gd name="connsiteY6" fmla="*/ 553989 h 808982"/>
                <a:gd name="connsiteX7" fmla="*/ 1332229 w 1459364"/>
                <a:gd name="connsiteY7" fmla="*/ 722785 h 808982"/>
                <a:gd name="connsiteX8" fmla="*/ 1246032 w 1459364"/>
                <a:gd name="connsiteY8" fmla="*/ 808982 h 808982"/>
                <a:gd name="connsiteX9" fmla="*/ 86197 w 1459364"/>
                <a:gd name="connsiteY9" fmla="*/ 808982 h 808982"/>
                <a:gd name="connsiteX10" fmla="*/ 0 w 1459364"/>
                <a:gd name="connsiteY10" fmla="*/ 722785 h 808982"/>
                <a:gd name="connsiteX11" fmla="*/ 0 w 1459364"/>
                <a:gd name="connsiteY11" fmla="*/ 86197 h 808982"/>
                <a:gd name="connsiteX12" fmla="*/ 86197 w 1459364"/>
                <a:gd name="connsiteY12" fmla="*/ 0 h 80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59364" h="808982">
                  <a:moveTo>
                    <a:pt x="86197" y="0"/>
                  </a:moveTo>
                  <a:lnTo>
                    <a:pt x="1246032" y="0"/>
                  </a:lnTo>
                  <a:cubicBezTo>
                    <a:pt x="1293637" y="0"/>
                    <a:pt x="1332229" y="38592"/>
                    <a:pt x="1332229" y="86197"/>
                  </a:cubicBezTo>
                  <a:lnTo>
                    <a:pt x="1332229" y="254985"/>
                  </a:lnTo>
                  <a:lnTo>
                    <a:pt x="1444169" y="370406"/>
                  </a:lnTo>
                  <a:cubicBezTo>
                    <a:pt x="1464876" y="391756"/>
                    <a:pt x="1464354" y="425848"/>
                    <a:pt x="1443004" y="446555"/>
                  </a:cubicBezTo>
                  <a:lnTo>
                    <a:pt x="1332229" y="553989"/>
                  </a:lnTo>
                  <a:lnTo>
                    <a:pt x="1332229" y="722785"/>
                  </a:lnTo>
                  <a:cubicBezTo>
                    <a:pt x="1332229" y="770390"/>
                    <a:pt x="1293637" y="808982"/>
                    <a:pt x="1246032" y="808982"/>
                  </a:cubicBezTo>
                  <a:lnTo>
                    <a:pt x="86197" y="808982"/>
                  </a:lnTo>
                  <a:cubicBezTo>
                    <a:pt x="38592" y="808982"/>
                    <a:pt x="0" y="770390"/>
                    <a:pt x="0" y="722785"/>
                  </a:cubicBezTo>
                  <a:lnTo>
                    <a:pt x="0" y="86197"/>
                  </a:lnTo>
                  <a:cubicBezTo>
                    <a:pt x="0" y="38592"/>
                    <a:pt x="38592" y="0"/>
                    <a:pt x="86197" y="0"/>
                  </a:cubicBezTo>
                  <a:close/>
                </a:path>
              </a:pathLst>
            </a:custGeom>
            <a:solidFill>
              <a:srgbClr val="0070C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4674867" y="4512900"/>
              <a:ext cx="1025612" cy="300456"/>
            </a:xfrm>
            <a:custGeom>
              <a:avLst/>
              <a:gdLst/>
              <a:ahLst/>
              <a:cxnLst/>
              <a:rect l="l" t="t" r="r" b="b"/>
              <a:pathLst>
                <a:path w="1025612" h="300456">
                  <a:moveTo>
                    <a:pt x="603665" y="236097"/>
                  </a:moveTo>
                  <a:lnTo>
                    <a:pt x="658044" y="236097"/>
                  </a:lnTo>
                  <a:lnTo>
                    <a:pt x="684200" y="300456"/>
                  </a:lnTo>
                  <a:lnTo>
                    <a:pt x="631887" y="300456"/>
                  </a:lnTo>
                  <a:close/>
                  <a:moveTo>
                    <a:pt x="525196" y="236097"/>
                  </a:moveTo>
                  <a:lnTo>
                    <a:pt x="578886" y="236097"/>
                  </a:lnTo>
                  <a:lnTo>
                    <a:pt x="606419" y="300456"/>
                  </a:lnTo>
                  <a:lnTo>
                    <a:pt x="552729" y="300456"/>
                  </a:lnTo>
                  <a:close/>
                  <a:moveTo>
                    <a:pt x="446038" y="236097"/>
                  </a:moveTo>
                  <a:lnTo>
                    <a:pt x="501104" y="236097"/>
                  </a:lnTo>
                  <a:lnTo>
                    <a:pt x="524508" y="300456"/>
                  </a:lnTo>
                  <a:lnTo>
                    <a:pt x="470818" y="300456"/>
                  </a:lnTo>
                  <a:close/>
                  <a:moveTo>
                    <a:pt x="384777" y="236097"/>
                  </a:moveTo>
                  <a:lnTo>
                    <a:pt x="437778" y="236097"/>
                  </a:lnTo>
                  <a:lnTo>
                    <a:pt x="407491" y="300456"/>
                  </a:lnTo>
                  <a:lnTo>
                    <a:pt x="354490" y="300456"/>
                  </a:lnTo>
                  <a:close/>
                  <a:moveTo>
                    <a:pt x="425388" y="136290"/>
                  </a:moveTo>
                  <a:lnTo>
                    <a:pt x="425388" y="178966"/>
                  </a:lnTo>
                  <a:lnTo>
                    <a:pt x="611237" y="178966"/>
                  </a:lnTo>
                  <a:lnTo>
                    <a:pt x="611237" y="136290"/>
                  </a:lnTo>
                  <a:close/>
                  <a:moveTo>
                    <a:pt x="940947" y="54378"/>
                  </a:moveTo>
                  <a:lnTo>
                    <a:pt x="940947" y="161758"/>
                  </a:lnTo>
                  <a:lnTo>
                    <a:pt x="974675" y="161758"/>
                  </a:lnTo>
                  <a:lnTo>
                    <a:pt x="974675" y="54378"/>
                  </a:lnTo>
                  <a:close/>
                  <a:moveTo>
                    <a:pt x="769553" y="54378"/>
                  </a:moveTo>
                  <a:lnTo>
                    <a:pt x="769553" y="249864"/>
                  </a:lnTo>
                  <a:lnTo>
                    <a:pt x="974675" y="249864"/>
                  </a:lnTo>
                  <a:lnTo>
                    <a:pt x="974675" y="208564"/>
                  </a:lnTo>
                  <a:lnTo>
                    <a:pt x="890011" y="208564"/>
                  </a:lnTo>
                  <a:lnTo>
                    <a:pt x="890011" y="54378"/>
                  </a:lnTo>
                  <a:lnTo>
                    <a:pt x="860413" y="54378"/>
                  </a:lnTo>
                  <a:lnTo>
                    <a:pt x="823931" y="218201"/>
                  </a:lnTo>
                  <a:lnTo>
                    <a:pt x="772306" y="218201"/>
                  </a:lnTo>
                  <a:lnTo>
                    <a:pt x="808100" y="54378"/>
                  </a:lnTo>
                  <a:close/>
                  <a:moveTo>
                    <a:pt x="718617" y="7572"/>
                  </a:moveTo>
                  <a:lnTo>
                    <a:pt x="1025612" y="7572"/>
                  </a:lnTo>
                  <a:lnTo>
                    <a:pt x="1025612" y="295638"/>
                  </a:lnTo>
                  <a:lnTo>
                    <a:pt x="718617" y="295638"/>
                  </a:lnTo>
                  <a:close/>
                  <a:moveTo>
                    <a:pt x="483208" y="0"/>
                  </a:moveTo>
                  <a:lnTo>
                    <a:pt x="534144" y="0"/>
                  </a:lnTo>
                  <a:lnTo>
                    <a:pt x="534144" y="19273"/>
                  </a:lnTo>
                  <a:lnTo>
                    <a:pt x="666304" y="19273"/>
                  </a:lnTo>
                  <a:lnTo>
                    <a:pt x="666304" y="66080"/>
                  </a:lnTo>
                  <a:lnTo>
                    <a:pt x="534144" y="66080"/>
                  </a:lnTo>
                  <a:lnTo>
                    <a:pt x="534144" y="89483"/>
                  </a:lnTo>
                  <a:lnTo>
                    <a:pt x="662174" y="89483"/>
                  </a:lnTo>
                  <a:lnTo>
                    <a:pt x="662174" y="225772"/>
                  </a:lnTo>
                  <a:lnTo>
                    <a:pt x="374452" y="225772"/>
                  </a:lnTo>
                  <a:lnTo>
                    <a:pt x="374452" y="89483"/>
                  </a:lnTo>
                  <a:lnTo>
                    <a:pt x="483208" y="89483"/>
                  </a:lnTo>
                  <a:close/>
                  <a:moveTo>
                    <a:pt x="132159" y="0"/>
                  </a:moveTo>
                  <a:lnTo>
                    <a:pt x="183096" y="0"/>
                  </a:lnTo>
                  <a:lnTo>
                    <a:pt x="183096" y="14455"/>
                  </a:lnTo>
                  <a:lnTo>
                    <a:pt x="248487" y="14455"/>
                  </a:lnTo>
                  <a:lnTo>
                    <a:pt x="248487" y="59885"/>
                  </a:lnTo>
                  <a:lnTo>
                    <a:pt x="183096" y="59885"/>
                  </a:lnTo>
                  <a:lnTo>
                    <a:pt x="183096" y="74340"/>
                  </a:lnTo>
                  <a:lnTo>
                    <a:pt x="242981" y="74340"/>
                  </a:lnTo>
                  <a:lnTo>
                    <a:pt x="278085" y="5507"/>
                  </a:lnTo>
                  <a:lnTo>
                    <a:pt x="333152" y="5507"/>
                  </a:lnTo>
                  <a:lnTo>
                    <a:pt x="300112" y="74340"/>
                  </a:lnTo>
                  <a:lnTo>
                    <a:pt x="322827" y="74340"/>
                  </a:lnTo>
                  <a:lnTo>
                    <a:pt x="322827" y="120458"/>
                  </a:lnTo>
                  <a:lnTo>
                    <a:pt x="104626" y="120458"/>
                  </a:lnTo>
                  <a:lnTo>
                    <a:pt x="98105" y="132848"/>
                  </a:lnTo>
                  <a:lnTo>
                    <a:pt x="316632" y="132848"/>
                  </a:lnTo>
                  <a:lnTo>
                    <a:pt x="316632" y="176901"/>
                  </a:lnTo>
                  <a:lnTo>
                    <a:pt x="180343" y="176901"/>
                  </a:lnTo>
                  <a:lnTo>
                    <a:pt x="172771" y="189291"/>
                  </a:lnTo>
                  <a:lnTo>
                    <a:pt x="309749" y="189291"/>
                  </a:lnTo>
                  <a:lnTo>
                    <a:pt x="301489" y="300456"/>
                  </a:lnTo>
                  <a:lnTo>
                    <a:pt x="74340" y="300456"/>
                  </a:lnTo>
                  <a:lnTo>
                    <a:pt x="74340" y="255371"/>
                  </a:lnTo>
                  <a:lnTo>
                    <a:pt x="252617" y="255371"/>
                  </a:lnTo>
                  <a:lnTo>
                    <a:pt x="254682" y="234032"/>
                  </a:lnTo>
                  <a:lnTo>
                    <a:pt x="90860" y="234032"/>
                  </a:lnTo>
                  <a:lnTo>
                    <a:pt x="127341" y="176901"/>
                  </a:lnTo>
                  <a:lnTo>
                    <a:pt x="97743" y="176901"/>
                  </a:lnTo>
                  <a:lnTo>
                    <a:pt x="97743" y="133536"/>
                  </a:lnTo>
                  <a:lnTo>
                    <a:pt x="56443" y="212006"/>
                  </a:lnTo>
                  <a:lnTo>
                    <a:pt x="0" y="212006"/>
                  </a:lnTo>
                  <a:lnTo>
                    <a:pt x="48871" y="120458"/>
                  </a:lnTo>
                  <a:lnTo>
                    <a:pt x="14455" y="120458"/>
                  </a:lnTo>
                  <a:lnTo>
                    <a:pt x="14455" y="74340"/>
                  </a:lnTo>
                  <a:lnTo>
                    <a:pt x="132159" y="74340"/>
                  </a:lnTo>
                  <a:lnTo>
                    <a:pt x="132159" y="59885"/>
                  </a:lnTo>
                  <a:lnTo>
                    <a:pt x="29598" y="59885"/>
                  </a:lnTo>
                  <a:lnTo>
                    <a:pt x="29598" y="14455"/>
                  </a:lnTo>
                  <a:lnTo>
                    <a:pt x="132159" y="144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800" dirty="0">
                <a:solidFill>
                  <a:prstClr val="black"/>
                </a:solidFill>
                <a:latin typeface="锐字锐线怒放黑简1.0" panose="02010604000000000000" pitchFamily="2" charset="-122"/>
                <a:ea typeface="锐字锐线怒放黑简1.0" panose="02010604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908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711628" y="2971019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290288" y="3091998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</p:spTree>
    <p:extLst>
      <p:ext uri="{BB962C8B-B14F-4D97-AF65-F5344CB8AC3E}">
        <p14:creationId xmlns:p14="http://schemas.microsoft.com/office/powerpoint/2010/main" val="14261252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2000" cy="6858000"/>
          </a:xfrm>
          <a:prstGeom prst="rect">
            <a:avLst/>
          </a:prstGeom>
        </p:spPr>
      </p:pic>
      <p:sp>
        <p:nvSpPr>
          <p:cNvPr id="7" name="矩形: 圆角 6"/>
          <p:cNvSpPr/>
          <p:nvPr/>
        </p:nvSpPr>
        <p:spPr>
          <a:xfrm>
            <a:off x="3141080" y="2947982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874514" y="2943543"/>
            <a:ext cx="1735470" cy="962038"/>
            <a:chOff x="1976153" y="5685409"/>
            <a:chExt cx="1459364" cy="808982"/>
          </a:xfrm>
        </p:grpSpPr>
        <p:sp>
          <p:nvSpPr>
            <p:cNvPr id="26" name="任意多边形: 形状 25"/>
            <p:cNvSpPr/>
            <p:nvPr/>
          </p:nvSpPr>
          <p:spPr>
            <a:xfrm>
              <a:off x="1976153" y="5685409"/>
              <a:ext cx="1459364" cy="808982"/>
            </a:xfrm>
            <a:custGeom>
              <a:avLst/>
              <a:gdLst>
                <a:gd name="connsiteX0" fmla="*/ 86197 w 1459364"/>
                <a:gd name="connsiteY0" fmla="*/ 0 h 808982"/>
                <a:gd name="connsiteX1" fmla="*/ 1246032 w 1459364"/>
                <a:gd name="connsiteY1" fmla="*/ 0 h 808982"/>
                <a:gd name="connsiteX2" fmla="*/ 1332229 w 1459364"/>
                <a:gd name="connsiteY2" fmla="*/ 86197 h 808982"/>
                <a:gd name="connsiteX3" fmla="*/ 1332229 w 1459364"/>
                <a:gd name="connsiteY3" fmla="*/ 254985 h 808982"/>
                <a:gd name="connsiteX4" fmla="*/ 1444169 w 1459364"/>
                <a:gd name="connsiteY4" fmla="*/ 370406 h 808982"/>
                <a:gd name="connsiteX5" fmla="*/ 1443004 w 1459364"/>
                <a:gd name="connsiteY5" fmla="*/ 446555 h 808982"/>
                <a:gd name="connsiteX6" fmla="*/ 1332229 w 1459364"/>
                <a:gd name="connsiteY6" fmla="*/ 553989 h 808982"/>
                <a:gd name="connsiteX7" fmla="*/ 1332229 w 1459364"/>
                <a:gd name="connsiteY7" fmla="*/ 722785 h 808982"/>
                <a:gd name="connsiteX8" fmla="*/ 1246032 w 1459364"/>
                <a:gd name="connsiteY8" fmla="*/ 808982 h 808982"/>
                <a:gd name="connsiteX9" fmla="*/ 86197 w 1459364"/>
                <a:gd name="connsiteY9" fmla="*/ 808982 h 808982"/>
                <a:gd name="connsiteX10" fmla="*/ 0 w 1459364"/>
                <a:gd name="connsiteY10" fmla="*/ 722785 h 808982"/>
                <a:gd name="connsiteX11" fmla="*/ 0 w 1459364"/>
                <a:gd name="connsiteY11" fmla="*/ 86197 h 808982"/>
                <a:gd name="connsiteX12" fmla="*/ 86197 w 1459364"/>
                <a:gd name="connsiteY12" fmla="*/ 0 h 80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59364" h="808982">
                  <a:moveTo>
                    <a:pt x="86197" y="0"/>
                  </a:moveTo>
                  <a:lnTo>
                    <a:pt x="1246032" y="0"/>
                  </a:lnTo>
                  <a:cubicBezTo>
                    <a:pt x="1293637" y="0"/>
                    <a:pt x="1332229" y="38592"/>
                    <a:pt x="1332229" y="86197"/>
                  </a:cubicBezTo>
                  <a:lnTo>
                    <a:pt x="1332229" y="254985"/>
                  </a:lnTo>
                  <a:lnTo>
                    <a:pt x="1444169" y="370406"/>
                  </a:lnTo>
                  <a:cubicBezTo>
                    <a:pt x="1464876" y="391756"/>
                    <a:pt x="1464354" y="425848"/>
                    <a:pt x="1443004" y="446555"/>
                  </a:cubicBezTo>
                  <a:lnTo>
                    <a:pt x="1332229" y="553989"/>
                  </a:lnTo>
                  <a:lnTo>
                    <a:pt x="1332229" y="722785"/>
                  </a:lnTo>
                  <a:cubicBezTo>
                    <a:pt x="1332229" y="770390"/>
                    <a:pt x="1293637" y="808982"/>
                    <a:pt x="1246032" y="808982"/>
                  </a:cubicBezTo>
                  <a:lnTo>
                    <a:pt x="86197" y="808982"/>
                  </a:lnTo>
                  <a:cubicBezTo>
                    <a:pt x="38592" y="808982"/>
                    <a:pt x="0" y="770390"/>
                    <a:pt x="0" y="722785"/>
                  </a:cubicBezTo>
                  <a:lnTo>
                    <a:pt x="0" y="86197"/>
                  </a:lnTo>
                  <a:cubicBezTo>
                    <a:pt x="0" y="38592"/>
                    <a:pt x="38592" y="0"/>
                    <a:pt x="86197" y="0"/>
                  </a:cubicBezTo>
                  <a:close/>
                </a:path>
              </a:pathLst>
            </a:custGeom>
            <a:solidFill>
              <a:srgbClr val="0070C0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2124674" y="5945372"/>
              <a:ext cx="1031807" cy="301832"/>
            </a:xfrm>
            <a:custGeom>
              <a:avLst/>
              <a:gdLst/>
              <a:ahLst/>
              <a:cxnLst/>
              <a:rect l="l" t="t" r="r" b="b"/>
              <a:pathLst>
                <a:path w="1031807" h="301832">
                  <a:moveTo>
                    <a:pt x="603665" y="237473"/>
                  </a:moveTo>
                  <a:lnTo>
                    <a:pt x="658043" y="237473"/>
                  </a:lnTo>
                  <a:lnTo>
                    <a:pt x="684200" y="301832"/>
                  </a:lnTo>
                  <a:lnTo>
                    <a:pt x="631887" y="301832"/>
                  </a:lnTo>
                  <a:close/>
                  <a:moveTo>
                    <a:pt x="525196" y="237473"/>
                  </a:moveTo>
                  <a:lnTo>
                    <a:pt x="578886" y="237473"/>
                  </a:lnTo>
                  <a:lnTo>
                    <a:pt x="606419" y="301832"/>
                  </a:lnTo>
                  <a:lnTo>
                    <a:pt x="552729" y="301832"/>
                  </a:lnTo>
                  <a:close/>
                  <a:moveTo>
                    <a:pt x="446038" y="237473"/>
                  </a:moveTo>
                  <a:lnTo>
                    <a:pt x="501104" y="237473"/>
                  </a:lnTo>
                  <a:lnTo>
                    <a:pt x="524507" y="301832"/>
                  </a:lnTo>
                  <a:lnTo>
                    <a:pt x="470818" y="301832"/>
                  </a:lnTo>
                  <a:close/>
                  <a:moveTo>
                    <a:pt x="384776" y="237473"/>
                  </a:moveTo>
                  <a:lnTo>
                    <a:pt x="437778" y="237473"/>
                  </a:lnTo>
                  <a:lnTo>
                    <a:pt x="407491" y="301832"/>
                  </a:lnTo>
                  <a:lnTo>
                    <a:pt x="354490" y="301832"/>
                  </a:lnTo>
                  <a:close/>
                  <a:moveTo>
                    <a:pt x="905842" y="148679"/>
                  </a:moveTo>
                  <a:lnTo>
                    <a:pt x="962974" y="148679"/>
                  </a:lnTo>
                  <a:lnTo>
                    <a:pt x="1031807" y="301832"/>
                  </a:lnTo>
                  <a:lnTo>
                    <a:pt x="974675" y="301832"/>
                  </a:lnTo>
                  <a:close/>
                  <a:moveTo>
                    <a:pt x="777125" y="148679"/>
                  </a:moveTo>
                  <a:lnTo>
                    <a:pt x="833568" y="148679"/>
                  </a:lnTo>
                  <a:lnTo>
                    <a:pt x="768865" y="301832"/>
                  </a:lnTo>
                  <a:lnTo>
                    <a:pt x="713110" y="301832"/>
                  </a:lnTo>
                  <a:close/>
                  <a:moveTo>
                    <a:pt x="425388" y="137666"/>
                  </a:moveTo>
                  <a:lnTo>
                    <a:pt x="425388" y="180342"/>
                  </a:lnTo>
                  <a:lnTo>
                    <a:pt x="611237" y="180342"/>
                  </a:lnTo>
                  <a:lnTo>
                    <a:pt x="611237" y="137666"/>
                  </a:lnTo>
                  <a:close/>
                  <a:moveTo>
                    <a:pt x="715175" y="72963"/>
                  </a:moveTo>
                  <a:lnTo>
                    <a:pt x="1029053" y="72963"/>
                  </a:lnTo>
                  <a:lnTo>
                    <a:pt x="1029053" y="119769"/>
                  </a:lnTo>
                  <a:lnTo>
                    <a:pt x="715175" y="119769"/>
                  </a:lnTo>
                  <a:close/>
                  <a:moveTo>
                    <a:pt x="483208" y="1376"/>
                  </a:moveTo>
                  <a:lnTo>
                    <a:pt x="534144" y="1376"/>
                  </a:lnTo>
                  <a:lnTo>
                    <a:pt x="534144" y="20649"/>
                  </a:lnTo>
                  <a:lnTo>
                    <a:pt x="666303" y="20649"/>
                  </a:lnTo>
                  <a:lnTo>
                    <a:pt x="666303" y="67456"/>
                  </a:lnTo>
                  <a:lnTo>
                    <a:pt x="534144" y="67456"/>
                  </a:lnTo>
                  <a:lnTo>
                    <a:pt x="534144" y="90859"/>
                  </a:lnTo>
                  <a:lnTo>
                    <a:pt x="662173" y="90859"/>
                  </a:lnTo>
                  <a:lnTo>
                    <a:pt x="662173" y="227148"/>
                  </a:lnTo>
                  <a:lnTo>
                    <a:pt x="374451" y="227148"/>
                  </a:lnTo>
                  <a:lnTo>
                    <a:pt x="374451" y="90859"/>
                  </a:lnTo>
                  <a:lnTo>
                    <a:pt x="483208" y="90859"/>
                  </a:lnTo>
                  <a:close/>
                  <a:moveTo>
                    <a:pt x="132159" y="1376"/>
                  </a:moveTo>
                  <a:lnTo>
                    <a:pt x="183096" y="1376"/>
                  </a:lnTo>
                  <a:lnTo>
                    <a:pt x="183096" y="15831"/>
                  </a:lnTo>
                  <a:lnTo>
                    <a:pt x="248487" y="15831"/>
                  </a:lnTo>
                  <a:lnTo>
                    <a:pt x="248487" y="61261"/>
                  </a:lnTo>
                  <a:lnTo>
                    <a:pt x="183096" y="61261"/>
                  </a:lnTo>
                  <a:lnTo>
                    <a:pt x="183096" y="75716"/>
                  </a:lnTo>
                  <a:lnTo>
                    <a:pt x="242980" y="75716"/>
                  </a:lnTo>
                  <a:lnTo>
                    <a:pt x="278085" y="6883"/>
                  </a:lnTo>
                  <a:lnTo>
                    <a:pt x="333152" y="6883"/>
                  </a:lnTo>
                  <a:lnTo>
                    <a:pt x="300112" y="75716"/>
                  </a:lnTo>
                  <a:lnTo>
                    <a:pt x="322827" y="75716"/>
                  </a:lnTo>
                  <a:lnTo>
                    <a:pt x="322827" y="121834"/>
                  </a:lnTo>
                  <a:lnTo>
                    <a:pt x="104626" y="121834"/>
                  </a:lnTo>
                  <a:lnTo>
                    <a:pt x="98105" y="134224"/>
                  </a:lnTo>
                  <a:lnTo>
                    <a:pt x="316632" y="134224"/>
                  </a:lnTo>
                  <a:lnTo>
                    <a:pt x="316632" y="178277"/>
                  </a:lnTo>
                  <a:lnTo>
                    <a:pt x="180342" y="178277"/>
                  </a:lnTo>
                  <a:lnTo>
                    <a:pt x="172771" y="190667"/>
                  </a:lnTo>
                  <a:lnTo>
                    <a:pt x="309748" y="190667"/>
                  </a:lnTo>
                  <a:lnTo>
                    <a:pt x="301488" y="301832"/>
                  </a:lnTo>
                  <a:lnTo>
                    <a:pt x="74340" y="301832"/>
                  </a:lnTo>
                  <a:lnTo>
                    <a:pt x="74340" y="256747"/>
                  </a:lnTo>
                  <a:lnTo>
                    <a:pt x="252617" y="256747"/>
                  </a:lnTo>
                  <a:lnTo>
                    <a:pt x="254682" y="235408"/>
                  </a:lnTo>
                  <a:lnTo>
                    <a:pt x="90860" y="235408"/>
                  </a:lnTo>
                  <a:lnTo>
                    <a:pt x="127341" y="178277"/>
                  </a:lnTo>
                  <a:lnTo>
                    <a:pt x="97743" y="178277"/>
                  </a:lnTo>
                  <a:lnTo>
                    <a:pt x="97743" y="134912"/>
                  </a:lnTo>
                  <a:lnTo>
                    <a:pt x="56443" y="213382"/>
                  </a:lnTo>
                  <a:lnTo>
                    <a:pt x="0" y="213382"/>
                  </a:lnTo>
                  <a:lnTo>
                    <a:pt x="48871" y="121834"/>
                  </a:lnTo>
                  <a:lnTo>
                    <a:pt x="14455" y="121834"/>
                  </a:lnTo>
                  <a:lnTo>
                    <a:pt x="14455" y="75716"/>
                  </a:lnTo>
                  <a:lnTo>
                    <a:pt x="132159" y="75716"/>
                  </a:lnTo>
                  <a:lnTo>
                    <a:pt x="132159" y="61261"/>
                  </a:lnTo>
                  <a:lnTo>
                    <a:pt x="29598" y="61261"/>
                  </a:lnTo>
                  <a:lnTo>
                    <a:pt x="29598" y="15831"/>
                  </a:lnTo>
                  <a:lnTo>
                    <a:pt x="132159" y="15831"/>
                  </a:lnTo>
                  <a:close/>
                  <a:moveTo>
                    <a:pt x="813606" y="0"/>
                  </a:moveTo>
                  <a:lnTo>
                    <a:pt x="872802" y="0"/>
                  </a:lnTo>
                  <a:lnTo>
                    <a:pt x="910661" y="57131"/>
                  </a:lnTo>
                  <a:lnTo>
                    <a:pt x="851464" y="5713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800" dirty="0">
                <a:solidFill>
                  <a:prstClr val="black"/>
                </a:solidFill>
                <a:latin typeface="锐字锐线怒放黑简1.0" panose="02010604000000000000" pitchFamily="2" charset="-122"/>
                <a:ea typeface="锐字锐线怒放黑简1.0" panose="02010604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4037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二级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2362572"/>
            <a:ext cx="12192000" cy="213285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2857501"/>
            <a:ext cx="10972800" cy="1143000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二级标题页</a:t>
            </a:r>
          </a:p>
        </p:txBody>
      </p:sp>
    </p:spTree>
    <p:extLst>
      <p:ext uri="{BB962C8B-B14F-4D97-AF65-F5344CB8AC3E}">
        <p14:creationId xmlns:p14="http://schemas.microsoft.com/office/powerpoint/2010/main" val="37867036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三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2495604" y="1"/>
            <a:ext cx="7200800" cy="4149080"/>
            <a:chOff x="2495600" y="0"/>
            <a:chExt cx="7200800" cy="4149080"/>
          </a:xfrm>
        </p:grpSpPr>
        <p:sp>
          <p:nvSpPr>
            <p:cNvPr id="7" name="矩形 6"/>
            <p:cNvSpPr/>
            <p:nvPr/>
          </p:nvSpPr>
          <p:spPr>
            <a:xfrm>
              <a:off x="2495600" y="2708920"/>
              <a:ext cx="7200800" cy="1440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711624" y="2852936"/>
              <a:ext cx="216024" cy="216024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9264354" y="2851870"/>
              <a:ext cx="216024" cy="216024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2819636" y="0"/>
              <a:ext cx="0" cy="295988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9372366" y="0"/>
              <a:ext cx="0" cy="295988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035664" y="2857501"/>
            <a:ext cx="612068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三级标题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6805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标题的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" y="1"/>
            <a:ext cx="12192000" cy="9278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1"/>
            <a:ext cx="10972800" cy="9278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带标题的内页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2771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标题的内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4" y="3"/>
            <a:ext cx="12192000" cy="1844825"/>
          </a:xfrm>
          <a:custGeom>
            <a:avLst/>
            <a:gdLst>
              <a:gd name="connsiteX0" fmla="*/ 0 w 12192000"/>
              <a:gd name="connsiteY0" fmla="*/ 0 h 1844825"/>
              <a:gd name="connsiteX1" fmla="*/ 12192000 w 12192000"/>
              <a:gd name="connsiteY1" fmla="*/ 0 h 1844825"/>
              <a:gd name="connsiteX2" fmla="*/ 12192000 w 12192000"/>
              <a:gd name="connsiteY2" fmla="*/ 224030 h 1844825"/>
              <a:gd name="connsiteX3" fmla="*/ 12133782 w 12192000"/>
              <a:gd name="connsiteY3" fmla="*/ 281700 h 1844825"/>
              <a:gd name="connsiteX4" fmla="*/ 6096000 w 12192000"/>
              <a:gd name="connsiteY4" fmla="*/ 1844825 h 1844825"/>
              <a:gd name="connsiteX5" fmla="*/ 58218 w 12192000"/>
              <a:gd name="connsiteY5" fmla="*/ 281700 h 1844825"/>
              <a:gd name="connsiteX6" fmla="*/ 0 w 12192000"/>
              <a:gd name="connsiteY6" fmla="*/ 224031 h 184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44825">
                <a:moveTo>
                  <a:pt x="0" y="0"/>
                </a:moveTo>
                <a:lnTo>
                  <a:pt x="12192000" y="0"/>
                </a:lnTo>
                <a:lnTo>
                  <a:pt x="12192000" y="224030"/>
                </a:lnTo>
                <a:lnTo>
                  <a:pt x="12133782" y="281700"/>
                </a:lnTo>
                <a:cubicBezTo>
                  <a:pt x="11139024" y="1200283"/>
                  <a:pt x="8810229" y="1844825"/>
                  <a:pt x="6096000" y="1844825"/>
                </a:cubicBezTo>
                <a:cubicBezTo>
                  <a:pt x="3381771" y="1844825"/>
                  <a:pt x="1052976" y="1200283"/>
                  <a:pt x="58218" y="281700"/>
                </a:cubicBezTo>
                <a:lnTo>
                  <a:pt x="0" y="224031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95604" y="458470"/>
            <a:ext cx="7200800" cy="9278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带标题的内页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29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小结的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4941168"/>
            <a:ext cx="12192000" cy="1916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5589240"/>
            <a:ext cx="10972800" cy="627378"/>
          </a:xfrm>
        </p:spPr>
        <p:txBody>
          <a:bodyPr>
            <a:normAutofit/>
          </a:bodyPr>
          <a:lstStyle>
            <a:lvl1pPr algn="l">
              <a:defRPr sz="3200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带小结的内页</a:t>
            </a:r>
          </a:p>
        </p:txBody>
      </p:sp>
      <p:sp>
        <p:nvSpPr>
          <p:cNvPr id="7" name="等腰三角形 6"/>
          <p:cNvSpPr/>
          <p:nvPr userDrawn="1"/>
        </p:nvSpPr>
        <p:spPr>
          <a:xfrm>
            <a:off x="609604" y="4780039"/>
            <a:ext cx="373832" cy="322269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9942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小结的内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4941168"/>
            <a:ext cx="12192000" cy="19168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5361" y="5102302"/>
            <a:ext cx="11521280" cy="1601254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带小结的内页</a:t>
            </a:r>
          </a:p>
        </p:txBody>
      </p:sp>
      <p:sp>
        <p:nvSpPr>
          <p:cNvPr id="7" name="等腰三角形 6"/>
          <p:cNvSpPr/>
          <p:nvPr userDrawn="1"/>
        </p:nvSpPr>
        <p:spPr>
          <a:xfrm>
            <a:off x="609604" y="4780039"/>
            <a:ext cx="373832" cy="322269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838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小结的内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" y="3960336"/>
            <a:ext cx="12192000" cy="2897664"/>
            <a:chOff x="0" y="3960336"/>
            <a:chExt cx="12192000" cy="2897664"/>
          </a:xfrm>
        </p:grpSpPr>
        <p:sp>
          <p:nvSpPr>
            <p:cNvPr id="11" name="矩形 10"/>
            <p:cNvSpPr/>
            <p:nvPr/>
          </p:nvSpPr>
          <p:spPr>
            <a:xfrm>
              <a:off x="0" y="4005064"/>
              <a:ext cx="12192000" cy="285293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44804" y="3960336"/>
              <a:ext cx="11902392" cy="216024"/>
              <a:chOff x="119336" y="4039899"/>
              <a:chExt cx="11902392" cy="216024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11933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47346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82760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8173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53586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188999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224412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259826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295239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330652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366065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401478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436892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472305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507718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543131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578544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613958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649371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684784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720197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755610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791024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826437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861850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897263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932676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968090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1003503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1038916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074329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1109742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1145156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180570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5361" y="4437112"/>
            <a:ext cx="11521280" cy="2266444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带小结的内页</a:t>
            </a:r>
          </a:p>
        </p:txBody>
      </p:sp>
    </p:spTree>
    <p:extLst>
      <p:ext uri="{BB962C8B-B14F-4D97-AF65-F5344CB8AC3E}">
        <p14:creationId xmlns:p14="http://schemas.microsoft.com/office/powerpoint/2010/main" val="16797096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标题及小结的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4941168"/>
            <a:ext cx="12192000" cy="19168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等腰三角形 6"/>
          <p:cNvSpPr/>
          <p:nvPr userDrawn="1"/>
        </p:nvSpPr>
        <p:spPr>
          <a:xfrm>
            <a:off x="609604" y="4780039"/>
            <a:ext cx="373832" cy="322269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4" y="1"/>
            <a:ext cx="12192000" cy="9278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1"/>
            <a:ext cx="10972800" cy="9278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带标题的内页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550867" y="5229232"/>
            <a:ext cx="11090275" cy="1439863"/>
          </a:xfrm>
        </p:spPr>
        <p:txBody>
          <a:bodyPr anchor="ctr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884249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命题探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1031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定向例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 userDrawn="1"/>
        </p:nvSpPr>
        <p:spPr>
          <a:xfrm>
            <a:off x="4" y="-2"/>
            <a:ext cx="12192000" cy="9087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-9033" y="904201"/>
            <a:ext cx="12201037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3222" y="189481"/>
            <a:ext cx="9199728" cy="529758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EA462-F370-42F9-9E2A-5189981B8EEF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DE3145-697B-43A0-8694-4C03B7FF113D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0" name="箭头: 五边形 19"/>
          <p:cNvSpPr/>
          <p:nvPr userDrawn="1"/>
        </p:nvSpPr>
        <p:spPr>
          <a:xfrm>
            <a:off x="-6915" y="0"/>
            <a:ext cx="1566415" cy="908720"/>
          </a:xfrm>
          <a:prstGeom prst="homePlate">
            <a:avLst>
              <a:gd name="adj" fmla="val 18662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73726" y="214781"/>
            <a:ext cx="1339748" cy="479158"/>
            <a:chOff x="-9037" y="393831"/>
            <a:chExt cx="1339748" cy="479158"/>
          </a:xfrm>
        </p:grpSpPr>
        <p:sp>
          <p:nvSpPr>
            <p:cNvPr id="18" name="Freeform 5"/>
            <p:cNvSpPr>
              <a:spLocks noEditPoints="1"/>
            </p:cNvSpPr>
            <p:nvPr userDrawn="1"/>
          </p:nvSpPr>
          <p:spPr bwMode="auto">
            <a:xfrm>
              <a:off x="435622" y="393831"/>
              <a:ext cx="481905" cy="479158"/>
            </a:xfrm>
            <a:custGeom>
              <a:avLst/>
              <a:gdLst>
                <a:gd name="T0" fmla="*/ 0 w 670"/>
                <a:gd name="T1" fmla="*/ 373 h 670"/>
                <a:gd name="T2" fmla="*/ 306 w 670"/>
                <a:gd name="T3" fmla="*/ 75 h 670"/>
                <a:gd name="T4" fmla="*/ 343 w 670"/>
                <a:gd name="T5" fmla="*/ 79 h 670"/>
                <a:gd name="T6" fmla="*/ 362 w 670"/>
                <a:gd name="T7" fmla="*/ 95 h 670"/>
                <a:gd name="T8" fmla="*/ 347 w 670"/>
                <a:gd name="T9" fmla="*/ 110 h 670"/>
                <a:gd name="T10" fmla="*/ 340 w 670"/>
                <a:gd name="T11" fmla="*/ 109 h 670"/>
                <a:gd name="T12" fmla="*/ 309 w 670"/>
                <a:gd name="T13" fmla="*/ 107 h 670"/>
                <a:gd name="T14" fmla="*/ 107 w 670"/>
                <a:gd name="T15" fmla="*/ 183 h 670"/>
                <a:gd name="T16" fmla="*/ 107 w 670"/>
                <a:gd name="T17" fmla="*/ 563 h 670"/>
                <a:gd name="T18" fmla="*/ 488 w 670"/>
                <a:gd name="T19" fmla="*/ 563 h 670"/>
                <a:gd name="T20" fmla="*/ 559 w 670"/>
                <a:gd name="T21" fmla="*/ 323 h 670"/>
                <a:gd name="T22" fmla="*/ 559 w 670"/>
                <a:gd name="T23" fmla="*/ 321 h 670"/>
                <a:gd name="T24" fmla="*/ 573 w 670"/>
                <a:gd name="T25" fmla="*/ 298 h 670"/>
                <a:gd name="T26" fmla="*/ 589 w 670"/>
                <a:gd name="T27" fmla="*/ 315 h 670"/>
                <a:gd name="T28" fmla="*/ 589 w 670"/>
                <a:gd name="T29" fmla="*/ 316 h 670"/>
                <a:gd name="T30" fmla="*/ 297 w 670"/>
                <a:gd name="T31" fmla="*/ 670 h 670"/>
                <a:gd name="T32" fmla="*/ 235 w 670"/>
                <a:gd name="T33" fmla="*/ 580 h 670"/>
                <a:gd name="T34" fmla="*/ 233 w 670"/>
                <a:gd name="T35" fmla="*/ 580 h 670"/>
                <a:gd name="T36" fmla="*/ 141 w 670"/>
                <a:gd name="T37" fmla="*/ 523 h 670"/>
                <a:gd name="T38" fmla="*/ 127 w 670"/>
                <a:gd name="T39" fmla="*/ 508 h 670"/>
                <a:gd name="T40" fmla="*/ 146 w 670"/>
                <a:gd name="T41" fmla="*/ 505 h 670"/>
                <a:gd name="T42" fmla="*/ 246 w 670"/>
                <a:gd name="T43" fmla="*/ 571 h 670"/>
                <a:gd name="T44" fmla="*/ 297 w 670"/>
                <a:gd name="T45" fmla="*/ 511 h 670"/>
                <a:gd name="T46" fmla="*/ 289 w 670"/>
                <a:gd name="T47" fmla="*/ 234 h 670"/>
                <a:gd name="T48" fmla="*/ 297 w 670"/>
                <a:gd name="T49" fmla="*/ 235 h 670"/>
                <a:gd name="T50" fmla="*/ 297 w 670"/>
                <a:gd name="T51" fmla="*/ 267 h 670"/>
                <a:gd name="T52" fmla="*/ 295 w 670"/>
                <a:gd name="T53" fmla="*/ 266 h 670"/>
                <a:gd name="T54" fmla="*/ 294 w 670"/>
                <a:gd name="T55" fmla="*/ 266 h 670"/>
                <a:gd name="T56" fmla="*/ 297 w 670"/>
                <a:gd name="T57" fmla="*/ 479 h 670"/>
                <a:gd name="T58" fmla="*/ 404 w 670"/>
                <a:gd name="T59" fmla="*/ 381 h 670"/>
                <a:gd name="T60" fmla="*/ 404 w 670"/>
                <a:gd name="T61" fmla="*/ 371 h 670"/>
                <a:gd name="T62" fmla="*/ 436 w 670"/>
                <a:gd name="T63" fmla="*/ 372 h 670"/>
                <a:gd name="T64" fmla="*/ 436 w 670"/>
                <a:gd name="T65" fmla="*/ 374 h 670"/>
                <a:gd name="T66" fmla="*/ 297 w 670"/>
                <a:gd name="T67" fmla="*/ 511 h 670"/>
                <a:gd name="T68" fmla="*/ 102 w 670"/>
                <a:gd name="T69" fmla="*/ 477 h 670"/>
                <a:gd name="T70" fmla="*/ 98 w 670"/>
                <a:gd name="T71" fmla="*/ 471 h 670"/>
                <a:gd name="T72" fmla="*/ 89 w 670"/>
                <a:gd name="T73" fmla="*/ 456 h 670"/>
                <a:gd name="T74" fmla="*/ 104 w 670"/>
                <a:gd name="T75" fmla="*/ 450 h 670"/>
                <a:gd name="T76" fmla="*/ 115 w 670"/>
                <a:gd name="T77" fmla="*/ 469 h 670"/>
                <a:gd name="T78" fmla="*/ 272 w 670"/>
                <a:gd name="T79" fmla="*/ 361 h 670"/>
                <a:gd name="T80" fmla="*/ 404 w 670"/>
                <a:gd name="T81" fmla="*/ 121 h 670"/>
                <a:gd name="T82" fmla="*/ 502 w 670"/>
                <a:gd name="T83" fmla="*/ 34 h 670"/>
                <a:gd name="T84" fmla="*/ 546 w 670"/>
                <a:gd name="T85" fmla="*/ 124 h 670"/>
                <a:gd name="T86" fmla="*/ 648 w 670"/>
                <a:gd name="T87" fmla="*/ 157 h 670"/>
                <a:gd name="T88" fmla="*/ 640 w 670"/>
                <a:gd name="T89" fmla="*/ 165 h 670"/>
                <a:gd name="T90" fmla="*/ 546 w 670"/>
                <a:gd name="T91" fmla="*/ 243 h 670"/>
                <a:gd name="T92" fmla="*/ 430 w 670"/>
                <a:gd name="T93" fmla="*/ 255 h 670"/>
                <a:gd name="T94" fmla="*/ 272 w 670"/>
                <a:gd name="T95" fmla="*/ 361 h 670"/>
                <a:gd name="T96" fmla="*/ 436 w 670"/>
                <a:gd name="T97" fmla="*/ 234 h 670"/>
                <a:gd name="T98" fmla="*/ 608 w 670"/>
                <a:gd name="T99" fmla="*/ 157 h 670"/>
                <a:gd name="T100" fmla="*/ 513 w 670"/>
                <a:gd name="T101" fmla="*/ 62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0" h="670">
                  <a:moveTo>
                    <a:pt x="297" y="670"/>
                  </a:moveTo>
                  <a:cubicBezTo>
                    <a:pt x="133" y="670"/>
                    <a:pt x="0" y="537"/>
                    <a:pt x="0" y="373"/>
                  </a:cubicBezTo>
                  <a:cubicBezTo>
                    <a:pt x="0" y="209"/>
                    <a:pt x="133" y="75"/>
                    <a:pt x="297" y="75"/>
                  </a:cubicBezTo>
                  <a:cubicBezTo>
                    <a:pt x="306" y="75"/>
                    <a:pt x="306" y="75"/>
                    <a:pt x="306" y="75"/>
                  </a:cubicBezTo>
                  <a:cubicBezTo>
                    <a:pt x="323" y="75"/>
                    <a:pt x="327" y="75"/>
                    <a:pt x="343" y="78"/>
                  </a:cubicBezTo>
                  <a:cubicBezTo>
                    <a:pt x="343" y="79"/>
                    <a:pt x="343" y="79"/>
                    <a:pt x="343" y="79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7" y="82"/>
                    <a:pt x="362" y="88"/>
                    <a:pt x="362" y="95"/>
                  </a:cubicBezTo>
                  <a:cubicBezTo>
                    <a:pt x="362" y="104"/>
                    <a:pt x="355" y="110"/>
                    <a:pt x="347" y="110"/>
                  </a:cubicBezTo>
                  <a:cubicBezTo>
                    <a:pt x="347" y="110"/>
                    <a:pt x="347" y="110"/>
                    <a:pt x="347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0" y="109"/>
                    <a:pt x="340" y="109"/>
                    <a:pt x="340" y="109"/>
                  </a:cubicBezTo>
                  <a:cubicBezTo>
                    <a:pt x="330" y="108"/>
                    <a:pt x="324" y="107"/>
                    <a:pt x="316" y="107"/>
                  </a:cubicBezTo>
                  <a:cubicBezTo>
                    <a:pt x="314" y="107"/>
                    <a:pt x="311" y="107"/>
                    <a:pt x="309" y="107"/>
                  </a:cubicBezTo>
                  <a:cubicBezTo>
                    <a:pt x="306" y="107"/>
                    <a:pt x="302" y="107"/>
                    <a:pt x="297" y="107"/>
                  </a:cubicBezTo>
                  <a:cubicBezTo>
                    <a:pt x="223" y="107"/>
                    <a:pt x="156" y="134"/>
                    <a:pt x="107" y="183"/>
                  </a:cubicBezTo>
                  <a:cubicBezTo>
                    <a:pt x="59" y="231"/>
                    <a:pt x="32" y="299"/>
                    <a:pt x="32" y="373"/>
                  </a:cubicBezTo>
                  <a:cubicBezTo>
                    <a:pt x="32" y="447"/>
                    <a:pt x="59" y="514"/>
                    <a:pt x="107" y="563"/>
                  </a:cubicBezTo>
                  <a:cubicBezTo>
                    <a:pt x="156" y="611"/>
                    <a:pt x="223" y="638"/>
                    <a:pt x="297" y="638"/>
                  </a:cubicBezTo>
                  <a:cubicBezTo>
                    <a:pt x="371" y="638"/>
                    <a:pt x="439" y="611"/>
                    <a:pt x="488" y="563"/>
                  </a:cubicBezTo>
                  <a:cubicBezTo>
                    <a:pt x="536" y="514"/>
                    <a:pt x="563" y="447"/>
                    <a:pt x="563" y="373"/>
                  </a:cubicBezTo>
                  <a:cubicBezTo>
                    <a:pt x="563" y="354"/>
                    <a:pt x="562" y="337"/>
                    <a:pt x="559" y="323"/>
                  </a:cubicBezTo>
                  <a:cubicBezTo>
                    <a:pt x="559" y="322"/>
                    <a:pt x="559" y="322"/>
                    <a:pt x="559" y="322"/>
                  </a:cubicBezTo>
                  <a:cubicBezTo>
                    <a:pt x="559" y="321"/>
                    <a:pt x="559" y="321"/>
                    <a:pt x="559" y="321"/>
                  </a:cubicBezTo>
                  <a:cubicBezTo>
                    <a:pt x="558" y="319"/>
                    <a:pt x="557" y="316"/>
                    <a:pt x="557" y="314"/>
                  </a:cubicBezTo>
                  <a:cubicBezTo>
                    <a:pt x="557" y="305"/>
                    <a:pt x="564" y="298"/>
                    <a:pt x="573" y="298"/>
                  </a:cubicBezTo>
                  <a:cubicBezTo>
                    <a:pt x="582" y="298"/>
                    <a:pt x="589" y="305"/>
                    <a:pt x="589" y="314"/>
                  </a:cubicBezTo>
                  <a:cubicBezTo>
                    <a:pt x="589" y="314"/>
                    <a:pt x="589" y="315"/>
                    <a:pt x="589" y="315"/>
                  </a:cubicBezTo>
                  <a:cubicBezTo>
                    <a:pt x="589" y="316"/>
                    <a:pt x="589" y="316"/>
                    <a:pt x="589" y="316"/>
                  </a:cubicBezTo>
                  <a:cubicBezTo>
                    <a:pt x="589" y="316"/>
                    <a:pt x="589" y="316"/>
                    <a:pt x="589" y="316"/>
                  </a:cubicBezTo>
                  <a:cubicBezTo>
                    <a:pt x="593" y="335"/>
                    <a:pt x="595" y="347"/>
                    <a:pt x="595" y="373"/>
                  </a:cubicBezTo>
                  <a:cubicBezTo>
                    <a:pt x="595" y="537"/>
                    <a:pt x="462" y="670"/>
                    <a:pt x="297" y="670"/>
                  </a:cubicBezTo>
                  <a:close/>
                  <a:moveTo>
                    <a:pt x="237" y="581"/>
                  </a:moveTo>
                  <a:cubicBezTo>
                    <a:pt x="236" y="581"/>
                    <a:pt x="236" y="580"/>
                    <a:pt x="235" y="580"/>
                  </a:cubicBezTo>
                  <a:cubicBezTo>
                    <a:pt x="234" y="580"/>
                    <a:pt x="234" y="580"/>
                    <a:pt x="234" y="580"/>
                  </a:cubicBezTo>
                  <a:cubicBezTo>
                    <a:pt x="233" y="580"/>
                    <a:pt x="233" y="580"/>
                    <a:pt x="233" y="580"/>
                  </a:cubicBezTo>
                  <a:cubicBezTo>
                    <a:pt x="198" y="568"/>
                    <a:pt x="166" y="549"/>
                    <a:pt x="140" y="524"/>
                  </a:cubicBezTo>
                  <a:cubicBezTo>
                    <a:pt x="141" y="523"/>
                    <a:pt x="141" y="523"/>
                    <a:pt x="141" y="523"/>
                  </a:cubicBezTo>
                  <a:cubicBezTo>
                    <a:pt x="131" y="515"/>
                    <a:pt x="131" y="515"/>
                    <a:pt x="131" y="515"/>
                  </a:cubicBezTo>
                  <a:cubicBezTo>
                    <a:pt x="129" y="514"/>
                    <a:pt x="127" y="511"/>
                    <a:pt x="127" y="508"/>
                  </a:cubicBezTo>
                  <a:cubicBezTo>
                    <a:pt x="127" y="503"/>
                    <a:pt x="131" y="499"/>
                    <a:pt x="136" y="499"/>
                  </a:cubicBezTo>
                  <a:cubicBezTo>
                    <a:pt x="138" y="499"/>
                    <a:pt x="143" y="502"/>
                    <a:pt x="146" y="505"/>
                  </a:cubicBezTo>
                  <a:cubicBezTo>
                    <a:pt x="173" y="532"/>
                    <a:pt x="206" y="552"/>
                    <a:pt x="241" y="564"/>
                  </a:cubicBezTo>
                  <a:cubicBezTo>
                    <a:pt x="243" y="565"/>
                    <a:pt x="246" y="567"/>
                    <a:pt x="246" y="571"/>
                  </a:cubicBezTo>
                  <a:cubicBezTo>
                    <a:pt x="245" y="572"/>
                    <a:pt x="244" y="581"/>
                    <a:pt x="237" y="581"/>
                  </a:cubicBezTo>
                  <a:close/>
                  <a:moveTo>
                    <a:pt x="297" y="511"/>
                  </a:moveTo>
                  <a:cubicBezTo>
                    <a:pt x="221" y="511"/>
                    <a:pt x="159" y="449"/>
                    <a:pt x="159" y="373"/>
                  </a:cubicBezTo>
                  <a:cubicBezTo>
                    <a:pt x="159" y="299"/>
                    <a:pt x="217" y="238"/>
                    <a:pt x="289" y="234"/>
                  </a:cubicBezTo>
                  <a:cubicBezTo>
                    <a:pt x="289" y="235"/>
                    <a:pt x="289" y="235"/>
                    <a:pt x="289" y="235"/>
                  </a:cubicBezTo>
                  <a:cubicBezTo>
                    <a:pt x="297" y="235"/>
                    <a:pt x="297" y="235"/>
                    <a:pt x="297" y="235"/>
                  </a:cubicBezTo>
                  <a:cubicBezTo>
                    <a:pt x="306" y="235"/>
                    <a:pt x="313" y="242"/>
                    <a:pt x="313" y="251"/>
                  </a:cubicBezTo>
                  <a:cubicBezTo>
                    <a:pt x="313" y="260"/>
                    <a:pt x="306" y="267"/>
                    <a:pt x="297" y="267"/>
                  </a:cubicBezTo>
                  <a:cubicBezTo>
                    <a:pt x="296" y="267"/>
                    <a:pt x="296" y="267"/>
                    <a:pt x="296" y="267"/>
                  </a:cubicBezTo>
                  <a:cubicBezTo>
                    <a:pt x="296" y="267"/>
                    <a:pt x="295" y="267"/>
                    <a:pt x="295" y="266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230" y="268"/>
                    <a:pt x="191" y="309"/>
                    <a:pt x="191" y="373"/>
                  </a:cubicBezTo>
                  <a:cubicBezTo>
                    <a:pt x="191" y="437"/>
                    <a:pt x="233" y="479"/>
                    <a:pt x="297" y="479"/>
                  </a:cubicBezTo>
                  <a:cubicBezTo>
                    <a:pt x="359" y="479"/>
                    <a:pt x="400" y="441"/>
                    <a:pt x="404" y="381"/>
                  </a:cubicBezTo>
                  <a:cubicBezTo>
                    <a:pt x="404" y="381"/>
                    <a:pt x="404" y="381"/>
                    <a:pt x="404" y="381"/>
                  </a:cubicBezTo>
                  <a:cubicBezTo>
                    <a:pt x="404" y="373"/>
                    <a:pt x="404" y="373"/>
                    <a:pt x="404" y="373"/>
                  </a:cubicBezTo>
                  <a:cubicBezTo>
                    <a:pt x="404" y="372"/>
                    <a:pt x="404" y="372"/>
                    <a:pt x="404" y="371"/>
                  </a:cubicBezTo>
                  <a:cubicBezTo>
                    <a:pt x="404" y="363"/>
                    <a:pt x="411" y="356"/>
                    <a:pt x="420" y="356"/>
                  </a:cubicBezTo>
                  <a:cubicBezTo>
                    <a:pt x="429" y="356"/>
                    <a:pt x="436" y="363"/>
                    <a:pt x="436" y="372"/>
                  </a:cubicBezTo>
                  <a:cubicBezTo>
                    <a:pt x="436" y="372"/>
                    <a:pt x="436" y="372"/>
                    <a:pt x="436" y="372"/>
                  </a:cubicBezTo>
                  <a:cubicBezTo>
                    <a:pt x="436" y="374"/>
                    <a:pt x="436" y="374"/>
                    <a:pt x="436" y="374"/>
                  </a:cubicBezTo>
                  <a:cubicBezTo>
                    <a:pt x="436" y="374"/>
                    <a:pt x="436" y="374"/>
                    <a:pt x="436" y="374"/>
                  </a:cubicBezTo>
                  <a:cubicBezTo>
                    <a:pt x="435" y="450"/>
                    <a:pt x="373" y="511"/>
                    <a:pt x="297" y="511"/>
                  </a:cubicBezTo>
                  <a:close/>
                  <a:moveTo>
                    <a:pt x="106" y="478"/>
                  </a:moveTo>
                  <a:cubicBezTo>
                    <a:pt x="105" y="478"/>
                    <a:pt x="104" y="478"/>
                    <a:pt x="102" y="477"/>
                  </a:cubicBezTo>
                  <a:cubicBezTo>
                    <a:pt x="101" y="475"/>
                    <a:pt x="99" y="473"/>
                    <a:pt x="98" y="473"/>
                  </a:cubicBezTo>
                  <a:cubicBezTo>
                    <a:pt x="98" y="472"/>
                    <a:pt x="98" y="471"/>
                    <a:pt x="98" y="471"/>
                  </a:cubicBezTo>
                  <a:cubicBezTo>
                    <a:pt x="97" y="471"/>
                    <a:pt x="97" y="471"/>
                    <a:pt x="97" y="470"/>
                  </a:cubicBezTo>
                  <a:cubicBezTo>
                    <a:pt x="90" y="460"/>
                    <a:pt x="89" y="457"/>
                    <a:pt x="89" y="456"/>
                  </a:cubicBezTo>
                  <a:cubicBezTo>
                    <a:pt x="89" y="451"/>
                    <a:pt x="93" y="447"/>
                    <a:pt x="98" y="447"/>
                  </a:cubicBezTo>
                  <a:cubicBezTo>
                    <a:pt x="100" y="447"/>
                    <a:pt x="102" y="448"/>
                    <a:pt x="104" y="450"/>
                  </a:cubicBezTo>
                  <a:cubicBezTo>
                    <a:pt x="115" y="467"/>
                    <a:pt x="115" y="467"/>
                    <a:pt x="115" y="467"/>
                  </a:cubicBezTo>
                  <a:cubicBezTo>
                    <a:pt x="115" y="468"/>
                    <a:pt x="115" y="469"/>
                    <a:pt x="115" y="469"/>
                  </a:cubicBezTo>
                  <a:cubicBezTo>
                    <a:pt x="115" y="474"/>
                    <a:pt x="111" y="478"/>
                    <a:pt x="106" y="478"/>
                  </a:cubicBezTo>
                  <a:close/>
                  <a:moveTo>
                    <a:pt x="272" y="361"/>
                  </a:moveTo>
                  <a:cubicBezTo>
                    <a:pt x="404" y="240"/>
                    <a:pt x="404" y="240"/>
                    <a:pt x="404" y="240"/>
                  </a:cubicBezTo>
                  <a:cubicBezTo>
                    <a:pt x="404" y="121"/>
                    <a:pt x="404" y="121"/>
                    <a:pt x="404" y="121"/>
                  </a:cubicBezTo>
                  <a:cubicBezTo>
                    <a:pt x="502" y="34"/>
                    <a:pt x="502" y="34"/>
                    <a:pt x="502" y="34"/>
                  </a:cubicBezTo>
                  <a:cubicBezTo>
                    <a:pt x="502" y="34"/>
                    <a:pt x="502" y="34"/>
                    <a:pt x="502" y="34"/>
                  </a:cubicBezTo>
                  <a:cubicBezTo>
                    <a:pt x="535" y="0"/>
                    <a:pt x="535" y="0"/>
                    <a:pt x="535" y="0"/>
                  </a:cubicBezTo>
                  <a:cubicBezTo>
                    <a:pt x="546" y="124"/>
                    <a:pt x="546" y="124"/>
                    <a:pt x="546" y="124"/>
                  </a:cubicBezTo>
                  <a:cubicBezTo>
                    <a:pt x="670" y="135"/>
                    <a:pt x="670" y="135"/>
                    <a:pt x="670" y="135"/>
                  </a:cubicBezTo>
                  <a:cubicBezTo>
                    <a:pt x="648" y="157"/>
                    <a:pt x="648" y="157"/>
                    <a:pt x="648" y="157"/>
                  </a:cubicBezTo>
                  <a:cubicBezTo>
                    <a:pt x="632" y="157"/>
                    <a:pt x="632" y="157"/>
                    <a:pt x="632" y="157"/>
                  </a:cubicBezTo>
                  <a:cubicBezTo>
                    <a:pt x="640" y="165"/>
                    <a:pt x="640" y="165"/>
                    <a:pt x="640" y="165"/>
                  </a:cubicBezTo>
                  <a:cubicBezTo>
                    <a:pt x="554" y="251"/>
                    <a:pt x="554" y="251"/>
                    <a:pt x="554" y="251"/>
                  </a:cubicBezTo>
                  <a:cubicBezTo>
                    <a:pt x="546" y="243"/>
                    <a:pt x="546" y="243"/>
                    <a:pt x="546" y="243"/>
                  </a:cubicBezTo>
                  <a:cubicBezTo>
                    <a:pt x="546" y="255"/>
                    <a:pt x="546" y="255"/>
                    <a:pt x="546" y="255"/>
                  </a:cubicBezTo>
                  <a:cubicBezTo>
                    <a:pt x="430" y="255"/>
                    <a:pt x="430" y="255"/>
                    <a:pt x="430" y="255"/>
                  </a:cubicBezTo>
                  <a:cubicBezTo>
                    <a:pt x="289" y="385"/>
                    <a:pt x="289" y="385"/>
                    <a:pt x="289" y="385"/>
                  </a:cubicBezTo>
                  <a:lnTo>
                    <a:pt x="272" y="361"/>
                  </a:lnTo>
                  <a:close/>
                  <a:moveTo>
                    <a:pt x="436" y="139"/>
                  </a:moveTo>
                  <a:cubicBezTo>
                    <a:pt x="436" y="234"/>
                    <a:pt x="436" y="234"/>
                    <a:pt x="436" y="234"/>
                  </a:cubicBezTo>
                  <a:cubicBezTo>
                    <a:pt x="531" y="234"/>
                    <a:pt x="531" y="234"/>
                    <a:pt x="531" y="234"/>
                  </a:cubicBezTo>
                  <a:cubicBezTo>
                    <a:pt x="608" y="157"/>
                    <a:pt x="608" y="157"/>
                    <a:pt x="608" y="157"/>
                  </a:cubicBezTo>
                  <a:cubicBezTo>
                    <a:pt x="513" y="157"/>
                    <a:pt x="513" y="157"/>
                    <a:pt x="513" y="157"/>
                  </a:cubicBezTo>
                  <a:cubicBezTo>
                    <a:pt x="513" y="62"/>
                    <a:pt x="513" y="62"/>
                    <a:pt x="513" y="62"/>
                  </a:cubicBezTo>
                  <a:lnTo>
                    <a:pt x="436" y="1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1" name="文本框 20"/>
            <p:cNvSpPr txBox="1"/>
            <p:nvPr userDrawn="1"/>
          </p:nvSpPr>
          <p:spPr>
            <a:xfrm>
              <a:off x="-9037" y="40257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prstClr val="white"/>
                  </a:solidFill>
                </a:rPr>
                <a:t>考</a:t>
              </a:r>
            </a:p>
          </p:txBody>
        </p:sp>
        <p:sp>
          <p:nvSpPr>
            <p:cNvPr id="22" name="文本框 21"/>
            <p:cNvSpPr txBox="1"/>
            <p:nvPr userDrawn="1"/>
          </p:nvSpPr>
          <p:spPr>
            <a:xfrm>
              <a:off x="838268" y="40257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prstClr val="white"/>
                  </a:solidFill>
                </a:rPr>
                <a:t>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27726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方法技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072640" cy="6858000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4697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提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4" y="0"/>
            <a:ext cx="2072351" cy="6858000"/>
            <a:chOff x="0" y="0"/>
            <a:chExt cx="2072351" cy="6858000"/>
          </a:xfrm>
        </p:grpSpPr>
        <p:sp>
          <p:nvSpPr>
            <p:cNvPr id="39" name="矩形 38"/>
            <p:cNvSpPr/>
            <p:nvPr/>
          </p:nvSpPr>
          <p:spPr>
            <a:xfrm>
              <a:off x="0" y="0"/>
              <a:ext cx="1952781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928335" y="133180"/>
              <a:ext cx="144016" cy="6552728"/>
              <a:chOff x="2135560" y="188640"/>
              <a:chExt cx="144016" cy="6552728"/>
            </a:xfrm>
            <a:solidFill>
              <a:srgbClr val="0070C0"/>
            </a:solidFill>
          </p:grpSpPr>
          <p:sp>
            <p:nvSpPr>
              <p:cNvPr id="41" name="椭圆 40"/>
              <p:cNvSpPr/>
              <p:nvPr/>
            </p:nvSpPr>
            <p:spPr>
              <a:xfrm>
                <a:off x="2135560" y="1886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2135560" y="4556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2135560" y="7227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2135560" y="9897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2135560" y="12567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2135560" y="15237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2135560" y="17908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2135560" y="20578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2135560" y="23248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2135560" y="25919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2135560" y="28589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2135560" y="31259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2135560" y="33930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2135560" y="36600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2135560" y="39270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2135560" y="41940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2135560" y="44611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2135560" y="47281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2135560" y="49951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2135560" y="52622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>
              <a:xfrm>
                <a:off x="2135560" y="55292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2135560" y="57962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2135560" y="60633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2135560" y="63303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2135560" y="6597352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66" name="组合 65"/>
          <p:cNvGrpSpPr/>
          <p:nvPr userDrawn="1"/>
        </p:nvGrpSpPr>
        <p:grpSpPr>
          <a:xfrm>
            <a:off x="574510" y="2186951"/>
            <a:ext cx="923330" cy="2484107"/>
            <a:chOff x="574510" y="2086040"/>
            <a:chExt cx="923330" cy="2484107"/>
          </a:xfrm>
        </p:grpSpPr>
        <p:sp>
          <p:nvSpPr>
            <p:cNvPr id="67" name="矩形 66"/>
            <p:cNvSpPr/>
            <p:nvPr/>
          </p:nvSpPr>
          <p:spPr>
            <a:xfrm>
              <a:off x="574510" y="3092819"/>
              <a:ext cx="923330" cy="1477328"/>
            </a:xfrm>
            <a:prstGeom prst="rect">
              <a:avLst/>
            </a:prstGeom>
          </p:spPr>
          <p:txBody>
            <a:bodyPr vert="eaVert" wrap="none" anchor="ctr">
              <a:spAutoFit/>
            </a:bodyPr>
            <a:lstStyle/>
            <a:p>
              <a:pPr algn="ctr"/>
              <a:r>
                <a:rPr lang="zh-CN" altLang="en-US" sz="4800" spc="600" dirty="0">
                  <a:solidFill>
                    <a:prstClr val="white"/>
                  </a:solidFill>
                </a:rPr>
                <a:t>提示</a:t>
              </a: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698875" y="2086040"/>
              <a:ext cx="674600" cy="709366"/>
              <a:chOff x="471487" y="193675"/>
              <a:chExt cx="1601789" cy="1684338"/>
            </a:xfrm>
            <a:solidFill>
              <a:schemeClr val="bg1"/>
            </a:solidFill>
          </p:grpSpPr>
          <p:sp>
            <p:nvSpPr>
              <p:cNvPr id="69" name="Freeform 5"/>
              <p:cNvSpPr>
                <a:spLocks noEditPoints="1"/>
              </p:cNvSpPr>
              <p:nvPr/>
            </p:nvSpPr>
            <p:spPr bwMode="auto">
              <a:xfrm>
                <a:off x="828675" y="620713"/>
                <a:ext cx="887413" cy="1131888"/>
              </a:xfrm>
              <a:custGeom>
                <a:avLst/>
                <a:gdLst>
                  <a:gd name="T0" fmla="*/ 270 w 411"/>
                  <a:gd name="T1" fmla="*/ 526 h 526"/>
                  <a:gd name="T2" fmla="*/ 141 w 411"/>
                  <a:gd name="T3" fmla="*/ 526 h 526"/>
                  <a:gd name="T4" fmla="*/ 93 w 411"/>
                  <a:gd name="T5" fmla="*/ 478 h 526"/>
                  <a:gd name="T6" fmla="*/ 93 w 411"/>
                  <a:gd name="T7" fmla="*/ 378 h 526"/>
                  <a:gd name="T8" fmla="*/ 28 w 411"/>
                  <a:gd name="T9" fmla="*/ 310 h 526"/>
                  <a:gd name="T10" fmla="*/ 0 w 411"/>
                  <a:gd name="T11" fmla="*/ 206 h 526"/>
                  <a:gd name="T12" fmla="*/ 60 w 411"/>
                  <a:gd name="T13" fmla="*/ 61 h 526"/>
                  <a:gd name="T14" fmla="*/ 205 w 411"/>
                  <a:gd name="T15" fmla="*/ 0 h 526"/>
                  <a:gd name="T16" fmla="*/ 350 w 411"/>
                  <a:gd name="T17" fmla="*/ 61 h 526"/>
                  <a:gd name="T18" fmla="*/ 411 w 411"/>
                  <a:gd name="T19" fmla="*/ 206 h 526"/>
                  <a:gd name="T20" fmla="*/ 382 w 411"/>
                  <a:gd name="T21" fmla="*/ 310 h 526"/>
                  <a:gd name="T22" fmla="*/ 317 w 411"/>
                  <a:gd name="T23" fmla="*/ 378 h 526"/>
                  <a:gd name="T24" fmla="*/ 317 w 411"/>
                  <a:gd name="T25" fmla="*/ 478 h 526"/>
                  <a:gd name="T26" fmla="*/ 270 w 411"/>
                  <a:gd name="T27" fmla="*/ 526 h 526"/>
                  <a:gd name="T28" fmla="*/ 205 w 411"/>
                  <a:gd name="T29" fmla="*/ 37 h 526"/>
                  <a:gd name="T30" fmla="*/ 85 w 411"/>
                  <a:gd name="T31" fmla="*/ 86 h 526"/>
                  <a:gd name="T32" fmla="*/ 36 w 411"/>
                  <a:gd name="T33" fmla="*/ 206 h 526"/>
                  <a:gd name="T34" fmla="*/ 59 w 411"/>
                  <a:gd name="T35" fmla="*/ 292 h 526"/>
                  <a:gd name="T36" fmla="*/ 120 w 411"/>
                  <a:gd name="T37" fmla="*/ 352 h 526"/>
                  <a:gd name="T38" fmla="*/ 129 w 411"/>
                  <a:gd name="T39" fmla="*/ 358 h 526"/>
                  <a:gd name="T40" fmla="*/ 129 w 411"/>
                  <a:gd name="T41" fmla="*/ 478 h 526"/>
                  <a:gd name="T42" fmla="*/ 141 w 411"/>
                  <a:gd name="T43" fmla="*/ 490 h 526"/>
                  <a:gd name="T44" fmla="*/ 270 w 411"/>
                  <a:gd name="T45" fmla="*/ 490 h 526"/>
                  <a:gd name="T46" fmla="*/ 281 w 411"/>
                  <a:gd name="T47" fmla="*/ 478 h 526"/>
                  <a:gd name="T48" fmla="*/ 281 w 411"/>
                  <a:gd name="T49" fmla="*/ 358 h 526"/>
                  <a:gd name="T50" fmla="*/ 290 w 411"/>
                  <a:gd name="T51" fmla="*/ 353 h 526"/>
                  <a:gd name="T52" fmla="*/ 351 w 411"/>
                  <a:gd name="T53" fmla="*/ 292 h 526"/>
                  <a:gd name="T54" fmla="*/ 375 w 411"/>
                  <a:gd name="T55" fmla="*/ 206 h 526"/>
                  <a:gd name="T56" fmla="*/ 325 w 411"/>
                  <a:gd name="T57" fmla="*/ 86 h 526"/>
                  <a:gd name="T58" fmla="*/ 205 w 411"/>
                  <a:gd name="T59" fmla="*/ 37 h 5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11" h="526">
                    <a:moveTo>
                      <a:pt x="270" y="526"/>
                    </a:moveTo>
                    <a:cubicBezTo>
                      <a:pt x="141" y="526"/>
                      <a:pt x="141" y="526"/>
                      <a:pt x="141" y="526"/>
                    </a:cubicBezTo>
                    <a:cubicBezTo>
                      <a:pt x="114" y="526"/>
                      <a:pt x="93" y="504"/>
                      <a:pt x="93" y="478"/>
                    </a:cubicBezTo>
                    <a:cubicBezTo>
                      <a:pt x="93" y="378"/>
                      <a:pt x="93" y="378"/>
                      <a:pt x="93" y="378"/>
                    </a:cubicBezTo>
                    <a:cubicBezTo>
                      <a:pt x="67" y="361"/>
                      <a:pt x="44" y="337"/>
                      <a:pt x="28" y="310"/>
                    </a:cubicBezTo>
                    <a:cubicBezTo>
                      <a:pt x="10" y="278"/>
                      <a:pt x="0" y="242"/>
                      <a:pt x="0" y="206"/>
                    </a:cubicBezTo>
                    <a:cubicBezTo>
                      <a:pt x="0" y="151"/>
                      <a:pt x="21" y="99"/>
                      <a:pt x="60" y="61"/>
                    </a:cubicBezTo>
                    <a:cubicBezTo>
                      <a:pt x="99" y="22"/>
                      <a:pt x="150" y="0"/>
                      <a:pt x="205" y="0"/>
                    </a:cubicBezTo>
                    <a:cubicBezTo>
                      <a:pt x="260" y="0"/>
                      <a:pt x="312" y="22"/>
                      <a:pt x="350" y="61"/>
                    </a:cubicBezTo>
                    <a:cubicBezTo>
                      <a:pt x="389" y="99"/>
                      <a:pt x="411" y="151"/>
                      <a:pt x="411" y="206"/>
                    </a:cubicBezTo>
                    <a:cubicBezTo>
                      <a:pt x="411" y="243"/>
                      <a:pt x="401" y="279"/>
                      <a:pt x="382" y="310"/>
                    </a:cubicBezTo>
                    <a:cubicBezTo>
                      <a:pt x="366" y="337"/>
                      <a:pt x="344" y="361"/>
                      <a:pt x="317" y="378"/>
                    </a:cubicBezTo>
                    <a:cubicBezTo>
                      <a:pt x="317" y="478"/>
                      <a:pt x="317" y="478"/>
                      <a:pt x="317" y="478"/>
                    </a:cubicBezTo>
                    <a:cubicBezTo>
                      <a:pt x="317" y="504"/>
                      <a:pt x="296" y="526"/>
                      <a:pt x="270" y="526"/>
                    </a:cubicBezTo>
                    <a:close/>
                    <a:moveTo>
                      <a:pt x="205" y="37"/>
                    </a:moveTo>
                    <a:cubicBezTo>
                      <a:pt x="160" y="37"/>
                      <a:pt x="117" y="54"/>
                      <a:pt x="85" y="86"/>
                    </a:cubicBezTo>
                    <a:cubicBezTo>
                      <a:pt x="53" y="118"/>
                      <a:pt x="36" y="161"/>
                      <a:pt x="36" y="206"/>
                    </a:cubicBezTo>
                    <a:cubicBezTo>
                      <a:pt x="36" y="236"/>
                      <a:pt x="44" y="266"/>
                      <a:pt x="59" y="292"/>
                    </a:cubicBezTo>
                    <a:cubicBezTo>
                      <a:pt x="74" y="317"/>
                      <a:pt x="95" y="338"/>
                      <a:pt x="120" y="352"/>
                    </a:cubicBezTo>
                    <a:cubicBezTo>
                      <a:pt x="129" y="358"/>
                      <a:pt x="129" y="358"/>
                      <a:pt x="129" y="358"/>
                    </a:cubicBezTo>
                    <a:cubicBezTo>
                      <a:pt x="129" y="478"/>
                      <a:pt x="129" y="478"/>
                      <a:pt x="129" y="478"/>
                    </a:cubicBezTo>
                    <a:cubicBezTo>
                      <a:pt x="129" y="484"/>
                      <a:pt x="134" y="490"/>
                      <a:pt x="141" y="490"/>
                    </a:cubicBezTo>
                    <a:cubicBezTo>
                      <a:pt x="270" y="490"/>
                      <a:pt x="270" y="490"/>
                      <a:pt x="270" y="490"/>
                    </a:cubicBezTo>
                    <a:cubicBezTo>
                      <a:pt x="276" y="490"/>
                      <a:pt x="281" y="484"/>
                      <a:pt x="281" y="478"/>
                    </a:cubicBezTo>
                    <a:cubicBezTo>
                      <a:pt x="281" y="358"/>
                      <a:pt x="281" y="358"/>
                      <a:pt x="281" y="358"/>
                    </a:cubicBezTo>
                    <a:cubicBezTo>
                      <a:pt x="290" y="353"/>
                      <a:pt x="290" y="353"/>
                      <a:pt x="290" y="353"/>
                    </a:cubicBezTo>
                    <a:cubicBezTo>
                      <a:pt x="315" y="338"/>
                      <a:pt x="336" y="317"/>
                      <a:pt x="351" y="292"/>
                    </a:cubicBezTo>
                    <a:cubicBezTo>
                      <a:pt x="366" y="266"/>
                      <a:pt x="375" y="236"/>
                      <a:pt x="375" y="206"/>
                    </a:cubicBezTo>
                    <a:cubicBezTo>
                      <a:pt x="375" y="161"/>
                      <a:pt x="357" y="118"/>
                      <a:pt x="325" y="86"/>
                    </a:cubicBezTo>
                    <a:cubicBezTo>
                      <a:pt x="293" y="54"/>
                      <a:pt x="250" y="37"/>
                      <a:pt x="205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Freeform 6"/>
              <p:cNvSpPr>
                <a:spLocks/>
              </p:cNvSpPr>
              <p:nvPr/>
            </p:nvSpPr>
            <p:spPr bwMode="auto">
              <a:xfrm>
                <a:off x="1098550" y="1800225"/>
                <a:ext cx="347663" cy="77788"/>
              </a:xfrm>
              <a:custGeom>
                <a:avLst/>
                <a:gdLst>
                  <a:gd name="T0" fmla="*/ 143 w 161"/>
                  <a:gd name="T1" fmla="*/ 36 h 36"/>
                  <a:gd name="T2" fmla="*/ 18 w 161"/>
                  <a:gd name="T3" fmla="*/ 36 h 36"/>
                  <a:gd name="T4" fmla="*/ 0 w 161"/>
                  <a:gd name="T5" fmla="*/ 18 h 36"/>
                  <a:gd name="T6" fmla="*/ 18 w 161"/>
                  <a:gd name="T7" fmla="*/ 0 h 36"/>
                  <a:gd name="T8" fmla="*/ 143 w 161"/>
                  <a:gd name="T9" fmla="*/ 0 h 36"/>
                  <a:gd name="T10" fmla="*/ 161 w 161"/>
                  <a:gd name="T11" fmla="*/ 18 h 36"/>
                  <a:gd name="T12" fmla="*/ 143 w 161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1" h="36">
                    <a:moveTo>
                      <a:pt x="143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143" y="0"/>
                      <a:pt x="143" y="0"/>
                      <a:pt x="143" y="0"/>
                    </a:cubicBezTo>
                    <a:cubicBezTo>
                      <a:pt x="153" y="0"/>
                      <a:pt x="161" y="8"/>
                      <a:pt x="161" y="18"/>
                    </a:cubicBezTo>
                    <a:cubicBezTo>
                      <a:pt x="161" y="28"/>
                      <a:pt x="153" y="36"/>
                      <a:pt x="143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Freeform 7"/>
              <p:cNvSpPr>
                <a:spLocks/>
              </p:cNvSpPr>
              <p:nvPr/>
            </p:nvSpPr>
            <p:spPr bwMode="auto">
              <a:xfrm>
                <a:off x="1231900" y="193675"/>
                <a:ext cx="77788" cy="346075"/>
              </a:xfrm>
              <a:custGeom>
                <a:avLst/>
                <a:gdLst>
                  <a:gd name="T0" fmla="*/ 0 w 36"/>
                  <a:gd name="T1" fmla="*/ 143 h 161"/>
                  <a:gd name="T2" fmla="*/ 0 w 36"/>
                  <a:gd name="T3" fmla="*/ 18 h 161"/>
                  <a:gd name="T4" fmla="*/ 18 w 36"/>
                  <a:gd name="T5" fmla="*/ 0 h 161"/>
                  <a:gd name="T6" fmla="*/ 36 w 36"/>
                  <a:gd name="T7" fmla="*/ 18 h 161"/>
                  <a:gd name="T8" fmla="*/ 36 w 36"/>
                  <a:gd name="T9" fmla="*/ 143 h 161"/>
                  <a:gd name="T10" fmla="*/ 18 w 36"/>
                  <a:gd name="T11" fmla="*/ 161 h 161"/>
                  <a:gd name="T12" fmla="*/ 0 w 36"/>
                  <a:gd name="T13" fmla="*/ 143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61">
                    <a:moveTo>
                      <a:pt x="0" y="143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ubicBezTo>
                      <a:pt x="36" y="143"/>
                      <a:pt x="36" y="143"/>
                      <a:pt x="36" y="143"/>
                    </a:cubicBezTo>
                    <a:cubicBezTo>
                      <a:pt x="36" y="153"/>
                      <a:pt x="28" y="161"/>
                      <a:pt x="18" y="161"/>
                    </a:cubicBezTo>
                    <a:cubicBezTo>
                      <a:pt x="8" y="161"/>
                      <a:pt x="0" y="153"/>
                      <a:pt x="0" y="1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Freeform 8"/>
              <p:cNvSpPr>
                <a:spLocks/>
              </p:cNvSpPr>
              <p:nvPr/>
            </p:nvSpPr>
            <p:spPr bwMode="auto">
              <a:xfrm>
                <a:off x="1609725" y="427038"/>
                <a:ext cx="276225" cy="274638"/>
              </a:xfrm>
              <a:custGeom>
                <a:avLst/>
                <a:gdLst>
                  <a:gd name="T0" fmla="*/ 8 w 128"/>
                  <a:gd name="T1" fmla="*/ 96 h 128"/>
                  <a:gd name="T2" fmla="*/ 96 w 128"/>
                  <a:gd name="T3" fmla="*/ 7 h 128"/>
                  <a:gd name="T4" fmla="*/ 121 w 128"/>
                  <a:gd name="T5" fmla="*/ 7 h 128"/>
                  <a:gd name="T6" fmla="*/ 121 w 128"/>
                  <a:gd name="T7" fmla="*/ 33 h 128"/>
                  <a:gd name="T8" fmla="*/ 33 w 128"/>
                  <a:gd name="T9" fmla="*/ 121 h 128"/>
                  <a:gd name="T10" fmla="*/ 8 w 128"/>
                  <a:gd name="T11" fmla="*/ 121 h 128"/>
                  <a:gd name="T12" fmla="*/ 8 w 128"/>
                  <a:gd name="T13" fmla="*/ 9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28">
                    <a:moveTo>
                      <a:pt x="8" y="96"/>
                    </a:moveTo>
                    <a:cubicBezTo>
                      <a:pt x="96" y="7"/>
                      <a:pt x="96" y="7"/>
                      <a:pt x="96" y="7"/>
                    </a:cubicBezTo>
                    <a:cubicBezTo>
                      <a:pt x="103" y="0"/>
                      <a:pt x="114" y="0"/>
                      <a:pt x="121" y="7"/>
                    </a:cubicBezTo>
                    <a:cubicBezTo>
                      <a:pt x="128" y="14"/>
                      <a:pt x="128" y="26"/>
                      <a:pt x="121" y="33"/>
                    </a:cubicBezTo>
                    <a:cubicBezTo>
                      <a:pt x="33" y="121"/>
                      <a:pt x="33" y="121"/>
                      <a:pt x="33" y="121"/>
                    </a:cubicBezTo>
                    <a:cubicBezTo>
                      <a:pt x="26" y="128"/>
                      <a:pt x="15" y="128"/>
                      <a:pt x="8" y="121"/>
                    </a:cubicBezTo>
                    <a:cubicBezTo>
                      <a:pt x="0" y="114"/>
                      <a:pt x="0" y="103"/>
                      <a:pt x="8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9"/>
              <p:cNvSpPr>
                <a:spLocks/>
              </p:cNvSpPr>
              <p:nvPr/>
            </p:nvSpPr>
            <p:spPr bwMode="auto">
              <a:xfrm>
                <a:off x="619125" y="427038"/>
                <a:ext cx="276225" cy="274638"/>
              </a:xfrm>
              <a:custGeom>
                <a:avLst/>
                <a:gdLst>
                  <a:gd name="T0" fmla="*/ 121 w 128"/>
                  <a:gd name="T1" fmla="*/ 96 h 128"/>
                  <a:gd name="T2" fmla="*/ 33 w 128"/>
                  <a:gd name="T3" fmla="*/ 7 h 128"/>
                  <a:gd name="T4" fmla="*/ 7 w 128"/>
                  <a:gd name="T5" fmla="*/ 7 h 128"/>
                  <a:gd name="T6" fmla="*/ 7 w 128"/>
                  <a:gd name="T7" fmla="*/ 33 h 128"/>
                  <a:gd name="T8" fmla="*/ 95 w 128"/>
                  <a:gd name="T9" fmla="*/ 121 h 128"/>
                  <a:gd name="T10" fmla="*/ 121 w 128"/>
                  <a:gd name="T11" fmla="*/ 121 h 128"/>
                  <a:gd name="T12" fmla="*/ 121 w 128"/>
                  <a:gd name="T13" fmla="*/ 9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28">
                    <a:moveTo>
                      <a:pt x="121" y="96"/>
                    </a:moveTo>
                    <a:cubicBezTo>
                      <a:pt x="33" y="7"/>
                      <a:pt x="33" y="7"/>
                      <a:pt x="33" y="7"/>
                    </a:cubicBezTo>
                    <a:cubicBezTo>
                      <a:pt x="26" y="0"/>
                      <a:pt x="14" y="0"/>
                      <a:pt x="7" y="7"/>
                    </a:cubicBezTo>
                    <a:cubicBezTo>
                      <a:pt x="0" y="14"/>
                      <a:pt x="0" y="26"/>
                      <a:pt x="7" y="33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102" y="128"/>
                      <a:pt x="114" y="128"/>
                      <a:pt x="121" y="121"/>
                    </a:cubicBezTo>
                    <a:cubicBezTo>
                      <a:pt x="128" y="114"/>
                      <a:pt x="128" y="103"/>
                      <a:pt x="121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10"/>
              <p:cNvSpPr>
                <a:spLocks/>
              </p:cNvSpPr>
              <p:nvPr/>
            </p:nvSpPr>
            <p:spPr bwMode="auto">
              <a:xfrm>
                <a:off x="1747838" y="958850"/>
                <a:ext cx="325438" cy="76200"/>
              </a:xfrm>
              <a:custGeom>
                <a:avLst/>
                <a:gdLst>
                  <a:gd name="T0" fmla="*/ 17 w 151"/>
                  <a:gd name="T1" fmla="*/ 0 h 36"/>
                  <a:gd name="T2" fmla="*/ 135 w 151"/>
                  <a:gd name="T3" fmla="*/ 0 h 36"/>
                  <a:gd name="T4" fmla="*/ 151 w 151"/>
                  <a:gd name="T5" fmla="*/ 18 h 36"/>
                  <a:gd name="T6" fmla="*/ 135 w 151"/>
                  <a:gd name="T7" fmla="*/ 36 h 36"/>
                  <a:gd name="T8" fmla="*/ 17 w 151"/>
                  <a:gd name="T9" fmla="*/ 36 h 36"/>
                  <a:gd name="T10" fmla="*/ 0 w 151"/>
                  <a:gd name="T11" fmla="*/ 18 h 36"/>
                  <a:gd name="T12" fmla="*/ 17 w 151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36">
                    <a:moveTo>
                      <a:pt x="17" y="0"/>
                    </a:moveTo>
                    <a:cubicBezTo>
                      <a:pt x="135" y="0"/>
                      <a:pt x="135" y="0"/>
                      <a:pt x="135" y="0"/>
                    </a:cubicBezTo>
                    <a:cubicBezTo>
                      <a:pt x="144" y="0"/>
                      <a:pt x="151" y="8"/>
                      <a:pt x="151" y="18"/>
                    </a:cubicBezTo>
                    <a:cubicBezTo>
                      <a:pt x="151" y="28"/>
                      <a:pt x="144" y="36"/>
                      <a:pt x="135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11"/>
              <p:cNvSpPr>
                <a:spLocks/>
              </p:cNvSpPr>
              <p:nvPr/>
            </p:nvSpPr>
            <p:spPr bwMode="auto">
              <a:xfrm>
                <a:off x="1044575" y="1474788"/>
                <a:ext cx="455613" cy="77788"/>
              </a:xfrm>
              <a:custGeom>
                <a:avLst/>
                <a:gdLst>
                  <a:gd name="T0" fmla="*/ 193 w 211"/>
                  <a:gd name="T1" fmla="*/ 36 h 36"/>
                  <a:gd name="T2" fmla="*/ 18 w 211"/>
                  <a:gd name="T3" fmla="*/ 36 h 36"/>
                  <a:gd name="T4" fmla="*/ 0 w 211"/>
                  <a:gd name="T5" fmla="*/ 18 h 36"/>
                  <a:gd name="T6" fmla="*/ 18 w 211"/>
                  <a:gd name="T7" fmla="*/ 0 h 36"/>
                  <a:gd name="T8" fmla="*/ 193 w 211"/>
                  <a:gd name="T9" fmla="*/ 0 h 36"/>
                  <a:gd name="T10" fmla="*/ 211 w 211"/>
                  <a:gd name="T11" fmla="*/ 18 h 36"/>
                  <a:gd name="T12" fmla="*/ 193 w 211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1" h="36">
                    <a:moveTo>
                      <a:pt x="193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193" y="0"/>
                      <a:pt x="193" y="0"/>
                      <a:pt x="193" y="0"/>
                    </a:cubicBezTo>
                    <a:cubicBezTo>
                      <a:pt x="203" y="0"/>
                      <a:pt x="211" y="8"/>
                      <a:pt x="211" y="18"/>
                    </a:cubicBezTo>
                    <a:cubicBezTo>
                      <a:pt x="211" y="28"/>
                      <a:pt x="203" y="36"/>
                      <a:pt x="193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Line 12"/>
              <p:cNvSpPr>
                <a:spLocks noChangeShapeType="1"/>
              </p:cNvSpPr>
              <p:nvPr/>
            </p:nvSpPr>
            <p:spPr bwMode="auto">
              <a:xfrm>
                <a:off x="1797050" y="754063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Line 13"/>
              <p:cNvSpPr>
                <a:spLocks noChangeShapeType="1"/>
              </p:cNvSpPr>
              <p:nvPr/>
            </p:nvSpPr>
            <p:spPr bwMode="auto">
              <a:xfrm>
                <a:off x="1797050" y="754063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14"/>
              <p:cNvSpPr>
                <a:spLocks/>
              </p:cNvSpPr>
              <p:nvPr/>
            </p:nvSpPr>
            <p:spPr bwMode="auto">
              <a:xfrm>
                <a:off x="471487" y="958850"/>
                <a:ext cx="325438" cy="76200"/>
              </a:xfrm>
              <a:custGeom>
                <a:avLst/>
                <a:gdLst>
                  <a:gd name="T0" fmla="*/ 17 w 151"/>
                  <a:gd name="T1" fmla="*/ 0 h 36"/>
                  <a:gd name="T2" fmla="*/ 134 w 151"/>
                  <a:gd name="T3" fmla="*/ 0 h 36"/>
                  <a:gd name="T4" fmla="*/ 151 w 151"/>
                  <a:gd name="T5" fmla="*/ 18 h 36"/>
                  <a:gd name="T6" fmla="*/ 134 w 151"/>
                  <a:gd name="T7" fmla="*/ 36 h 36"/>
                  <a:gd name="T8" fmla="*/ 17 w 151"/>
                  <a:gd name="T9" fmla="*/ 36 h 36"/>
                  <a:gd name="T10" fmla="*/ 0 w 151"/>
                  <a:gd name="T11" fmla="*/ 18 h 36"/>
                  <a:gd name="T12" fmla="*/ 17 w 151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36">
                    <a:moveTo>
                      <a:pt x="17" y="0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144" y="0"/>
                      <a:pt x="151" y="8"/>
                      <a:pt x="151" y="18"/>
                    </a:cubicBezTo>
                    <a:cubicBezTo>
                      <a:pt x="151" y="28"/>
                      <a:pt x="144" y="36"/>
                      <a:pt x="134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Line 15"/>
              <p:cNvSpPr>
                <a:spLocks noChangeShapeType="1"/>
              </p:cNvSpPr>
              <p:nvPr/>
            </p:nvSpPr>
            <p:spPr bwMode="auto">
              <a:xfrm>
                <a:off x="833438" y="80327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0" name="Line 16"/>
              <p:cNvSpPr>
                <a:spLocks noChangeShapeType="1"/>
              </p:cNvSpPr>
              <p:nvPr/>
            </p:nvSpPr>
            <p:spPr bwMode="auto">
              <a:xfrm>
                <a:off x="833438" y="80327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Line 17"/>
              <p:cNvSpPr>
                <a:spLocks noChangeShapeType="1"/>
              </p:cNvSpPr>
              <p:nvPr/>
            </p:nvSpPr>
            <p:spPr bwMode="auto">
              <a:xfrm>
                <a:off x="847725" y="72707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Line 18"/>
              <p:cNvSpPr>
                <a:spLocks noChangeShapeType="1"/>
              </p:cNvSpPr>
              <p:nvPr/>
            </p:nvSpPr>
            <p:spPr bwMode="auto">
              <a:xfrm>
                <a:off x="847725" y="72707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66503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拓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4" y="0"/>
            <a:ext cx="2072351" cy="6858000"/>
            <a:chOff x="0" y="0"/>
            <a:chExt cx="2072351" cy="6858000"/>
          </a:xfrm>
        </p:grpSpPr>
        <p:sp>
          <p:nvSpPr>
            <p:cNvPr id="84" name="矩形 83"/>
            <p:cNvSpPr/>
            <p:nvPr/>
          </p:nvSpPr>
          <p:spPr>
            <a:xfrm>
              <a:off x="0" y="0"/>
              <a:ext cx="1952781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1928335" y="133180"/>
              <a:ext cx="144016" cy="6552728"/>
              <a:chOff x="2135560" y="188640"/>
              <a:chExt cx="144016" cy="6552728"/>
            </a:xfrm>
            <a:solidFill>
              <a:srgbClr val="0070C0"/>
            </a:solidFill>
          </p:grpSpPr>
          <p:sp>
            <p:nvSpPr>
              <p:cNvPr id="86" name="椭圆 85"/>
              <p:cNvSpPr/>
              <p:nvPr/>
            </p:nvSpPr>
            <p:spPr>
              <a:xfrm>
                <a:off x="2135560" y="1886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2135560" y="4556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2135560" y="7227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2135560" y="9897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2135560" y="12567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1" name="椭圆 90"/>
              <p:cNvSpPr/>
              <p:nvPr/>
            </p:nvSpPr>
            <p:spPr>
              <a:xfrm>
                <a:off x="2135560" y="15237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2135560" y="17908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2135560" y="20578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2135560" y="23248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2135560" y="25919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2135560" y="28589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2135560" y="31259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2135560" y="33930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2135560" y="36600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2135560" y="39270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>
              <a:xfrm>
                <a:off x="2135560" y="41940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2135560" y="44611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2135560" y="47281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2135560" y="49951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2135560" y="52622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6" name="椭圆 105"/>
              <p:cNvSpPr/>
              <p:nvPr/>
            </p:nvSpPr>
            <p:spPr>
              <a:xfrm>
                <a:off x="2135560" y="55292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7" name="椭圆 106"/>
              <p:cNvSpPr/>
              <p:nvPr/>
            </p:nvSpPr>
            <p:spPr>
              <a:xfrm>
                <a:off x="2135560" y="57962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8" name="椭圆 107"/>
              <p:cNvSpPr/>
              <p:nvPr/>
            </p:nvSpPr>
            <p:spPr>
              <a:xfrm>
                <a:off x="2135560" y="60633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9" name="椭圆 108"/>
              <p:cNvSpPr/>
              <p:nvPr/>
            </p:nvSpPr>
            <p:spPr>
              <a:xfrm>
                <a:off x="2135560" y="63303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0" name="椭圆 109"/>
              <p:cNvSpPr/>
              <p:nvPr/>
            </p:nvSpPr>
            <p:spPr>
              <a:xfrm>
                <a:off x="2135560" y="6597352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111" name="矩形 110"/>
          <p:cNvSpPr/>
          <p:nvPr userDrawn="1"/>
        </p:nvSpPr>
        <p:spPr>
          <a:xfrm>
            <a:off x="574510" y="3193726"/>
            <a:ext cx="923330" cy="1477328"/>
          </a:xfrm>
          <a:prstGeom prst="rect">
            <a:avLst/>
          </a:prstGeom>
        </p:spPr>
        <p:txBody>
          <a:bodyPr vert="eaVert" wrap="none" anchor="ctr">
            <a:spAutoFit/>
          </a:bodyPr>
          <a:lstStyle/>
          <a:p>
            <a:pPr algn="ctr"/>
            <a:r>
              <a:rPr lang="zh-CN" altLang="en-US" sz="4800" spc="600" dirty="0">
                <a:solidFill>
                  <a:prstClr val="white"/>
                </a:solidFill>
              </a:rPr>
              <a:t>拓展</a:t>
            </a:r>
          </a:p>
        </p:txBody>
      </p:sp>
      <p:pic>
        <p:nvPicPr>
          <p:cNvPr id="112" name="图片 1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23" y="2099705"/>
            <a:ext cx="976498" cy="97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99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答题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4" y="0"/>
            <a:ext cx="2072351" cy="6858000"/>
            <a:chOff x="0" y="0"/>
            <a:chExt cx="2072351" cy="6858000"/>
          </a:xfrm>
        </p:grpSpPr>
        <p:sp>
          <p:nvSpPr>
            <p:cNvPr id="39" name="矩形 38"/>
            <p:cNvSpPr/>
            <p:nvPr/>
          </p:nvSpPr>
          <p:spPr>
            <a:xfrm>
              <a:off x="0" y="0"/>
              <a:ext cx="1952781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928335" y="133180"/>
              <a:ext cx="144016" cy="6552728"/>
              <a:chOff x="2135560" y="188640"/>
              <a:chExt cx="144016" cy="6552728"/>
            </a:xfrm>
            <a:solidFill>
              <a:srgbClr val="0070C0"/>
            </a:solidFill>
          </p:grpSpPr>
          <p:sp>
            <p:nvSpPr>
              <p:cNvPr id="41" name="椭圆 40"/>
              <p:cNvSpPr/>
              <p:nvPr/>
            </p:nvSpPr>
            <p:spPr>
              <a:xfrm>
                <a:off x="2135560" y="1886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2135560" y="4556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2135560" y="7227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2135560" y="9897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2135560" y="12567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2135560" y="15237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2135560" y="17908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2135560" y="20578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2135560" y="23248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2135560" y="25919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2135560" y="28589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2135560" y="31259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2135560" y="33930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2135560" y="36600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2135560" y="39270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2135560" y="41940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2135560" y="44611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2135560" y="47281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2135560" y="49951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2135560" y="52622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>
              <a:xfrm>
                <a:off x="2135560" y="55292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2135560" y="57962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2135560" y="60633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2135560" y="63303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2135560" y="6597352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69" name="标题 1"/>
          <p:cNvSpPr txBox="1">
            <a:spLocks/>
          </p:cNvSpPr>
          <p:nvPr userDrawn="1"/>
        </p:nvSpPr>
        <p:spPr>
          <a:xfrm>
            <a:off x="-3689" y="3035"/>
            <a:ext cx="1920865" cy="555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spc="600" dirty="0">
                <a:solidFill>
                  <a:prstClr val="white"/>
                </a:solidFill>
              </a:rPr>
              <a:t>答题模板</a:t>
            </a:r>
          </a:p>
        </p:txBody>
      </p:sp>
      <p:cxnSp>
        <p:nvCxnSpPr>
          <p:cNvPr id="70" name="直接连接符 69"/>
          <p:cNvCxnSpPr/>
          <p:nvPr userDrawn="1"/>
        </p:nvCxnSpPr>
        <p:spPr>
          <a:xfrm>
            <a:off x="0" y="558205"/>
            <a:ext cx="191717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272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读图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4" y="0"/>
            <a:ext cx="2072351" cy="6858000"/>
            <a:chOff x="0" y="0"/>
            <a:chExt cx="2072351" cy="6858000"/>
          </a:xfrm>
        </p:grpSpPr>
        <p:sp>
          <p:nvSpPr>
            <p:cNvPr id="70" name="矩形 69"/>
            <p:cNvSpPr/>
            <p:nvPr/>
          </p:nvSpPr>
          <p:spPr>
            <a:xfrm>
              <a:off x="0" y="0"/>
              <a:ext cx="1952781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1928335" y="133180"/>
              <a:ext cx="144016" cy="6552728"/>
              <a:chOff x="2135560" y="188640"/>
              <a:chExt cx="144016" cy="6552728"/>
            </a:xfrm>
            <a:solidFill>
              <a:srgbClr val="0070C0"/>
            </a:solidFill>
          </p:grpSpPr>
          <p:sp>
            <p:nvSpPr>
              <p:cNvPr id="72" name="椭圆 71"/>
              <p:cNvSpPr/>
              <p:nvPr/>
            </p:nvSpPr>
            <p:spPr>
              <a:xfrm>
                <a:off x="2135560" y="1886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2135560" y="4556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2135560" y="7227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5" name="椭圆 74"/>
              <p:cNvSpPr/>
              <p:nvPr/>
            </p:nvSpPr>
            <p:spPr>
              <a:xfrm>
                <a:off x="2135560" y="9897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2135560" y="12567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2135560" y="15237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2135560" y="17908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2135560" y="20578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2135560" y="23248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2135560" y="25919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2135560" y="28589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3" name="椭圆 82"/>
              <p:cNvSpPr/>
              <p:nvPr/>
            </p:nvSpPr>
            <p:spPr>
              <a:xfrm>
                <a:off x="2135560" y="31259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2135560" y="33930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2135560" y="36600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2135560" y="39270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2135560" y="41940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2135560" y="44611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2135560" y="47281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2135560" y="49951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1" name="椭圆 90"/>
              <p:cNvSpPr/>
              <p:nvPr/>
            </p:nvSpPr>
            <p:spPr>
              <a:xfrm>
                <a:off x="2135560" y="52622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2135560" y="55292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2135560" y="57962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2135560" y="60633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2135560" y="63303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2135560" y="6597352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97" name="组合 96"/>
          <p:cNvGrpSpPr/>
          <p:nvPr userDrawn="1"/>
        </p:nvGrpSpPr>
        <p:grpSpPr>
          <a:xfrm>
            <a:off x="574510" y="1557430"/>
            <a:ext cx="923330" cy="3743142"/>
            <a:chOff x="704663" y="1268760"/>
            <a:chExt cx="923330" cy="3743142"/>
          </a:xfrm>
        </p:grpSpPr>
        <p:sp>
          <p:nvSpPr>
            <p:cNvPr id="98" name="矩形 97"/>
            <p:cNvSpPr/>
            <p:nvPr/>
          </p:nvSpPr>
          <p:spPr>
            <a:xfrm>
              <a:off x="704663" y="2149580"/>
              <a:ext cx="923330" cy="2862322"/>
            </a:xfrm>
            <a:prstGeom prst="rect">
              <a:avLst/>
            </a:prstGeom>
          </p:spPr>
          <p:txBody>
            <a:bodyPr vert="eaVert" wrap="none" anchor="ctr">
              <a:spAutoFit/>
            </a:bodyPr>
            <a:lstStyle/>
            <a:p>
              <a:pPr algn="ctr"/>
              <a:r>
                <a:rPr lang="zh-CN" altLang="en-US" sz="4800" spc="600" dirty="0">
                  <a:solidFill>
                    <a:prstClr val="white"/>
                  </a:solidFill>
                </a:rPr>
                <a:t>读图模板</a:t>
              </a:r>
            </a:p>
          </p:txBody>
        </p:sp>
        <p:sp>
          <p:nvSpPr>
            <p:cNvPr id="99" name="Freeform 5"/>
            <p:cNvSpPr>
              <a:spLocks noEditPoints="1"/>
            </p:cNvSpPr>
            <p:nvPr/>
          </p:nvSpPr>
          <p:spPr bwMode="auto">
            <a:xfrm>
              <a:off x="766216" y="1268760"/>
              <a:ext cx="800222" cy="799370"/>
            </a:xfrm>
            <a:custGeom>
              <a:avLst/>
              <a:gdLst>
                <a:gd name="T0" fmla="*/ 0 w 939"/>
                <a:gd name="T1" fmla="*/ 0 h 938"/>
                <a:gd name="T2" fmla="*/ 0 w 939"/>
                <a:gd name="T3" fmla="*/ 938 h 938"/>
                <a:gd name="T4" fmla="*/ 939 w 939"/>
                <a:gd name="T5" fmla="*/ 938 h 938"/>
                <a:gd name="T6" fmla="*/ 939 w 939"/>
                <a:gd name="T7" fmla="*/ 0 h 938"/>
                <a:gd name="T8" fmla="*/ 0 w 939"/>
                <a:gd name="T9" fmla="*/ 0 h 938"/>
                <a:gd name="T10" fmla="*/ 899 w 939"/>
                <a:gd name="T11" fmla="*/ 897 h 938"/>
                <a:gd name="T12" fmla="*/ 41 w 939"/>
                <a:gd name="T13" fmla="*/ 897 h 938"/>
                <a:gd name="T14" fmla="*/ 41 w 939"/>
                <a:gd name="T15" fmla="*/ 41 h 938"/>
                <a:gd name="T16" fmla="*/ 899 w 939"/>
                <a:gd name="T17" fmla="*/ 41 h 938"/>
                <a:gd name="T18" fmla="*/ 899 w 939"/>
                <a:gd name="T19" fmla="*/ 897 h 938"/>
                <a:gd name="T20" fmla="*/ 809 w 939"/>
                <a:gd name="T21" fmla="*/ 151 h 938"/>
                <a:gd name="T22" fmla="*/ 131 w 939"/>
                <a:gd name="T23" fmla="*/ 151 h 938"/>
                <a:gd name="T24" fmla="*/ 131 w 939"/>
                <a:gd name="T25" fmla="*/ 390 h 938"/>
                <a:gd name="T26" fmla="*/ 809 w 939"/>
                <a:gd name="T27" fmla="*/ 390 h 938"/>
                <a:gd name="T28" fmla="*/ 809 w 939"/>
                <a:gd name="T29" fmla="*/ 151 h 938"/>
                <a:gd name="T30" fmla="*/ 776 w 939"/>
                <a:gd name="T31" fmla="*/ 357 h 938"/>
                <a:gd name="T32" fmla="*/ 163 w 939"/>
                <a:gd name="T33" fmla="*/ 357 h 938"/>
                <a:gd name="T34" fmla="*/ 163 w 939"/>
                <a:gd name="T35" fmla="*/ 182 h 938"/>
                <a:gd name="T36" fmla="*/ 776 w 939"/>
                <a:gd name="T37" fmla="*/ 182 h 938"/>
                <a:gd name="T38" fmla="*/ 776 w 939"/>
                <a:gd name="T39" fmla="*/ 357 h 938"/>
                <a:gd name="T40" fmla="*/ 508 w 939"/>
                <a:gd name="T41" fmla="*/ 574 h 938"/>
                <a:gd name="T42" fmla="*/ 809 w 939"/>
                <a:gd name="T43" fmla="*/ 574 h 938"/>
                <a:gd name="T44" fmla="*/ 809 w 939"/>
                <a:gd name="T45" fmla="*/ 452 h 938"/>
                <a:gd name="T46" fmla="*/ 508 w 939"/>
                <a:gd name="T47" fmla="*/ 452 h 938"/>
                <a:gd name="T48" fmla="*/ 508 w 939"/>
                <a:gd name="T49" fmla="*/ 574 h 938"/>
                <a:gd name="T50" fmla="*/ 541 w 939"/>
                <a:gd name="T51" fmla="*/ 485 h 938"/>
                <a:gd name="T52" fmla="*/ 776 w 939"/>
                <a:gd name="T53" fmla="*/ 485 h 938"/>
                <a:gd name="T54" fmla="*/ 776 w 939"/>
                <a:gd name="T55" fmla="*/ 543 h 938"/>
                <a:gd name="T56" fmla="*/ 541 w 939"/>
                <a:gd name="T57" fmla="*/ 543 h 938"/>
                <a:gd name="T58" fmla="*/ 541 w 939"/>
                <a:gd name="T59" fmla="*/ 485 h 938"/>
                <a:gd name="T60" fmla="*/ 508 w 939"/>
                <a:gd name="T61" fmla="*/ 745 h 938"/>
                <a:gd name="T62" fmla="*/ 809 w 939"/>
                <a:gd name="T63" fmla="*/ 745 h 938"/>
                <a:gd name="T64" fmla="*/ 809 w 939"/>
                <a:gd name="T65" fmla="*/ 623 h 938"/>
                <a:gd name="T66" fmla="*/ 508 w 939"/>
                <a:gd name="T67" fmla="*/ 623 h 938"/>
                <a:gd name="T68" fmla="*/ 508 w 939"/>
                <a:gd name="T69" fmla="*/ 745 h 938"/>
                <a:gd name="T70" fmla="*/ 541 w 939"/>
                <a:gd name="T71" fmla="*/ 654 h 938"/>
                <a:gd name="T72" fmla="*/ 776 w 939"/>
                <a:gd name="T73" fmla="*/ 654 h 938"/>
                <a:gd name="T74" fmla="*/ 776 w 939"/>
                <a:gd name="T75" fmla="*/ 713 h 938"/>
                <a:gd name="T76" fmla="*/ 541 w 939"/>
                <a:gd name="T77" fmla="*/ 713 h 938"/>
                <a:gd name="T78" fmla="*/ 541 w 939"/>
                <a:gd name="T79" fmla="*/ 654 h 938"/>
                <a:gd name="T80" fmla="*/ 137 w 939"/>
                <a:gd name="T81" fmla="*/ 810 h 938"/>
                <a:gd name="T82" fmla="*/ 438 w 939"/>
                <a:gd name="T83" fmla="*/ 810 h 938"/>
                <a:gd name="T84" fmla="*/ 438 w 939"/>
                <a:gd name="T85" fmla="*/ 428 h 938"/>
                <a:gd name="T86" fmla="*/ 137 w 939"/>
                <a:gd name="T87" fmla="*/ 428 h 938"/>
                <a:gd name="T88" fmla="*/ 137 w 939"/>
                <a:gd name="T89" fmla="*/ 810 h 938"/>
                <a:gd name="T90" fmla="*/ 170 w 939"/>
                <a:gd name="T91" fmla="*/ 460 h 938"/>
                <a:gd name="T92" fmla="*/ 405 w 939"/>
                <a:gd name="T93" fmla="*/ 460 h 938"/>
                <a:gd name="T94" fmla="*/ 405 w 939"/>
                <a:gd name="T95" fmla="*/ 778 h 938"/>
                <a:gd name="T96" fmla="*/ 170 w 939"/>
                <a:gd name="T97" fmla="*/ 778 h 938"/>
                <a:gd name="T98" fmla="*/ 170 w 939"/>
                <a:gd name="T99" fmla="*/ 460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39" h="938">
                  <a:moveTo>
                    <a:pt x="0" y="0"/>
                  </a:moveTo>
                  <a:lnTo>
                    <a:pt x="0" y="938"/>
                  </a:lnTo>
                  <a:lnTo>
                    <a:pt x="939" y="938"/>
                  </a:lnTo>
                  <a:lnTo>
                    <a:pt x="939" y="0"/>
                  </a:lnTo>
                  <a:lnTo>
                    <a:pt x="0" y="0"/>
                  </a:lnTo>
                  <a:close/>
                  <a:moveTo>
                    <a:pt x="899" y="897"/>
                  </a:moveTo>
                  <a:lnTo>
                    <a:pt x="41" y="897"/>
                  </a:lnTo>
                  <a:lnTo>
                    <a:pt x="41" y="41"/>
                  </a:lnTo>
                  <a:lnTo>
                    <a:pt x="899" y="41"/>
                  </a:lnTo>
                  <a:lnTo>
                    <a:pt x="899" y="897"/>
                  </a:lnTo>
                  <a:close/>
                  <a:moveTo>
                    <a:pt x="809" y="151"/>
                  </a:moveTo>
                  <a:lnTo>
                    <a:pt x="131" y="151"/>
                  </a:lnTo>
                  <a:lnTo>
                    <a:pt x="131" y="390"/>
                  </a:lnTo>
                  <a:lnTo>
                    <a:pt x="809" y="390"/>
                  </a:lnTo>
                  <a:lnTo>
                    <a:pt x="809" y="151"/>
                  </a:lnTo>
                  <a:close/>
                  <a:moveTo>
                    <a:pt x="776" y="357"/>
                  </a:moveTo>
                  <a:lnTo>
                    <a:pt x="163" y="357"/>
                  </a:lnTo>
                  <a:lnTo>
                    <a:pt x="163" y="182"/>
                  </a:lnTo>
                  <a:lnTo>
                    <a:pt x="776" y="182"/>
                  </a:lnTo>
                  <a:lnTo>
                    <a:pt x="776" y="357"/>
                  </a:lnTo>
                  <a:close/>
                  <a:moveTo>
                    <a:pt x="508" y="574"/>
                  </a:moveTo>
                  <a:lnTo>
                    <a:pt x="809" y="574"/>
                  </a:lnTo>
                  <a:lnTo>
                    <a:pt x="809" y="452"/>
                  </a:lnTo>
                  <a:lnTo>
                    <a:pt x="508" y="452"/>
                  </a:lnTo>
                  <a:lnTo>
                    <a:pt x="508" y="574"/>
                  </a:lnTo>
                  <a:close/>
                  <a:moveTo>
                    <a:pt x="541" y="485"/>
                  </a:moveTo>
                  <a:lnTo>
                    <a:pt x="776" y="485"/>
                  </a:lnTo>
                  <a:lnTo>
                    <a:pt x="776" y="543"/>
                  </a:lnTo>
                  <a:lnTo>
                    <a:pt x="541" y="543"/>
                  </a:lnTo>
                  <a:lnTo>
                    <a:pt x="541" y="485"/>
                  </a:lnTo>
                  <a:close/>
                  <a:moveTo>
                    <a:pt x="508" y="745"/>
                  </a:moveTo>
                  <a:lnTo>
                    <a:pt x="809" y="745"/>
                  </a:lnTo>
                  <a:lnTo>
                    <a:pt x="809" y="623"/>
                  </a:lnTo>
                  <a:lnTo>
                    <a:pt x="508" y="623"/>
                  </a:lnTo>
                  <a:lnTo>
                    <a:pt x="508" y="745"/>
                  </a:lnTo>
                  <a:close/>
                  <a:moveTo>
                    <a:pt x="541" y="654"/>
                  </a:moveTo>
                  <a:lnTo>
                    <a:pt x="776" y="654"/>
                  </a:lnTo>
                  <a:lnTo>
                    <a:pt x="776" y="713"/>
                  </a:lnTo>
                  <a:lnTo>
                    <a:pt x="541" y="713"/>
                  </a:lnTo>
                  <a:lnTo>
                    <a:pt x="541" y="654"/>
                  </a:lnTo>
                  <a:close/>
                  <a:moveTo>
                    <a:pt x="137" y="810"/>
                  </a:moveTo>
                  <a:lnTo>
                    <a:pt x="438" y="810"/>
                  </a:lnTo>
                  <a:lnTo>
                    <a:pt x="438" y="428"/>
                  </a:lnTo>
                  <a:lnTo>
                    <a:pt x="137" y="428"/>
                  </a:lnTo>
                  <a:lnTo>
                    <a:pt x="137" y="810"/>
                  </a:lnTo>
                  <a:close/>
                  <a:moveTo>
                    <a:pt x="170" y="460"/>
                  </a:moveTo>
                  <a:lnTo>
                    <a:pt x="405" y="460"/>
                  </a:lnTo>
                  <a:lnTo>
                    <a:pt x="405" y="778"/>
                  </a:lnTo>
                  <a:lnTo>
                    <a:pt x="170" y="778"/>
                  </a:lnTo>
                  <a:lnTo>
                    <a:pt x="170" y="46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75143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形突破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3759881" y="3967748"/>
            <a:ext cx="4672240" cy="414091"/>
            <a:chOff x="3791744" y="3505922"/>
            <a:chExt cx="4672240" cy="414091"/>
          </a:xfrm>
        </p:grpSpPr>
        <p:sp>
          <p:nvSpPr>
            <p:cNvPr id="9" name="文本框 8"/>
            <p:cNvSpPr txBox="1"/>
            <p:nvPr/>
          </p:nvSpPr>
          <p:spPr>
            <a:xfrm>
              <a:off x="4940535" y="3505922"/>
              <a:ext cx="2374659" cy="414091"/>
            </a:xfrm>
            <a:custGeom>
              <a:avLst/>
              <a:gdLst/>
              <a:ahLst/>
              <a:cxnLst/>
              <a:rect l="l" t="t" r="r" b="b"/>
              <a:pathLst>
                <a:path w="2374659" h="414091">
                  <a:moveTo>
                    <a:pt x="1015138" y="312048"/>
                  </a:moveTo>
                  <a:cubicBezTo>
                    <a:pt x="1047669" y="317114"/>
                    <a:pt x="1071268" y="324580"/>
                    <a:pt x="1085933" y="334447"/>
                  </a:cubicBezTo>
                  <a:cubicBezTo>
                    <a:pt x="1100599" y="344313"/>
                    <a:pt x="1108999" y="355912"/>
                    <a:pt x="1111132" y="369244"/>
                  </a:cubicBezTo>
                  <a:cubicBezTo>
                    <a:pt x="1112199" y="383910"/>
                    <a:pt x="1107532" y="392976"/>
                    <a:pt x="1097133" y="396443"/>
                  </a:cubicBezTo>
                  <a:cubicBezTo>
                    <a:pt x="1086733" y="399909"/>
                    <a:pt x="1077267" y="393510"/>
                    <a:pt x="1068734" y="377244"/>
                  </a:cubicBezTo>
                  <a:cubicBezTo>
                    <a:pt x="1064201" y="367378"/>
                    <a:pt x="1058135" y="357578"/>
                    <a:pt x="1050536" y="347846"/>
                  </a:cubicBezTo>
                  <a:cubicBezTo>
                    <a:pt x="1042936" y="338113"/>
                    <a:pt x="1030604" y="327514"/>
                    <a:pt x="1013538" y="316048"/>
                  </a:cubicBezTo>
                  <a:cubicBezTo>
                    <a:pt x="1011138" y="313914"/>
                    <a:pt x="1011671" y="312581"/>
                    <a:pt x="1015138" y="312048"/>
                  </a:cubicBezTo>
                  <a:close/>
                  <a:moveTo>
                    <a:pt x="909144" y="303648"/>
                  </a:moveTo>
                  <a:cubicBezTo>
                    <a:pt x="910477" y="303382"/>
                    <a:pt x="912211" y="303782"/>
                    <a:pt x="914344" y="304848"/>
                  </a:cubicBezTo>
                  <a:cubicBezTo>
                    <a:pt x="923143" y="309915"/>
                    <a:pt x="931076" y="315048"/>
                    <a:pt x="938142" y="320247"/>
                  </a:cubicBezTo>
                  <a:cubicBezTo>
                    <a:pt x="945209" y="325447"/>
                    <a:pt x="949008" y="330180"/>
                    <a:pt x="949542" y="334447"/>
                  </a:cubicBezTo>
                  <a:cubicBezTo>
                    <a:pt x="948475" y="336313"/>
                    <a:pt x="943942" y="338446"/>
                    <a:pt x="935943" y="340846"/>
                  </a:cubicBezTo>
                  <a:cubicBezTo>
                    <a:pt x="921543" y="351245"/>
                    <a:pt x="905478" y="361645"/>
                    <a:pt x="887745" y="372044"/>
                  </a:cubicBezTo>
                  <a:cubicBezTo>
                    <a:pt x="870013" y="382444"/>
                    <a:pt x="852214" y="390576"/>
                    <a:pt x="834349" y="396443"/>
                  </a:cubicBezTo>
                  <a:cubicBezTo>
                    <a:pt x="829816" y="397243"/>
                    <a:pt x="829016" y="396176"/>
                    <a:pt x="831949" y="393243"/>
                  </a:cubicBezTo>
                  <a:cubicBezTo>
                    <a:pt x="849015" y="381510"/>
                    <a:pt x="863947" y="367644"/>
                    <a:pt x="876746" y="351645"/>
                  </a:cubicBezTo>
                  <a:cubicBezTo>
                    <a:pt x="889545" y="335646"/>
                    <a:pt x="899412" y="320581"/>
                    <a:pt x="906344" y="306448"/>
                  </a:cubicBezTo>
                  <a:cubicBezTo>
                    <a:pt x="906878" y="304848"/>
                    <a:pt x="907811" y="303915"/>
                    <a:pt x="909144" y="303648"/>
                  </a:cubicBezTo>
                  <a:close/>
                  <a:moveTo>
                    <a:pt x="1928482" y="187655"/>
                  </a:moveTo>
                  <a:cubicBezTo>
                    <a:pt x="1930349" y="187655"/>
                    <a:pt x="1932548" y="188855"/>
                    <a:pt x="1935082" y="191255"/>
                  </a:cubicBezTo>
                  <a:lnTo>
                    <a:pt x="1956680" y="211254"/>
                  </a:lnTo>
                  <a:cubicBezTo>
                    <a:pt x="1967346" y="220587"/>
                    <a:pt x="1967613" y="224587"/>
                    <a:pt x="1957480" y="223253"/>
                  </a:cubicBezTo>
                  <a:lnTo>
                    <a:pt x="1875885" y="223253"/>
                  </a:lnTo>
                  <a:cubicBezTo>
                    <a:pt x="1874285" y="225653"/>
                    <a:pt x="1871885" y="227520"/>
                    <a:pt x="1868686" y="228853"/>
                  </a:cubicBezTo>
                  <a:lnTo>
                    <a:pt x="1868686" y="280850"/>
                  </a:lnTo>
                  <a:lnTo>
                    <a:pt x="1889484" y="280850"/>
                  </a:lnTo>
                  <a:lnTo>
                    <a:pt x="1902284" y="267251"/>
                  </a:lnTo>
                  <a:cubicBezTo>
                    <a:pt x="1904417" y="261384"/>
                    <a:pt x="1907883" y="261384"/>
                    <a:pt x="1912683" y="267251"/>
                  </a:cubicBezTo>
                  <a:lnTo>
                    <a:pt x="1930282" y="283250"/>
                  </a:lnTo>
                  <a:cubicBezTo>
                    <a:pt x="1940148" y="291516"/>
                    <a:pt x="1940948" y="295249"/>
                    <a:pt x="1932682" y="294449"/>
                  </a:cubicBezTo>
                  <a:lnTo>
                    <a:pt x="1868686" y="294449"/>
                  </a:lnTo>
                  <a:lnTo>
                    <a:pt x="1868686" y="360445"/>
                  </a:lnTo>
                  <a:cubicBezTo>
                    <a:pt x="1882285" y="361778"/>
                    <a:pt x="1895084" y="362311"/>
                    <a:pt x="1907083" y="362045"/>
                  </a:cubicBezTo>
                  <a:lnTo>
                    <a:pt x="1916683" y="362045"/>
                  </a:lnTo>
                  <a:cubicBezTo>
                    <a:pt x="1917483" y="362578"/>
                    <a:pt x="1934282" y="361245"/>
                    <a:pt x="1967080" y="358045"/>
                  </a:cubicBezTo>
                  <a:cubicBezTo>
                    <a:pt x="1968679" y="358578"/>
                    <a:pt x="1968679" y="359645"/>
                    <a:pt x="1967080" y="361245"/>
                  </a:cubicBezTo>
                  <a:cubicBezTo>
                    <a:pt x="1955080" y="370044"/>
                    <a:pt x="1946014" y="382044"/>
                    <a:pt x="1939881" y="397243"/>
                  </a:cubicBezTo>
                  <a:cubicBezTo>
                    <a:pt x="1939881" y="401509"/>
                    <a:pt x="1938815" y="403376"/>
                    <a:pt x="1936681" y="402842"/>
                  </a:cubicBezTo>
                  <a:lnTo>
                    <a:pt x="1900684" y="402842"/>
                  </a:lnTo>
                  <a:cubicBezTo>
                    <a:pt x="1880152" y="402842"/>
                    <a:pt x="1858753" y="396776"/>
                    <a:pt x="1836488" y="384643"/>
                  </a:cubicBezTo>
                  <a:cubicBezTo>
                    <a:pt x="1814222" y="372511"/>
                    <a:pt x="1798290" y="354445"/>
                    <a:pt x="1788691" y="330447"/>
                  </a:cubicBezTo>
                  <a:cubicBezTo>
                    <a:pt x="1776691" y="361912"/>
                    <a:pt x="1755093" y="386843"/>
                    <a:pt x="1723894" y="405242"/>
                  </a:cubicBezTo>
                  <a:cubicBezTo>
                    <a:pt x="1720428" y="406309"/>
                    <a:pt x="1719895" y="405509"/>
                    <a:pt x="1722295" y="402842"/>
                  </a:cubicBezTo>
                  <a:cubicBezTo>
                    <a:pt x="1742827" y="379377"/>
                    <a:pt x="1756226" y="353112"/>
                    <a:pt x="1762492" y="324047"/>
                  </a:cubicBezTo>
                  <a:cubicBezTo>
                    <a:pt x="1768758" y="294982"/>
                    <a:pt x="1771625" y="265917"/>
                    <a:pt x="1771092" y="236852"/>
                  </a:cubicBezTo>
                  <a:cubicBezTo>
                    <a:pt x="1770558" y="232053"/>
                    <a:pt x="1771625" y="230453"/>
                    <a:pt x="1774291" y="232053"/>
                  </a:cubicBezTo>
                  <a:cubicBezTo>
                    <a:pt x="1784957" y="234453"/>
                    <a:pt x="1794690" y="236919"/>
                    <a:pt x="1803490" y="239452"/>
                  </a:cubicBezTo>
                  <a:cubicBezTo>
                    <a:pt x="1812289" y="241985"/>
                    <a:pt x="1816955" y="245385"/>
                    <a:pt x="1817489" y="249652"/>
                  </a:cubicBezTo>
                  <a:cubicBezTo>
                    <a:pt x="1817222" y="253385"/>
                    <a:pt x="1814289" y="256318"/>
                    <a:pt x="1808689" y="258451"/>
                  </a:cubicBezTo>
                  <a:cubicBezTo>
                    <a:pt x="1805490" y="282183"/>
                    <a:pt x="1800423" y="302982"/>
                    <a:pt x="1793490" y="320847"/>
                  </a:cubicBezTo>
                  <a:cubicBezTo>
                    <a:pt x="1804156" y="337913"/>
                    <a:pt x="1818022" y="349646"/>
                    <a:pt x="1835088" y="356045"/>
                  </a:cubicBezTo>
                  <a:lnTo>
                    <a:pt x="1835088" y="223253"/>
                  </a:lnTo>
                  <a:lnTo>
                    <a:pt x="1763892" y="223253"/>
                  </a:lnTo>
                  <a:cubicBezTo>
                    <a:pt x="1759359" y="222720"/>
                    <a:pt x="1754559" y="224053"/>
                    <a:pt x="1749493" y="227253"/>
                  </a:cubicBezTo>
                  <a:lnTo>
                    <a:pt x="1738294" y="209654"/>
                  </a:lnTo>
                  <a:lnTo>
                    <a:pt x="1911083" y="209654"/>
                  </a:lnTo>
                  <a:lnTo>
                    <a:pt x="1923882" y="191255"/>
                  </a:lnTo>
                  <a:cubicBezTo>
                    <a:pt x="1925082" y="188855"/>
                    <a:pt x="1926615" y="187655"/>
                    <a:pt x="1928482" y="187655"/>
                  </a:cubicBezTo>
                  <a:close/>
                  <a:moveTo>
                    <a:pt x="218586" y="168657"/>
                  </a:moveTo>
                  <a:cubicBezTo>
                    <a:pt x="220586" y="168657"/>
                    <a:pt x="223186" y="170057"/>
                    <a:pt x="226386" y="172856"/>
                  </a:cubicBezTo>
                  <a:lnTo>
                    <a:pt x="258384" y="196855"/>
                  </a:lnTo>
                  <a:cubicBezTo>
                    <a:pt x="265584" y="203788"/>
                    <a:pt x="266917" y="207521"/>
                    <a:pt x="262384" y="208054"/>
                  </a:cubicBezTo>
                  <a:cubicBezTo>
                    <a:pt x="236785" y="208854"/>
                    <a:pt x="212787" y="215520"/>
                    <a:pt x="190388" y="228053"/>
                  </a:cubicBezTo>
                  <a:cubicBezTo>
                    <a:pt x="193588" y="228853"/>
                    <a:pt x="195188" y="230453"/>
                    <a:pt x="195188" y="232853"/>
                  </a:cubicBezTo>
                  <a:cubicBezTo>
                    <a:pt x="194121" y="237919"/>
                    <a:pt x="191188" y="241386"/>
                    <a:pt x="186388" y="243252"/>
                  </a:cubicBezTo>
                  <a:lnTo>
                    <a:pt x="186388" y="272050"/>
                  </a:lnTo>
                  <a:cubicBezTo>
                    <a:pt x="186388" y="273917"/>
                    <a:pt x="186388" y="275250"/>
                    <a:pt x="186388" y="276050"/>
                  </a:cubicBezTo>
                  <a:lnTo>
                    <a:pt x="263184" y="276050"/>
                  </a:lnTo>
                  <a:lnTo>
                    <a:pt x="279983" y="256851"/>
                  </a:lnTo>
                  <a:cubicBezTo>
                    <a:pt x="283182" y="251518"/>
                    <a:pt x="286916" y="251252"/>
                    <a:pt x="291182" y="256051"/>
                  </a:cubicBezTo>
                  <a:lnTo>
                    <a:pt x="314381" y="276850"/>
                  </a:lnTo>
                  <a:cubicBezTo>
                    <a:pt x="320247" y="282983"/>
                    <a:pt x="322847" y="286716"/>
                    <a:pt x="322180" y="288049"/>
                  </a:cubicBezTo>
                  <a:cubicBezTo>
                    <a:pt x="321513" y="289383"/>
                    <a:pt x="319447" y="289916"/>
                    <a:pt x="315980" y="289649"/>
                  </a:cubicBezTo>
                  <a:lnTo>
                    <a:pt x="186388" y="289649"/>
                  </a:lnTo>
                  <a:cubicBezTo>
                    <a:pt x="186122" y="325914"/>
                    <a:pt x="186655" y="352179"/>
                    <a:pt x="187988" y="368444"/>
                  </a:cubicBezTo>
                  <a:cubicBezTo>
                    <a:pt x="188255" y="379644"/>
                    <a:pt x="183189" y="388443"/>
                    <a:pt x="172789" y="394843"/>
                  </a:cubicBezTo>
                  <a:cubicBezTo>
                    <a:pt x="162390" y="401242"/>
                    <a:pt x="150924" y="404976"/>
                    <a:pt x="138391" y="406042"/>
                  </a:cubicBezTo>
                  <a:cubicBezTo>
                    <a:pt x="136525" y="406309"/>
                    <a:pt x="135191" y="405509"/>
                    <a:pt x="134392" y="403642"/>
                  </a:cubicBezTo>
                  <a:cubicBezTo>
                    <a:pt x="130658" y="389243"/>
                    <a:pt x="113859" y="375644"/>
                    <a:pt x="83995" y="362845"/>
                  </a:cubicBezTo>
                  <a:cubicBezTo>
                    <a:pt x="81861" y="360712"/>
                    <a:pt x="82128" y="359112"/>
                    <a:pt x="84795" y="358045"/>
                  </a:cubicBezTo>
                  <a:cubicBezTo>
                    <a:pt x="114659" y="362311"/>
                    <a:pt x="132792" y="363178"/>
                    <a:pt x="139191" y="360645"/>
                  </a:cubicBezTo>
                  <a:cubicBezTo>
                    <a:pt x="145591" y="358112"/>
                    <a:pt x="148257" y="354712"/>
                    <a:pt x="147191" y="350446"/>
                  </a:cubicBezTo>
                  <a:lnTo>
                    <a:pt x="147191" y="289649"/>
                  </a:lnTo>
                  <a:lnTo>
                    <a:pt x="25598" y="289649"/>
                  </a:lnTo>
                  <a:cubicBezTo>
                    <a:pt x="21065" y="288849"/>
                    <a:pt x="16265" y="290449"/>
                    <a:pt x="11199" y="294449"/>
                  </a:cubicBezTo>
                  <a:lnTo>
                    <a:pt x="0" y="276050"/>
                  </a:lnTo>
                  <a:lnTo>
                    <a:pt x="147191" y="276050"/>
                  </a:lnTo>
                  <a:lnTo>
                    <a:pt x="147191" y="262451"/>
                  </a:lnTo>
                  <a:cubicBezTo>
                    <a:pt x="147191" y="243519"/>
                    <a:pt x="146924" y="231786"/>
                    <a:pt x="146391" y="227253"/>
                  </a:cubicBezTo>
                  <a:cubicBezTo>
                    <a:pt x="143724" y="220853"/>
                    <a:pt x="143991" y="217920"/>
                    <a:pt x="147191" y="218454"/>
                  </a:cubicBezTo>
                  <a:cubicBezTo>
                    <a:pt x="151191" y="218454"/>
                    <a:pt x="156923" y="219054"/>
                    <a:pt x="164390" y="220253"/>
                  </a:cubicBezTo>
                  <a:cubicBezTo>
                    <a:pt x="171856" y="221453"/>
                    <a:pt x="178655" y="223253"/>
                    <a:pt x="184788" y="225653"/>
                  </a:cubicBezTo>
                  <a:lnTo>
                    <a:pt x="201587" y="196055"/>
                  </a:lnTo>
                  <a:lnTo>
                    <a:pt x="89594" y="196055"/>
                  </a:lnTo>
                  <a:cubicBezTo>
                    <a:pt x="85595" y="195255"/>
                    <a:pt x="80795" y="196855"/>
                    <a:pt x="75195" y="200855"/>
                  </a:cubicBezTo>
                  <a:lnTo>
                    <a:pt x="64796" y="183256"/>
                  </a:lnTo>
                  <a:lnTo>
                    <a:pt x="207187" y="183256"/>
                  </a:lnTo>
                  <a:lnTo>
                    <a:pt x="214387" y="172856"/>
                  </a:lnTo>
                  <a:cubicBezTo>
                    <a:pt x="215187" y="170057"/>
                    <a:pt x="216586" y="168657"/>
                    <a:pt x="218586" y="168657"/>
                  </a:cubicBezTo>
                  <a:close/>
                  <a:moveTo>
                    <a:pt x="566365" y="167257"/>
                  </a:moveTo>
                  <a:cubicBezTo>
                    <a:pt x="579164" y="171256"/>
                    <a:pt x="590497" y="177923"/>
                    <a:pt x="600363" y="187255"/>
                  </a:cubicBezTo>
                  <a:cubicBezTo>
                    <a:pt x="610229" y="196588"/>
                    <a:pt x="615429" y="206721"/>
                    <a:pt x="615962" y="217654"/>
                  </a:cubicBezTo>
                  <a:cubicBezTo>
                    <a:pt x="614629" y="230986"/>
                    <a:pt x="608496" y="238452"/>
                    <a:pt x="597563" y="240052"/>
                  </a:cubicBezTo>
                  <a:cubicBezTo>
                    <a:pt x="586631" y="241652"/>
                    <a:pt x="580498" y="232586"/>
                    <a:pt x="579164" y="212854"/>
                  </a:cubicBezTo>
                  <a:cubicBezTo>
                    <a:pt x="578898" y="205388"/>
                    <a:pt x="577364" y="197455"/>
                    <a:pt x="574565" y="189055"/>
                  </a:cubicBezTo>
                  <a:cubicBezTo>
                    <a:pt x="571765" y="180656"/>
                    <a:pt x="568498" y="174190"/>
                    <a:pt x="564765" y="169657"/>
                  </a:cubicBezTo>
                  <a:cubicBezTo>
                    <a:pt x="563699" y="167790"/>
                    <a:pt x="564232" y="166990"/>
                    <a:pt x="566365" y="167257"/>
                  </a:cubicBezTo>
                  <a:close/>
                  <a:moveTo>
                    <a:pt x="1814289" y="104061"/>
                  </a:moveTo>
                  <a:lnTo>
                    <a:pt x="1814289" y="151258"/>
                  </a:lnTo>
                  <a:lnTo>
                    <a:pt x="1889484" y="151258"/>
                  </a:lnTo>
                  <a:lnTo>
                    <a:pt x="1889484" y="104061"/>
                  </a:lnTo>
                  <a:lnTo>
                    <a:pt x="1820689" y="104061"/>
                  </a:lnTo>
                  <a:cubicBezTo>
                    <a:pt x="1819355" y="104061"/>
                    <a:pt x="1817222" y="104061"/>
                    <a:pt x="1814289" y="104061"/>
                  </a:cubicBezTo>
                  <a:close/>
                  <a:moveTo>
                    <a:pt x="564765" y="56863"/>
                  </a:moveTo>
                  <a:cubicBezTo>
                    <a:pt x="581031" y="60330"/>
                    <a:pt x="594830" y="66663"/>
                    <a:pt x="606163" y="75862"/>
                  </a:cubicBezTo>
                  <a:cubicBezTo>
                    <a:pt x="617495" y="85062"/>
                    <a:pt x="623428" y="94194"/>
                    <a:pt x="623962" y="103261"/>
                  </a:cubicBezTo>
                  <a:cubicBezTo>
                    <a:pt x="622362" y="117126"/>
                    <a:pt x="615962" y="124659"/>
                    <a:pt x="604763" y="125859"/>
                  </a:cubicBezTo>
                  <a:cubicBezTo>
                    <a:pt x="593564" y="127059"/>
                    <a:pt x="587164" y="118993"/>
                    <a:pt x="585564" y="101661"/>
                  </a:cubicBezTo>
                  <a:cubicBezTo>
                    <a:pt x="585297" y="95261"/>
                    <a:pt x="583164" y="87995"/>
                    <a:pt x="579164" y="79862"/>
                  </a:cubicBezTo>
                  <a:cubicBezTo>
                    <a:pt x="575165" y="71729"/>
                    <a:pt x="569832" y="65130"/>
                    <a:pt x="563165" y="60063"/>
                  </a:cubicBezTo>
                  <a:cubicBezTo>
                    <a:pt x="561299" y="58730"/>
                    <a:pt x="561832" y="57663"/>
                    <a:pt x="564765" y="56863"/>
                  </a:cubicBezTo>
                  <a:close/>
                  <a:moveTo>
                    <a:pt x="1814289" y="44064"/>
                  </a:moveTo>
                  <a:lnTo>
                    <a:pt x="1814289" y="90461"/>
                  </a:lnTo>
                  <a:lnTo>
                    <a:pt x="1889484" y="90461"/>
                  </a:lnTo>
                  <a:lnTo>
                    <a:pt x="1889484" y="44064"/>
                  </a:lnTo>
                  <a:close/>
                  <a:moveTo>
                    <a:pt x="518368" y="20066"/>
                  </a:moveTo>
                  <a:cubicBezTo>
                    <a:pt x="521835" y="21932"/>
                    <a:pt x="528101" y="27465"/>
                    <a:pt x="537167" y="36665"/>
                  </a:cubicBezTo>
                  <a:cubicBezTo>
                    <a:pt x="546233" y="45864"/>
                    <a:pt x="551433" y="53130"/>
                    <a:pt x="552766" y="58463"/>
                  </a:cubicBezTo>
                  <a:cubicBezTo>
                    <a:pt x="553833" y="61130"/>
                    <a:pt x="549033" y="62196"/>
                    <a:pt x="538367" y="61663"/>
                  </a:cubicBezTo>
                  <a:lnTo>
                    <a:pt x="536767" y="61663"/>
                  </a:lnTo>
                  <a:cubicBezTo>
                    <a:pt x="525568" y="64063"/>
                    <a:pt x="512768" y="65930"/>
                    <a:pt x="498369" y="67263"/>
                  </a:cubicBezTo>
                  <a:cubicBezTo>
                    <a:pt x="506635" y="69129"/>
                    <a:pt x="510902" y="71263"/>
                    <a:pt x="511169" y="73662"/>
                  </a:cubicBezTo>
                  <a:cubicBezTo>
                    <a:pt x="510635" y="78195"/>
                    <a:pt x="507702" y="81929"/>
                    <a:pt x="502369" y="84862"/>
                  </a:cubicBezTo>
                  <a:lnTo>
                    <a:pt x="502369" y="151258"/>
                  </a:lnTo>
                  <a:lnTo>
                    <a:pt x="512768" y="151258"/>
                  </a:lnTo>
                  <a:lnTo>
                    <a:pt x="527968" y="133659"/>
                  </a:lnTo>
                  <a:cubicBezTo>
                    <a:pt x="530901" y="128326"/>
                    <a:pt x="534367" y="128592"/>
                    <a:pt x="538367" y="134459"/>
                  </a:cubicBezTo>
                  <a:lnTo>
                    <a:pt x="555966" y="153658"/>
                  </a:lnTo>
                  <a:cubicBezTo>
                    <a:pt x="564765" y="162990"/>
                    <a:pt x="564765" y="166723"/>
                    <a:pt x="555966" y="164857"/>
                  </a:cubicBezTo>
                  <a:lnTo>
                    <a:pt x="502369" y="164857"/>
                  </a:lnTo>
                  <a:lnTo>
                    <a:pt x="502369" y="199255"/>
                  </a:lnTo>
                  <a:cubicBezTo>
                    <a:pt x="515702" y="203255"/>
                    <a:pt x="528301" y="209454"/>
                    <a:pt x="540167" y="217854"/>
                  </a:cubicBezTo>
                  <a:cubicBezTo>
                    <a:pt x="552033" y="226253"/>
                    <a:pt x="558366" y="236053"/>
                    <a:pt x="559166" y="247252"/>
                  </a:cubicBezTo>
                  <a:cubicBezTo>
                    <a:pt x="557566" y="260851"/>
                    <a:pt x="551366" y="268517"/>
                    <a:pt x="540567" y="270250"/>
                  </a:cubicBezTo>
                  <a:cubicBezTo>
                    <a:pt x="529767" y="271984"/>
                    <a:pt x="523701" y="263518"/>
                    <a:pt x="522368" y="244852"/>
                  </a:cubicBezTo>
                  <a:cubicBezTo>
                    <a:pt x="522368" y="240852"/>
                    <a:pt x="520701" y="235053"/>
                    <a:pt x="517368" y="227453"/>
                  </a:cubicBezTo>
                  <a:cubicBezTo>
                    <a:pt x="514035" y="219853"/>
                    <a:pt x="509035" y="212854"/>
                    <a:pt x="502369" y="206454"/>
                  </a:cubicBezTo>
                  <a:lnTo>
                    <a:pt x="502369" y="396443"/>
                  </a:lnTo>
                  <a:cubicBezTo>
                    <a:pt x="500769" y="404976"/>
                    <a:pt x="493570" y="409509"/>
                    <a:pt x="480770" y="410042"/>
                  </a:cubicBezTo>
                  <a:cubicBezTo>
                    <a:pt x="471438" y="412175"/>
                    <a:pt x="467705" y="407642"/>
                    <a:pt x="469571" y="396443"/>
                  </a:cubicBezTo>
                  <a:cubicBezTo>
                    <a:pt x="469838" y="389243"/>
                    <a:pt x="470038" y="379844"/>
                    <a:pt x="470171" y="368244"/>
                  </a:cubicBezTo>
                  <a:cubicBezTo>
                    <a:pt x="470304" y="356645"/>
                    <a:pt x="470371" y="346979"/>
                    <a:pt x="470371" y="339246"/>
                  </a:cubicBezTo>
                  <a:lnTo>
                    <a:pt x="470371" y="255251"/>
                  </a:lnTo>
                  <a:cubicBezTo>
                    <a:pt x="453572" y="282716"/>
                    <a:pt x="433307" y="307248"/>
                    <a:pt x="409575" y="328847"/>
                  </a:cubicBezTo>
                  <a:cubicBezTo>
                    <a:pt x="406375" y="331780"/>
                    <a:pt x="405575" y="330980"/>
                    <a:pt x="407175" y="326447"/>
                  </a:cubicBezTo>
                  <a:cubicBezTo>
                    <a:pt x="423440" y="300315"/>
                    <a:pt x="436373" y="272917"/>
                    <a:pt x="445972" y="244252"/>
                  </a:cubicBezTo>
                  <a:cubicBezTo>
                    <a:pt x="455572" y="215587"/>
                    <a:pt x="461838" y="189122"/>
                    <a:pt x="464771" y="164857"/>
                  </a:cubicBezTo>
                  <a:lnTo>
                    <a:pt x="430373" y="164857"/>
                  </a:lnTo>
                  <a:cubicBezTo>
                    <a:pt x="426640" y="164057"/>
                    <a:pt x="421841" y="165657"/>
                    <a:pt x="415974" y="169657"/>
                  </a:cubicBezTo>
                  <a:lnTo>
                    <a:pt x="405575" y="151258"/>
                  </a:lnTo>
                  <a:lnTo>
                    <a:pt x="470371" y="151258"/>
                  </a:lnTo>
                  <a:lnTo>
                    <a:pt x="470371" y="106460"/>
                  </a:lnTo>
                  <a:cubicBezTo>
                    <a:pt x="470371" y="87528"/>
                    <a:pt x="470371" y="75796"/>
                    <a:pt x="470371" y="71263"/>
                  </a:cubicBezTo>
                  <a:cubicBezTo>
                    <a:pt x="470371" y="70196"/>
                    <a:pt x="470104" y="69396"/>
                    <a:pt x="469571" y="68863"/>
                  </a:cubicBezTo>
                  <a:cubicBezTo>
                    <a:pt x="447706" y="70996"/>
                    <a:pt x="426374" y="71529"/>
                    <a:pt x="405575" y="70463"/>
                  </a:cubicBezTo>
                  <a:cubicBezTo>
                    <a:pt x="401042" y="69396"/>
                    <a:pt x="400509" y="68329"/>
                    <a:pt x="403975" y="67263"/>
                  </a:cubicBezTo>
                  <a:cubicBezTo>
                    <a:pt x="429307" y="61930"/>
                    <a:pt x="451572" y="55064"/>
                    <a:pt x="470771" y="46664"/>
                  </a:cubicBezTo>
                  <a:cubicBezTo>
                    <a:pt x="489970" y="38265"/>
                    <a:pt x="503969" y="29665"/>
                    <a:pt x="512768" y="20866"/>
                  </a:cubicBezTo>
                  <a:cubicBezTo>
                    <a:pt x="513835" y="19532"/>
                    <a:pt x="515702" y="19266"/>
                    <a:pt x="518368" y="20066"/>
                  </a:cubicBezTo>
                  <a:close/>
                  <a:moveTo>
                    <a:pt x="48797" y="17666"/>
                  </a:moveTo>
                  <a:cubicBezTo>
                    <a:pt x="65329" y="22732"/>
                    <a:pt x="79995" y="30598"/>
                    <a:pt x="92794" y="41264"/>
                  </a:cubicBezTo>
                  <a:cubicBezTo>
                    <a:pt x="105593" y="51930"/>
                    <a:pt x="112793" y="67796"/>
                    <a:pt x="114393" y="88861"/>
                  </a:cubicBezTo>
                  <a:cubicBezTo>
                    <a:pt x="112793" y="104327"/>
                    <a:pt x="105593" y="113260"/>
                    <a:pt x="92794" y="115660"/>
                  </a:cubicBezTo>
                  <a:cubicBezTo>
                    <a:pt x="79995" y="118060"/>
                    <a:pt x="72795" y="108594"/>
                    <a:pt x="71195" y="87262"/>
                  </a:cubicBezTo>
                  <a:cubicBezTo>
                    <a:pt x="70929" y="75796"/>
                    <a:pt x="68329" y="63796"/>
                    <a:pt x="63396" y="51264"/>
                  </a:cubicBezTo>
                  <a:cubicBezTo>
                    <a:pt x="58463" y="38731"/>
                    <a:pt x="52797" y="28332"/>
                    <a:pt x="46397" y="20066"/>
                  </a:cubicBezTo>
                  <a:cubicBezTo>
                    <a:pt x="45597" y="18466"/>
                    <a:pt x="46397" y="17666"/>
                    <a:pt x="48797" y="17666"/>
                  </a:cubicBezTo>
                  <a:close/>
                  <a:moveTo>
                    <a:pt x="1895284" y="11866"/>
                  </a:moveTo>
                  <a:cubicBezTo>
                    <a:pt x="1897417" y="11466"/>
                    <a:pt x="1899750" y="12333"/>
                    <a:pt x="1902284" y="14466"/>
                  </a:cubicBezTo>
                  <a:lnTo>
                    <a:pt x="1927082" y="32865"/>
                  </a:lnTo>
                  <a:cubicBezTo>
                    <a:pt x="1933215" y="36065"/>
                    <a:pt x="1933748" y="40064"/>
                    <a:pt x="1928682" y="44864"/>
                  </a:cubicBezTo>
                  <a:lnTo>
                    <a:pt x="1921482" y="54464"/>
                  </a:lnTo>
                  <a:lnTo>
                    <a:pt x="1921482" y="110460"/>
                  </a:lnTo>
                  <a:cubicBezTo>
                    <a:pt x="1921216" y="113393"/>
                    <a:pt x="1921216" y="120393"/>
                    <a:pt x="1921482" y="131459"/>
                  </a:cubicBezTo>
                  <a:cubicBezTo>
                    <a:pt x="1921749" y="142525"/>
                    <a:pt x="1922282" y="152858"/>
                    <a:pt x="1923082" y="162457"/>
                  </a:cubicBezTo>
                  <a:cubicBezTo>
                    <a:pt x="1924416" y="176323"/>
                    <a:pt x="1916949" y="183256"/>
                    <a:pt x="1900684" y="183256"/>
                  </a:cubicBezTo>
                  <a:cubicBezTo>
                    <a:pt x="1892951" y="184589"/>
                    <a:pt x="1889218" y="182189"/>
                    <a:pt x="1889484" y="176056"/>
                  </a:cubicBezTo>
                  <a:lnTo>
                    <a:pt x="1889484" y="164857"/>
                  </a:lnTo>
                  <a:lnTo>
                    <a:pt x="1819889" y="164857"/>
                  </a:lnTo>
                  <a:cubicBezTo>
                    <a:pt x="1818822" y="164857"/>
                    <a:pt x="1816955" y="164857"/>
                    <a:pt x="1814289" y="164857"/>
                  </a:cubicBezTo>
                  <a:lnTo>
                    <a:pt x="1814289" y="173656"/>
                  </a:lnTo>
                  <a:cubicBezTo>
                    <a:pt x="1812423" y="181389"/>
                    <a:pt x="1804956" y="185922"/>
                    <a:pt x="1791890" y="187255"/>
                  </a:cubicBezTo>
                  <a:cubicBezTo>
                    <a:pt x="1781758" y="189655"/>
                    <a:pt x="1778025" y="185122"/>
                    <a:pt x="1780691" y="173656"/>
                  </a:cubicBezTo>
                  <a:cubicBezTo>
                    <a:pt x="1780958" y="166190"/>
                    <a:pt x="1781158" y="156524"/>
                    <a:pt x="1781291" y="144658"/>
                  </a:cubicBezTo>
                  <a:cubicBezTo>
                    <a:pt x="1781424" y="132792"/>
                    <a:pt x="1781491" y="123259"/>
                    <a:pt x="1781491" y="116060"/>
                  </a:cubicBezTo>
                  <a:lnTo>
                    <a:pt x="1781491" y="57663"/>
                  </a:lnTo>
                  <a:cubicBezTo>
                    <a:pt x="1781491" y="38198"/>
                    <a:pt x="1781224" y="26199"/>
                    <a:pt x="1780691" y="21666"/>
                  </a:cubicBezTo>
                  <a:cubicBezTo>
                    <a:pt x="1778025" y="14999"/>
                    <a:pt x="1778291" y="11800"/>
                    <a:pt x="1781491" y="12066"/>
                  </a:cubicBezTo>
                  <a:cubicBezTo>
                    <a:pt x="1785757" y="12599"/>
                    <a:pt x="1792290" y="14999"/>
                    <a:pt x="1801090" y="19266"/>
                  </a:cubicBezTo>
                  <a:cubicBezTo>
                    <a:pt x="1809889" y="23532"/>
                    <a:pt x="1816155" y="27532"/>
                    <a:pt x="1819889" y="31265"/>
                  </a:cubicBezTo>
                  <a:lnTo>
                    <a:pt x="1878285" y="31265"/>
                  </a:lnTo>
                  <a:lnTo>
                    <a:pt x="1889484" y="16866"/>
                  </a:lnTo>
                  <a:cubicBezTo>
                    <a:pt x="1891218" y="13933"/>
                    <a:pt x="1893151" y="12266"/>
                    <a:pt x="1895284" y="11866"/>
                  </a:cubicBezTo>
                  <a:close/>
                  <a:moveTo>
                    <a:pt x="241585" y="10466"/>
                  </a:moveTo>
                  <a:cubicBezTo>
                    <a:pt x="254384" y="15266"/>
                    <a:pt x="265050" y="20666"/>
                    <a:pt x="273583" y="26665"/>
                  </a:cubicBezTo>
                  <a:cubicBezTo>
                    <a:pt x="282116" y="32665"/>
                    <a:pt x="285849" y="37665"/>
                    <a:pt x="284782" y="41664"/>
                  </a:cubicBezTo>
                  <a:cubicBezTo>
                    <a:pt x="283182" y="45397"/>
                    <a:pt x="279183" y="47797"/>
                    <a:pt x="272783" y="48864"/>
                  </a:cubicBezTo>
                  <a:cubicBezTo>
                    <a:pt x="258917" y="68863"/>
                    <a:pt x="239985" y="95528"/>
                    <a:pt x="215987" y="128859"/>
                  </a:cubicBezTo>
                  <a:lnTo>
                    <a:pt x="269583" y="128859"/>
                  </a:lnTo>
                  <a:lnTo>
                    <a:pt x="277583" y="117660"/>
                  </a:lnTo>
                  <a:cubicBezTo>
                    <a:pt x="279716" y="111260"/>
                    <a:pt x="283982" y="111527"/>
                    <a:pt x="290382" y="118460"/>
                  </a:cubicBezTo>
                  <a:lnTo>
                    <a:pt x="318380" y="142458"/>
                  </a:lnTo>
                  <a:cubicBezTo>
                    <a:pt x="327446" y="150458"/>
                    <a:pt x="328513" y="154724"/>
                    <a:pt x="321580" y="155257"/>
                  </a:cubicBezTo>
                  <a:cubicBezTo>
                    <a:pt x="311181" y="155257"/>
                    <a:pt x="299981" y="157324"/>
                    <a:pt x="287982" y="161457"/>
                  </a:cubicBezTo>
                  <a:cubicBezTo>
                    <a:pt x="275983" y="165590"/>
                    <a:pt x="265584" y="173123"/>
                    <a:pt x="256784" y="184056"/>
                  </a:cubicBezTo>
                  <a:lnTo>
                    <a:pt x="252784" y="184056"/>
                  </a:lnTo>
                  <a:lnTo>
                    <a:pt x="267183" y="142458"/>
                  </a:lnTo>
                  <a:lnTo>
                    <a:pt x="53596" y="142458"/>
                  </a:lnTo>
                  <a:cubicBezTo>
                    <a:pt x="52263" y="142458"/>
                    <a:pt x="50663" y="142458"/>
                    <a:pt x="48797" y="142458"/>
                  </a:cubicBezTo>
                  <a:cubicBezTo>
                    <a:pt x="50130" y="148325"/>
                    <a:pt x="50663" y="156591"/>
                    <a:pt x="50397" y="167257"/>
                  </a:cubicBezTo>
                  <a:cubicBezTo>
                    <a:pt x="47997" y="188322"/>
                    <a:pt x="39997" y="200588"/>
                    <a:pt x="26398" y="204054"/>
                  </a:cubicBezTo>
                  <a:cubicBezTo>
                    <a:pt x="11732" y="206188"/>
                    <a:pt x="3466" y="201721"/>
                    <a:pt x="1600" y="190655"/>
                  </a:cubicBezTo>
                  <a:cubicBezTo>
                    <a:pt x="-267" y="179589"/>
                    <a:pt x="2400" y="169923"/>
                    <a:pt x="9599" y="161657"/>
                  </a:cubicBezTo>
                  <a:cubicBezTo>
                    <a:pt x="18665" y="152058"/>
                    <a:pt x="24198" y="142392"/>
                    <a:pt x="26198" y="132659"/>
                  </a:cubicBezTo>
                  <a:cubicBezTo>
                    <a:pt x="28198" y="122926"/>
                    <a:pt x="29065" y="113393"/>
                    <a:pt x="28798" y="104061"/>
                  </a:cubicBezTo>
                  <a:cubicBezTo>
                    <a:pt x="28798" y="101394"/>
                    <a:pt x="29598" y="101394"/>
                    <a:pt x="31198" y="104061"/>
                  </a:cubicBezTo>
                  <a:cubicBezTo>
                    <a:pt x="35731" y="111260"/>
                    <a:pt x="39997" y="119526"/>
                    <a:pt x="43997" y="128859"/>
                  </a:cubicBezTo>
                  <a:lnTo>
                    <a:pt x="204787" y="128859"/>
                  </a:lnTo>
                  <a:cubicBezTo>
                    <a:pt x="221853" y="84062"/>
                    <a:pt x="232519" y="45931"/>
                    <a:pt x="236785" y="14466"/>
                  </a:cubicBezTo>
                  <a:cubicBezTo>
                    <a:pt x="237052" y="10466"/>
                    <a:pt x="238652" y="9133"/>
                    <a:pt x="241585" y="10466"/>
                  </a:cubicBezTo>
                  <a:close/>
                  <a:moveTo>
                    <a:pt x="2251862" y="8066"/>
                  </a:moveTo>
                  <a:cubicBezTo>
                    <a:pt x="2259062" y="8333"/>
                    <a:pt x="2268528" y="9866"/>
                    <a:pt x="2280260" y="12666"/>
                  </a:cubicBezTo>
                  <a:cubicBezTo>
                    <a:pt x="2291993" y="15466"/>
                    <a:pt x="2298526" y="18732"/>
                    <a:pt x="2299859" y="22466"/>
                  </a:cubicBezTo>
                  <a:cubicBezTo>
                    <a:pt x="2299059" y="27532"/>
                    <a:pt x="2296659" y="31265"/>
                    <a:pt x="2292660" y="33665"/>
                  </a:cubicBezTo>
                  <a:lnTo>
                    <a:pt x="2292660" y="187255"/>
                  </a:lnTo>
                  <a:lnTo>
                    <a:pt x="2313458" y="187255"/>
                  </a:lnTo>
                  <a:lnTo>
                    <a:pt x="2331857" y="168057"/>
                  </a:lnTo>
                  <a:cubicBezTo>
                    <a:pt x="2335591" y="162457"/>
                    <a:pt x="2339323" y="162457"/>
                    <a:pt x="2343057" y="168057"/>
                  </a:cubicBezTo>
                  <a:lnTo>
                    <a:pt x="2366255" y="187255"/>
                  </a:lnTo>
                  <a:cubicBezTo>
                    <a:pt x="2377188" y="197921"/>
                    <a:pt x="2377455" y="202455"/>
                    <a:pt x="2367055" y="200855"/>
                  </a:cubicBezTo>
                  <a:lnTo>
                    <a:pt x="2292660" y="200855"/>
                  </a:lnTo>
                  <a:lnTo>
                    <a:pt x="2292660" y="339246"/>
                  </a:lnTo>
                  <a:cubicBezTo>
                    <a:pt x="2292393" y="340579"/>
                    <a:pt x="2292326" y="346712"/>
                    <a:pt x="2292460" y="357645"/>
                  </a:cubicBezTo>
                  <a:cubicBezTo>
                    <a:pt x="2292593" y="368578"/>
                    <a:pt x="2292926" y="379110"/>
                    <a:pt x="2293460" y="389243"/>
                  </a:cubicBezTo>
                  <a:cubicBezTo>
                    <a:pt x="2293993" y="402842"/>
                    <a:pt x="2284660" y="409775"/>
                    <a:pt x="2265461" y="410042"/>
                  </a:cubicBezTo>
                  <a:cubicBezTo>
                    <a:pt x="2256129" y="411108"/>
                    <a:pt x="2251596" y="408709"/>
                    <a:pt x="2251862" y="402842"/>
                  </a:cubicBezTo>
                  <a:lnTo>
                    <a:pt x="2251862" y="200855"/>
                  </a:lnTo>
                  <a:lnTo>
                    <a:pt x="2180667" y="200855"/>
                  </a:lnTo>
                  <a:lnTo>
                    <a:pt x="2180667" y="218454"/>
                  </a:lnTo>
                  <a:cubicBezTo>
                    <a:pt x="2179867" y="264584"/>
                    <a:pt x="2167867" y="304515"/>
                    <a:pt x="2144669" y="338246"/>
                  </a:cubicBezTo>
                  <a:cubicBezTo>
                    <a:pt x="2121470" y="371978"/>
                    <a:pt x="2091872" y="393510"/>
                    <a:pt x="2055874" y="402842"/>
                  </a:cubicBezTo>
                  <a:cubicBezTo>
                    <a:pt x="2050808" y="402576"/>
                    <a:pt x="2049741" y="400709"/>
                    <a:pt x="2052674" y="397243"/>
                  </a:cubicBezTo>
                  <a:cubicBezTo>
                    <a:pt x="2083606" y="381244"/>
                    <a:pt x="2106671" y="357245"/>
                    <a:pt x="2121870" y="325247"/>
                  </a:cubicBezTo>
                  <a:cubicBezTo>
                    <a:pt x="2137069" y="293249"/>
                    <a:pt x="2144669" y="257651"/>
                    <a:pt x="2144669" y="218454"/>
                  </a:cubicBezTo>
                  <a:lnTo>
                    <a:pt x="2144669" y="200855"/>
                  </a:lnTo>
                  <a:lnTo>
                    <a:pt x="2073473" y="200855"/>
                  </a:lnTo>
                  <a:cubicBezTo>
                    <a:pt x="2068940" y="200321"/>
                    <a:pt x="2064140" y="201655"/>
                    <a:pt x="2059074" y="204854"/>
                  </a:cubicBezTo>
                  <a:lnTo>
                    <a:pt x="2047875" y="187255"/>
                  </a:lnTo>
                  <a:lnTo>
                    <a:pt x="2144669" y="187255"/>
                  </a:lnTo>
                  <a:lnTo>
                    <a:pt x="2144669" y="110460"/>
                  </a:lnTo>
                  <a:cubicBezTo>
                    <a:pt x="2144669" y="100594"/>
                    <a:pt x="2144669" y="90995"/>
                    <a:pt x="2144669" y="81662"/>
                  </a:cubicBezTo>
                  <a:cubicBezTo>
                    <a:pt x="2115870" y="89395"/>
                    <a:pt x="2086272" y="95794"/>
                    <a:pt x="2055874" y="100861"/>
                  </a:cubicBezTo>
                  <a:cubicBezTo>
                    <a:pt x="2050808" y="100861"/>
                    <a:pt x="2049741" y="99261"/>
                    <a:pt x="2052674" y="96061"/>
                  </a:cubicBezTo>
                  <a:cubicBezTo>
                    <a:pt x="2101471" y="78195"/>
                    <a:pt x="2144669" y="50197"/>
                    <a:pt x="2182266" y="12066"/>
                  </a:cubicBezTo>
                  <a:cubicBezTo>
                    <a:pt x="2183866" y="8866"/>
                    <a:pt x="2186000" y="8066"/>
                    <a:pt x="2188666" y="9666"/>
                  </a:cubicBezTo>
                  <a:cubicBezTo>
                    <a:pt x="2195866" y="13933"/>
                    <a:pt x="2204599" y="20066"/>
                    <a:pt x="2214864" y="28065"/>
                  </a:cubicBezTo>
                  <a:cubicBezTo>
                    <a:pt x="2225130" y="36065"/>
                    <a:pt x="2230797" y="42464"/>
                    <a:pt x="2231863" y="47264"/>
                  </a:cubicBezTo>
                  <a:cubicBezTo>
                    <a:pt x="2233463" y="50464"/>
                    <a:pt x="2228397" y="52330"/>
                    <a:pt x="2216664" y="52864"/>
                  </a:cubicBezTo>
                  <a:lnTo>
                    <a:pt x="2214264" y="53664"/>
                  </a:lnTo>
                  <a:cubicBezTo>
                    <a:pt x="2206532" y="58463"/>
                    <a:pt x="2193999" y="63530"/>
                    <a:pt x="2176667" y="68863"/>
                  </a:cubicBezTo>
                  <a:cubicBezTo>
                    <a:pt x="2184133" y="72063"/>
                    <a:pt x="2188133" y="74729"/>
                    <a:pt x="2188666" y="76862"/>
                  </a:cubicBezTo>
                  <a:cubicBezTo>
                    <a:pt x="2187866" y="82195"/>
                    <a:pt x="2185200" y="85928"/>
                    <a:pt x="2180667" y="88062"/>
                  </a:cubicBezTo>
                  <a:lnTo>
                    <a:pt x="2180667" y="187255"/>
                  </a:lnTo>
                  <a:lnTo>
                    <a:pt x="2251862" y="187255"/>
                  </a:lnTo>
                  <a:lnTo>
                    <a:pt x="2251862" y="52864"/>
                  </a:lnTo>
                  <a:cubicBezTo>
                    <a:pt x="2251862" y="33932"/>
                    <a:pt x="2251596" y="22199"/>
                    <a:pt x="2251062" y="17666"/>
                  </a:cubicBezTo>
                  <a:cubicBezTo>
                    <a:pt x="2249196" y="10466"/>
                    <a:pt x="2249462" y="7266"/>
                    <a:pt x="2251862" y="8066"/>
                  </a:cubicBezTo>
                  <a:close/>
                  <a:moveTo>
                    <a:pt x="1311920" y="7266"/>
                  </a:moveTo>
                  <a:cubicBezTo>
                    <a:pt x="1321252" y="8866"/>
                    <a:pt x="1331652" y="12333"/>
                    <a:pt x="1343118" y="17666"/>
                  </a:cubicBezTo>
                  <a:cubicBezTo>
                    <a:pt x="1354584" y="22999"/>
                    <a:pt x="1361250" y="31532"/>
                    <a:pt x="1363117" y="43264"/>
                  </a:cubicBezTo>
                  <a:cubicBezTo>
                    <a:pt x="1362317" y="56863"/>
                    <a:pt x="1356384" y="64596"/>
                    <a:pt x="1345318" y="66463"/>
                  </a:cubicBezTo>
                  <a:cubicBezTo>
                    <a:pt x="1334252" y="68329"/>
                    <a:pt x="1327385" y="62196"/>
                    <a:pt x="1324719" y="48064"/>
                  </a:cubicBezTo>
                  <a:cubicBezTo>
                    <a:pt x="1324452" y="35531"/>
                    <a:pt x="1319919" y="23265"/>
                    <a:pt x="1311120" y="11266"/>
                  </a:cubicBezTo>
                  <a:cubicBezTo>
                    <a:pt x="1309253" y="8866"/>
                    <a:pt x="1309520" y="7533"/>
                    <a:pt x="1311920" y="7266"/>
                  </a:cubicBezTo>
                  <a:close/>
                  <a:moveTo>
                    <a:pt x="1423513" y="5467"/>
                  </a:moveTo>
                  <a:cubicBezTo>
                    <a:pt x="1424313" y="5067"/>
                    <a:pt x="1425513" y="5133"/>
                    <a:pt x="1427113" y="5667"/>
                  </a:cubicBezTo>
                  <a:cubicBezTo>
                    <a:pt x="1454044" y="14199"/>
                    <a:pt x="1467377" y="21932"/>
                    <a:pt x="1467110" y="28865"/>
                  </a:cubicBezTo>
                  <a:cubicBezTo>
                    <a:pt x="1464977" y="32065"/>
                    <a:pt x="1462844" y="33932"/>
                    <a:pt x="1460711" y="34465"/>
                  </a:cubicBezTo>
                  <a:lnTo>
                    <a:pt x="1451911" y="36865"/>
                  </a:lnTo>
                  <a:cubicBezTo>
                    <a:pt x="1444445" y="49664"/>
                    <a:pt x="1435379" y="62463"/>
                    <a:pt x="1424713" y="75262"/>
                  </a:cubicBezTo>
                  <a:lnTo>
                    <a:pt x="1483909" y="75262"/>
                  </a:lnTo>
                  <a:lnTo>
                    <a:pt x="1497508" y="57663"/>
                  </a:lnTo>
                  <a:cubicBezTo>
                    <a:pt x="1500175" y="52330"/>
                    <a:pt x="1504441" y="52597"/>
                    <a:pt x="1510308" y="58463"/>
                  </a:cubicBezTo>
                  <a:lnTo>
                    <a:pt x="1529506" y="76862"/>
                  </a:lnTo>
                  <a:cubicBezTo>
                    <a:pt x="1539372" y="86995"/>
                    <a:pt x="1539639" y="90995"/>
                    <a:pt x="1530306" y="88861"/>
                  </a:cubicBezTo>
                  <a:lnTo>
                    <a:pt x="1405514" y="88861"/>
                  </a:lnTo>
                  <a:cubicBezTo>
                    <a:pt x="1403381" y="89928"/>
                    <a:pt x="1400448" y="91261"/>
                    <a:pt x="1396714" y="92861"/>
                  </a:cubicBezTo>
                  <a:cubicBezTo>
                    <a:pt x="1396981" y="106194"/>
                    <a:pt x="1396181" y="118193"/>
                    <a:pt x="1394315" y="128859"/>
                  </a:cubicBezTo>
                  <a:lnTo>
                    <a:pt x="1462310" y="128859"/>
                  </a:lnTo>
                  <a:lnTo>
                    <a:pt x="1475910" y="112060"/>
                  </a:lnTo>
                  <a:cubicBezTo>
                    <a:pt x="1478843" y="106460"/>
                    <a:pt x="1482576" y="106460"/>
                    <a:pt x="1487109" y="112060"/>
                  </a:cubicBezTo>
                  <a:lnTo>
                    <a:pt x="1505508" y="129659"/>
                  </a:lnTo>
                  <a:cubicBezTo>
                    <a:pt x="1514574" y="140058"/>
                    <a:pt x="1514574" y="144325"/>
                    <a:pt x="1505508" y="142458"/>
                  </a:cubicBezTo>
                  <a:lnTo>
                    <a:pt x="1392715" y="142458"/>
                  </a:lnTo>
                  <a:cubicBezTo>
                    <a:pt x="1390048" y="156857"/>
                    <a:pt x="1385782" y="170457"/>
                    <a:pt x="1379915" y="183256"/>
                  </a:cubicBezTo>
                  <a:lnTo>
                    <a:pt x="1491109" y="183256"/>
                  </a:lnTo>
                  <a:lnTo>
                    <a:pt x="1503108" y="166457"/>
                  </a:lnTo>
                  <a:cubicBezTo>
                    <a:pt x="1506574" y="159790"/>
                    <a:pt x="1510841" y="159524"/>
                    <a:pt x="1515907" y="165657"/>
                  </a:cubicBezTo>
                  <a:lnTo>
                    <a:pt x="1535906" y="184856"/>
                  </a:lnTo>
                  <a:cubicBezTo>
                    <a:pt x="1544172" y="193388"/>
                    <a:pt x="1543372" y="197122"/>
                    <a:pt x="1533506" y="196055"/>
                  </a:cubicBezTo>
                  <a:lnTo>
                    <a:pt x="1426313" y="196055"/>
                  </a:lnTo>
                  <a:cubicBezTo>
                    <a:pt x="1441778" y="217387"/>
                    <a:pt x="1460711" y="233186"/>
                    <a:pt x="1483109" y="243452"/>
                  </a:cubicBezTo>
                  <a:cubicBezTo>
                    <a:pt x="1505508" y="253718"/>
                    <a:pt x="1528973" y="260584"/>
                    <a:pt x="1553505" y="264051"/>
                  </a:cubicBezTo>
                  <a:cubicBezTo>
                    <a:pt x="1557238" y="266184"/>
                    <a:pt x="1557505" y="267784"/>
                    <a:pt x="1554305" y="268851"/>
                  </a:cubicBezTo>
                  <a:cubicBezTo>
                    <a:pt x="1543372" y="272850"/>
                    <a:pt x="1533239" y="280316"/>
                    <a:pt x="1523907" y="291249"/>
                  </a:cubicBezTo>
                  <a:cubicBezTo>
                    <a:pt x="1519640" y="297649"/>
                    <a:pt x="1515374" y="299515"/>
                    <a:pt x="1511107" y="296849"/>
                  </a:cubicBezTo>
                  <a:cubicBezTo>
                    <a:pt x="1495108" y="292049"/>
                    <a:pt x="1478309" y="282716"/>
                    <a:pt x="1460711" y="268851"/>
                  </a:cubicBezTo>
                  <a:cubicBezTo>
                    <a:pt x="1459111" y="271250"/>
                    <a:pt x="1457511" y="272850"/>
                    <a:pt x="1455911" y="273650"/>
                  </a:cubicBezTo>
                  <a:lnTo>
                    <a:pt x="1455911" y="339246"/>
                  </a:lnTo>
                  <a:cubicBezTo>
                    <a:pt x="1455644" y="341379"/>
                    <a:pt x="1455578" y="348046"/>
                    <a:pt x="1455711" y="359245"/>
                  </a:cubicBezTo>
                  <a:cubicBezTo>
                    <a:pt x="1455844" y="370444"/>
                    <a:pt x="1456178" y="380977"/>
                    <a:pt x="1456711" y="390843"/>
                  </a:cubicBezTo>
                  <a:cubicBezTo>
                    <a:pt x="1457777" y="403909"/>
                    <a:pt x="1449778" y="410309"/>
                    <a:pt x="1432712" y="410042"/>
                  </a:cubicBezTo>
                  <a:cubicBezTo>
                    <a:pt x="1426046" y="410842"/>
                    <a:pt x="1422580" y="408975"/>
                    <a:pt x="1422313" y="404442"/>
                  </a:cubicBezTo>
                  <a:lnTo>
                    <a:pt x="1422313" y="290449"/>
                  </a:lnTo>
                  <a:cubicBezTo>
                    <a:pt x="1422313" y="270717"/>
                    <a:pt x="1422046" y="259251"/>
                    <a:pt x="1421513" y="256051"/>
                  </a:cubicBezTo>
                  <a:cubicBezTo>
                    <a:pt x="1418580" y="249385"/>
                    <a:pt x="1418846" y="245919"/>
                    <a:pt x="1422313" y="245652"/>
                  </a:cubicBezTo>
                  <a:cubicBezTo>
                    <a:pt x="1427646" y="246719"/>
                    <a:pt x="1435912" y="249652"/>
                    <a:pt x="1447111" y="254451"/>
                  </a:cubicBezTo>
                  <a:cubicBezTo>
                    <a:pt x="1432712" y="237386"/>
                    <a:pt x="1422313" y="217920"/>
                    <a:pt x="1415913" y="196055"/>
                  </a:cubicBezTo>
                  <a:lnTo>
                    <a:pt x="1375116" y="196055"/>
                  </a:lnTo>
                  <a:cubicBezTo>
                    <a:pt x="1367383" y="211521"/>
                    <a:pt x="1358583" y="225653"/>
                    <a:pt x="1348717" y="238452"/>
                  </a:cubicBezTo>
                  <a:cubicBezTo>
                    <a:pt x="1363650" y="240586"/>
                    <a:pt x="1372183" y="245119"/>
                    <a:pt x="1374316" y="252052"/>
                  </a:cubicBezTo>
                  <a:cubicBezTo>
                    <a:pt x="1372983" y="254718"/>
                    <a:pt x="1369783" y="257651"/>
                    <a:pt x="1364716" y="260851"/>
                  </a:cubicBezTo>
                  <a:lnTo>
                    <a:pt x="1364716" y="294449"/>
                  </a:lnTo>
                  <a:cubicBezTo>
                    <a:pt x="1363383" y="333380"/>
                    <a:pt x="1350851" y="362778"/>
                    <a:pt x="1327119" y="382644"/>
                  </a:cubicBezTo>
                  <a:cubicBezTo>
                    <a:pt x="1303387" y="402509"/>
                    <a:pt x="1276189" y="411375"/>
                    <a:pt x="1245524" y="409242"/>
                  </a:cubicBezTo>
                  <a:cubicBezTo>
                    <a:pt x="1244724" y="408442"/>
                    <a:pt x="1244724" y="407642"/>
                    <a:pt x="1245524" y="406842"/>
                  </a:cubicBezTo>
                  <a:cubicBezTo>
                    <a:pt x="1268456" y="402309"/>
                    <a:pt x="1288588" y="389643"/>
                    <a:pt x="1305920" y="368844"/>
                  </a:cubicBezTo>
                  <a:cubicBezTo>
                    <a:pt x="1323252" y="348046"/>
                    <a:pt x="1332185" y="323247"/>
                    <a:pt x="1332718" y="294449"/>
                  </a:cubicBezTo>
                  <a:lnTo>
                    <a:pt x="1332718" y="280850"/>
                  </a:lnTo>
                  <a:cubicBezTo>
                    <a:pt x="1332718" y="270184"/>
                    <a:pt x="1332718" y="261918"/>
                    <a:pt x="1332718" y="256051"/>
                  </a:cubicBezTo>
                  <a:cubicBezTo>
                    <a:pt x="1304720" y="280583"/>
                    <a:pt x="1272722" y="295516"/>
                    <a:pt x="1236724" y="300849"/>
                  </a:cubicBezTo>
                  <a:cubicBezTo>
                    <a:pt x="1231391" y="300582"/>
                    <a:pt x="1230591" y="299515"/>
                    <a:pt x="1234324" y="297649"/>
                  </a:cubicBezTo>
                  <a:cubicBezTo>
                    <a:pt x="1281788" y="278717"/>
                    <a:pt x="1316986" y="244852"/>
                    <a:pt x="1339918" y="196055"/>
                  </a:cubicBezTo>
                  <a:lnTo>
                    <a:pt x="1257523" y="196055"/>
                  </a:lnTo>
                  <a:cubicBezTo>
                    <a:pt x="1253790" y="195255"/>
                    <a:pt x="1248990" y="196855"/>
                    <a:pt x="1243124" y="200855"/>
                  </a:cubicBezTo>
                  <a:lnTo>
                    <a:pt x="1231925" y="183256"/>
                  </a:lnTo>
                  <a:lnTo>
                    <a:pt x="1345518" y="183256"/>
                  </a:lnTo>
                  <a:cubicBezTo>
                    <a:pt x="1350317" y="170457"/>
                    <a:pt x="1354317" y="156857"/>
                    <a:pt x="1357517" y="142458"/>
                  </a:cubicBezTo>
                  <a:lnTo>
                    <a:pt x="1279122" y="142458"/>
                  </a:lnTo>
                  <a:cubicBezTo>
                    <a:pt x="1275389" y="141925"/>
                    <a:pt x="1270589" y="143258"/>
                    <a:pt x="1264723" y="146458"/>
                  </a:cubicBezTo>
                  <a:lnTo>
                    <a:pt x="1254323" y="128859"/>
                  </a:lnTo>
                  <a:lnTo>
                    <a:pt x="1359117" y="128859"/>
                  </a:lnTo>
                  <a:cubicBezTo>
                    <a:pt x="1360983" y="116860"/>
                    <a:pt x="1361783" y="103527"/>
                    <a:pt x="1361517" y="88861"/>
                  </a:cubicBezTo>
                  <a:lnTo>
                    <a:pt x="1264723" y="88861"/>
                  </a:lnTo>
                  <a:cubicBezTo>
                    <a:pt x="1260989" y="88328"/>
                    <a:pt x="1256190" y="89661"/>
                    <a:pt x="1250323" y="92861"/>
                  </a:cubicBezTo>
                  <a:lnTo>
                    <a:pt x="1239924" y="75262"/>
                  </a:lnTo>
                  <a:lnTo>
                    <a:pt x="1405514" y="75262"/>
                  </a:lnTo>
                  <a:cubicBezTo>
                    <a:pt x="1414313" y="54997"/>
                    <a:pt x="1419913" y="32598"/>
                    <a:pt x="1422313" y="8066"/>
                  </a:cubicBezTo>
                  <a:cubicBezTo>
                    <a:pt x="1422313" y="6733"/>
                    <a:pt x="1422713" y="5867"/>
                    <a:pt x="1423513" y="5467"/>
                  </a:cubicBezTo>
                  <a:close/>
                  <a:moveTo>
                    <a:pt x="1688697" y="4067"/>
                  </a:moveTo>
                  <a:cubicBezTo>
                    <a:pt x="1694830" y="4333"/>
                    <a:pt x="1702962" y="5467"/>
                    <a:pt x="1713095" y="7466"/>
                  </a:cubicBezTo>
                  <a:cubicBezTo>
                    <a:pt x="1723228" y="9466"/>
                    <a:pt x="1728961" y="12066"/>
                    <a:pt x="1730294" y="15266"/>
                  </a:cubicBezTo>
                  <a:cubicBezTo>
                    <a:pt x="1728961" y="20332"/>
                    <a:pt x="1725761" y="23799"/>
                    <a:pt x="1720695" y="25665"/>
                  </a:cubicBezTo>
                  <a:lnTo>
                    <a:pt x="1720695" y="106460"/>
                  </a:lnTo>
                  <a:lnTo>
                    <a:pt x="1725494" y="106460"/>
                  </a:lnTo>
                  <a:lnTo>
                    <a:pt x="1735894" y="92061"/>
                  </a:lnTo>
                  <a:cubicBezTo>
                    <a:pt x="1738294" y="86728"/>
                    <a:pt x="1742027" y="86462"/>
                    <a:pt x="1747093" y="91261"/>
                  </a:cubicBezTo>
                  <a:lnTo>
                    <a:pt x="1764692" y="107260"/>
                  </a:lnTo>
                  <a:cubicBezTo>
                    <a:pt x="1773491" y="117126"/>
                    <a:pt x="1773225" y="121393"/>
                    <a:pt x="1763892" y="120060"/>
                  </a:cubicBezTo>
                  <a:lnTo>
                    <a:pt x="1720695" y="120060"/>
                  </a:lnTo>
                  <a:lnTo>
                    <a:pt x="1720695" y="175256"/>
                  </a:lnTo>
                  <a:cubicBezTo>
                    <a:pt x="1736960" y="168323"/>
                    <a:pt x="1753226" y="159790"/>
                    <a:pt x="1769492" y="149658"/>
                  </a:cubicBezTo>
                  <a:cubicBezTo>
                    <a:pt x="1772692" y="149658"/>
                    <a:pt x="1772692" y="150724"/>
                    <a:pt x="1769492" y="152858"/>
                  </a:cubicBezTo>
                  <a:cubicBezTo>
                    <a:pt x="1750826" y="170990"/>
                    <a:pt x="1734560" y="186722"/>
                    <a:pt x="1720695" y="200055"/>
                  </a:cubicBezTo>
                  <a:lnTo>
                    <a:pt x="1720695" y="272050"/>
                  </a:lnTo>
                  <a:cubicBezTo>
                    <a:pt x="1720695" y="316848"/>
                    <a:pt x="1721228" y="348179"/>
                    <a:pt x="1722295" y="366045"/>
                  </a:cubicBezTo>
                  <a:cubicBezTo>
                    <a:pt x="1720161" y="390043"/>
                    <a:pt x="1706562" y="403376"/>
                    <a:pt x="1681497" y="406042"/>
                  </a:cubicBezTo>
                  <a:cubicBezTo>
                    <a:pt x="1678831" y="406309"/>
                    <a:pt x="1677497" y="405509"/>
                    <a:pt x="1677497" y="403642"/>
                  </a:cubicBezTo>
                  <a:cubicBezTo>
                    <a:pt x="1674831" y="394843"/>
                    <a:pt x="1671098" y="388043"/>
                    <a:pt x="1666298" y="383244"/>
                  </a:cubicBezTo>
                  <a:cubicBezTo>
                    <a:pt x="1661498" y="378444"/>
                    <a:pt x="1653765" y="374044"/>
                    <a:pt x="1643099" y="370044"/>
                  </a:cubicBezTo>
                  <a:cubicBezTo>
                    <a:pt x="1640966" y="368178"/>
                    <a:pt x="1641233" y="366845"/>
                    <a:pt x="1643899" y="366045"/>
                  </a:cubicBezTo>
                  <a:cubicBezTo>
                    <a:pt x="1665231" y="366578"/>
                    <a:pt x="1678231" y="365578"/>
                    <a:pt x="1682897" y="363045"/>
                  </a:cubicBezTo>
                  <a:cubicBezTo>
                    <a:pt x="1687563" y="360512"/>
                    <a:pt x="1689497" y="356579"/>
                    <a:pt x="1688697" y="351245"/>
                  </a:cubicBezTo>
                  <a:lnTo>
                    <a:pt x="1688697" y="228053"/>
                  </a:lnTo>
                  <a:cubicBezTo>
                    <a:pt x="1675364" y="240586"/>
                    <a:pt x="1663365" y="253385"/>
                    <a:pt x="1652699" y="266451"/>
                  </a:cubicBezTo>
                  <a:cubicBezTo>
                    <a:pt x="1651632" y="268584"/>
                    <a:pt x="1650566" y="268584"/>
                    <a:pt x="1649499" y="266451"/>
                  </a:cubicBezTo>
                  <a:lnTo>
                    <a:pt x="1635100" y="212854"/>
                  </a:lnTo>
                  <a:cubicBezTo>
                    <a:pt x="1634300" y="209921"/>
                    <a:pt x="1634833" y="208054"/>
                    <a:pt x="1636700" y="207254"/>
                  </a:cubicBezTo>
                  <a:cubicBezTo>
                    <a:pt x="1651899" y="204588"/>
                    <a:pt x="1669231" y="198721"/>
                    <a:pt x="1688697" y="189655"/>
                  </a:cubicBezTo>
                  <a:lnTo>
                    <a:pt x="1688697" y="120060"/>
                  </a:lnTo>
                  <a:lnTo>
                    <a:pt x="1663898" y="120060"/>
                  </a:lnTo>
                  <a:cubicBezTo>
                    <a:pt x="1659098" y="119526"/>
                    <a:pt x="1654299" y="120860"/>
                    <a:pt x="1649499" y="124059"/>
                  </a:cubicBezTo>
                  <a:lnTo>
                    <a:pt x="1638300" y="106460"/>
                  </a:lnTo>
                  <a:lnTo>
                    <a:pt x="1688697" y="106460"/>
                  </a:lnTo>
                  <a:lnTo>
                    <a:pt x="1688697" y="48864"/>
                  </a:lnTo>
                  <a:cubicBezTo>
                    <a:pt x="1688963" y="30198"/>
                    <a:pt x="1688430" y="17932"/>
                    <a:pt x="1687097" y="12066"/>
                  </a:cubicBezTo>
                  <a:cubicBezTo>
                    <a:pt x="1685230" y="6200"/>
                    <a:pt x="1685763" y="3533"/>
                    <a:pt x="1688697" y="4067"/>
                  </a:cubicBezTo>
                  <a:close/>
                  <a:moveTo>
                    <a:pt x="635961" y="4067"/>
                  </a:moveTo>
                  <a:cubicBezTo>
                    <a:pt x="642094" y="4333"/>
                    <a:pt x="650493" y="5667"/>
                    <a:pt x="661159" y="8066"/>
                  </a:cubicBezTo>
                  <a:cubicBezTo>
                    <a:pt x="671825" y="10466"/>
                    <a:pt x="677825" y="13666"/>
                    <a:pt x="679158" y="17666"/>
                  </a:cubicBezTo>
                  <a:cubicBezTo>
                    <a:pt x="678358" y="22199"/>
                    <a:pt x="675958" y="25399"/>
                    <a:pt x="671959" y="27265"/>
                  </a:cubicBezTo>
                  <a:lnTo>
                    <a:pt x="671959" y="249652"/>
                  </a:lnTo>
                  <a:lnTo>
                    <a:pt x="686358" y="244852"/>
                  </a:lnTo>
                  <a:lnTo>
                    <a:pt x="698357" y="220053"/>
                  </a:lnTo>
                  <a:cubicBezTo>
                    <a:pt x="700224" y="214720"/>
                    <a:pt x="703424" y="214187"/>
                    <a:pt x="707956" y="218454"/>
                  </a:cubicBezTo>
                  <a:lnTo>
                    <a:pt x="731155" y="233653"/>
                  </a:lnTo>
                  <a:cubicBezTo>
                    <a:pt x="742621" y="240319"/>
                    <a:pt x="743421" y="244052"/>
                    <a:pt x="733555" y="244852"/>
                  </a:cubicBezTo>
                  <a:lnTo>
                    <a:pt x="671959" y="262451"/>
                  </a:lnTo>
                  <a:lnTo>
                    <a:pt x="671959" y="339246"/>
                  </a:lnTo>
                  <a:cubicBezTo>
                    <a:pt x="671692" y="341113"/>
                    <a:pt x="671625" y="347579"/>
                    <a:pt x="671759" y="358645"/>
                  </a:cubicBezTo>
                  <a:cubicBezTo>
                    <a:pt x="671892" y="369711"/>
                    <a:pt x="672225" y="380177"/>
                    <a:pt x="672759" y="390043"/>
                  </a:cubicBezTo>
                  <a:cubicBezTo>
                    <a:pt x="673825" y="403376"/>
                    <a:pt x="665026" y="410042"/>
                    <a:pt x="646360" y="410042"/>
                  </a:cubicBezTo>
                  <a:cubicBezTo>
                    <a:pt x="639161" y="411108"/>
                    <a:pt x="635694" y="408975"/>
                    <a:pt x="635961" y="403642"/>
                  </a:cubicBezTo>
                  <a:lnTo>
                    <a:pt x="635961" y="272050"/>
                  </a:lnTo>
                  <a:lnTo>
                    <a:pt x="542367" y="300049"/>
                  </a:lnTo>
                  <a:cubicBezTo>
                    <a:pt x="537300" y="302182"/>
                    <a:pt x="533567" y="304582"/>
                    <a:pt x="531167" y="307248"/>
                  </a:cubicBezTo>
                  <a:lnTo>
                    <a:pt x="515968" y="292849"/>
                  </a:lnTo>
                  <a:lnTo>
                    <a:pt x="635961" y="258451"/>
                  </a:lnTo>
                  <a:lnTo>
                    <a:pt x="635961" y="48864"/>
                  </a:lnTo>
                  <a:cubicBezTo>
                    <a:pt x="635428" y="30198"/>
                    <a:pt x="634628" y="17932"/>
                    <a:pt x="633561" y="12066"/>
                  </a:cubicBezTo>
                  <a:cubicBezTo>
                    <a:pt x="631428" y="6200"/>
                    <a:pt x="632228" y="3533"/>
                    <a:pt x="635961" y="4067"/>
                  </a:cubicBezTo>
                  <a:close/>
                  <a:moveTo>
                    <a:pt x="123192" y="4067"/>
                  </a:moveTo>
                  <a:cubicBezTo>
                    <a:pt x="137058" y="11000"/>
                    <a:pt x="149924" y="19399"/>
                    <a:pt x="161790" y="29265"/>
                  </a:cubicBezTo>
                  <a:cubicBezTo>
                    <a:pt x="173656" y="39131"/>
                    <a:pt x="182122" y="52864"/>
                    <a:pt x="187188" y="70463"/>
                  </a:cubicBezTo>
                  <a:cubicBezTo>
                    <a:pt x="189322" y="89928"/>
                    <a:pt x="183389" y="101261"/>
                    <a:pt x="169389" y="104461"/>
                  </a:cubicBezTo>
                  <a:cubicBezTo>
                    <a:pt x="155390" y="107660"/>
                    <a:pt x="146924" y="99261"/>
                    <a:pt x="143991" y="79262"/>
                  </a:cubicBezTo>
                  <a:cubicBezTo>
                    <a:pt x="141591" y="49131"/>
                    <a:pt x="134125" y="24865"/>
                    <a:pt x="121592" y="6467"/>
                  </a:cubicBezTo>
                  <a:cubicBezTo>
                    <a:pt x="120792" y="4867"/>
                    <a:pt x="121326" y="4067"/>
                    <a:pt x="123192" y="4067"/>
                  </a:cubicBezTo>
                  <a:close/>
                  <a:moveTo>
                    <a:pt x="959141" y="67"/>
                  </a:moveTo>
                  <a:cubicBezTo>
                    <a:pt x="965541" y="334"/>
                    <a:pt x="974273" y="1667"/>
                    <a:pt x="985339" y="4067"/>
                  </a:cubicBezTo>
                  <a:cubicBezTo>
                    <a:pt x="996406" y="6467"/>
                    <a:pt x="1002605" y="9666"/>
                    <a:pt x="1003938" y="13666"/>
                  </a:cubicBezTo>
                  <a:cubicBezTo>
                    <a:pt x="1003405" y="18199"/>
                    <a:pt x="1000472" y="21399"/>
                    <a:pt x="995139" y="23265"/>
                  </a:cubicBezTo>
                  <a:lnTo>
                    <a:pt x="995139" y="48864"/>
                  </a:lnTo>
                  <a:lnTo>
                    <a:pt x="1063935" y="48864"/>
                  </a:lnTo>
                  <a:lnTo>
                    <a:pt x="1077534" y="28865"/>
                  </a:lnTo>
                  <a:cubicBezTo>
                    <a:pt x="1082067" y="24332"/>
                    <a:pt x="1085800" y="24865"/>
                    <a:pt x="1088733" y="30465"/>
                  </a:cubicBezTo>
                  <a:lnTo>
                    <a:pt x="1110332" y="49664"/>
                  </a:lnTo>
                  <a:cubicBezTo>
                    <a:pt x="1120198" y="58997"/>
                    <a:pt x="1120198" y="62996"/>
                    <a:pt x="1110332" y="61663"/>
                  </a:cubicBezTo>
                  <a:lnTo>
                    <a:pt x="995139" y="61663"/>
                  </a:lnTo>
                  <a:lnTo>
                    <a:pt x="995139" y="98461"/>
                  </a:lnTo>
                  <a:lnTo>
                    <a:pt x="1037536" y="98461"/>
                  </a:lnTo>
                  <a:lnTo>
                    <a:pt x="1053535" y="82462"/>
                  </a:lnTo>
                  <a:cubicBezTo>
                    <a:pt x="1057268" y="77929"/>
                    <a:pt x="1060735" y="78195"/>
                    <a:pt x="1063935" y="83262"/>
                  </a:cubicBezTo>
                  <a:lnTo>
                    <a:pt x="1082334" y="99261"/>
                  </a:lnTo>
                  <a:cubicBezTo>
                    <a:pt x="1091133" y="108594"/>
                    <a:pt x="1091133" y="112593"/>
                    <a:pt x="1082334" y="111260"/>
                  </a:cubicBezTo>
                  <a:lnTo>
                    <a:pt x="995139" y="111260"/>
                  </a:lnTo>
                  <a:lnTo>
                    <a:pt x="995139" y="142458"/>
                  </a:lnTo>
                  <a:lnTo>
                    <a:pt x="1085533" y="142458"/>
                  </a:lnTo>
                  <a:lnTo>
                    <a:pt x="1099933" y="123259"/>
                  </a:lnTo>
                  <a:cubicBezTo>
                    <a:pt x="1102866" y="118460"/>
                    <a:pt x="1106332" y="118726"/>
                    <a:pt x="1110332" y="124059"/>
                  </a:cubicBezTo>
                  <a:lnTo>
                    <a:pt x="1131931" y="143258"/>
                  </a:lnTo>
                  <a:cubicBezTo>
                    <a:pt x="1141530" y="153124"/>
                    <a:pt x="1141530" y="157391"/>
                    <a:pt x="1131931" y="156057"/>
                  </a:cubicBezTo>
                  <a:lnTo>
                    <a:pt x="986340" y="156057"/>
                  </a:lnTo>
                  <a:cubicBezTo>
                    <a:pt x="988739" y="157124"/>
                    <a:pt x="989539" y="158457"/>
                    <a:pt x="988739" y="160057"/>
                  </a:cubicBezTo>
                  <a:cubicBezTo>
                    <a:pt x="989806" y="164324"/>
                    <a:pt x="985006" y="166457"/>
                    <a:pt x="974340" y="166457"/>
                  </a:cubicBezTo>
                  <a:cubicBezTo>
                    <a:pt x="963941" y="171523"/>
                    <a:pt x="951675" y="179256"/>
                    <a:pt x="937542" y="189655"/>
                  </a:cubicBezTo>
                  <a:lnTo>
                    <a:pt x="983940" y="200055"/>
                  </a:lnTo>
                  <a:cubicBezTo>
                    <a:pt x="1002872" y="185389"/>
                    <a:pt x="1015938" y="173923"/>
                    <a:pt x="1023137" y="165657"/>
                  </a:cubicBezTo>
                  <a:cubicBezTo>
                    <a:pt x="1026604" y="161390"/>
                    <a:pt x="1029270" y="160324"/>
                    <a:pt x="1031137" y="162457"/>
                  </a:cubicBezTo>
                  <a:cubicBezTo>
                    <a:pt x="1036736" y="166457"/>
                    <a:pt x="1042736" y="171656"/>
                    <a:pt x="1049136" y="178056"/>
                  </a:cubicBezTo>
                  <a:cubicBezTo>
                    <a:pt x="1055535" y="184456"/>
                    <a:pt x="1059402" y="190189"/>
                    <a:pt x="1060735" y="195255"/>
                  </a:cubicBezTo>
                  <a:cubicBezTo>
                    <a:pt x="1061002" y="199788"/>
                    <a:pt x="1055402" y="201921"/>
                    <a:pt x="1043936" y="201655"/>
                  </a:cubicBezTo>
                  <a:cubicBezTo>
                    <a:pt x="1030870" y="210454"/>
                    <a:pt x="1015538" y="219587"/>
                    <a:pt x="997939" y="229053"/>
                  </a:cubicBezTo>
                  <a:cubicBezTo>
                    <a:pt x="980340" y="238519"/>
                    <a:pt x="958341" y="249918"/>
                    <a:pt x="931943" y="263251"/>
                  </a:cubicBezTo>
                  <a:lnTo>
                    <a:pt x="1073534" y="263251"/>
                  </a:lnTo>
                  <a:cubicBezTo>
                    <a:pt x="1068734" y="253651"/>
                    <a:pt x="1064068" y="246319"/>
                    <a:pt x="1059535" y="241252"/>
                  </a:cubicBezTo>
                  <a:cubicBezTo>
                    <a:pt x="1055002" y="236186"/>
                    <a:pt x="1049269" y="230986"/>
                    <a:pt x="1042336" y="225653"/>
                  </a:cubicBezTo>
                  <a:cubicBezTo>
                    <a:pt x="1040203" y="224587"/>
                    <a:pt x="1040469" y="223787"/>
                    <a:pt x="1043136" y="223253"/>
                  </a:cubicBezTo>
                  <a:cubicBezTo>
                    <a:pt x="1061802" y="226453"/>
                    <a:pt x="1078467" y="232719"/>
                    <a:pt x="1093133" y="242052"/>
                  </a:cubicBezTo>
                  <a:cubicBezTo>
                    <a:pt x="1107799" y="251385"/>
                    <a:pt x="1115932" y="262451"/>
                    <a:pt x="1117531" y="275250"/>
                  </a:cubicBezTo>
                  <a:cubicBezTo>
                    <a:pt x="1116732" y="289116"/>
                    <a:pt x="1110865" y="297582"/>
                    <a:pt x="1099933" y="300649"/>
                  </a:cubicBezTo>
                  <a:cubicBezTo>
                    <a:pt x="1089000" y="303715"/>
                    <a:pt x="1081267" y="295249"/>
                    <a:pt x="1076734" y="275250"/>
                  </a:cubicBezTo>
                  <a:cubicBezTo>
                    <a:pt x="1076467" y="273384"/>
                    <a:pt x="1075934" y="271784"/>
                    <a:pt x="1075134" y="270450"/>
                  </a:cubicBezTo>
                  <a:cubicBezTo>
                    <a:pt x="1047669" y="273917"/>
                    <a:pt x="1019937" y="277383"/>
                    <a:pt x="991939" y="280850"/>
                  </a:cubicBezTo>
                  <a:cubicBezTo>
                    <a:pt x="1001539" y="284050"/>
                    <a:pt x="1006871" y="287249"/>
                    <a:pt x="1007938" y="290449"/>
                  </a:cubicBezTo>
                  <a:cubicBezTo>
                    <a:pt x="1006605" y="294716"/>
                    <a:pt x="1003672" y="298449"/>
                    <a:pt x="999139" y="301649"/>
                  </a:cubicBezTo>
                  <a:cubicBezTo>
                    <a:pt x="999139" y="328580"/>
                    <a:pt x="999672" y="354312"/>
                    <a:pt x="1000739" y="378844"/>
                  </a:cubicBezTo>
                  <a:cubicBezTo>
                    <a:pt x="998605" y="402042"/>
                    <a:pt x="983673" y="413775"/>
                    <a:pt x="955941" y="414042"/>
                  </a:cubicBezTo>
                  <a:cubicBezTo>
                    <a:pt x="954075" y="414308"/>
                    <a:pt x="953008" y="413508"/>
                    <a:pt x="952742" y="411642"/>
                  </a:cubicBezTo>
                  <a:cubicBezTo>
                    <a:pt x="953008" y="403909"/>
                    <a:pt x="943409" y="394576"/>
                    <a:pt x="923943" y="383643"/>
                  </a:cubicBezTo>
                  <a:cubicBezTo>
                    <a:pt x="921810" y="381777"/>
                    <a:pt x="921810" y="380444"/>
                    <a:pt x="923943" y="379644"/>
                  </a:cubicBezTo>
                  <a:cubicBezTo>
                    <a:pt x="952208" y="380977"/>
                    <a:pt x="965274" y="378311"/>
                    <a:pt x="963141" y="371644"/>
                  </a:cubicBezTo>
                  <a:lnTo>
                    <a:pt x="963141" y="321647"/>
                  </a:lnTo>
                  <a:cubicBezTo>
                    <a:pt x="963141" y="303248"/>
                    <a:pt x="963141" y="290716"/>
                    <a:pt x="963141" y="284050"/>
                  </a:cubicBezTo>
                  <a:cubicBezTo>
                    <a:pt x="931943" y="286716"/>
                    <a:pt x="900745" y="292582"/>
                    <a:pt x="869547" y="301649"/>
                  </a:cubicBezTo>
                  <a:lnTo>
                    <a:pt x="869547" y="303248"/>
                  </a:lnTo>
                  <a:lnTo>
                    <a:pt x="856747" y="262451"/>
                  </a:lnTo>
                  <a:cubicBezTo>
                    <a:pt x="854081" y="257385"/>
                    <a:pt x="855947" y="254985"/>
                    <a:pt x="862347" y="255251"/>
                  </a:cubicBezTo>
                  <a:cubicBezTo>
                    <a:pt x="880479" y="252851"/>
                    <a:pt x="898878" y="246985"/>
                    <a:pt x="917544" y="237652"/>
                  </a:cubicBezTo>
                  <a:cubicBezTo>
                    <a:pt x="936209" y="228320"/>
                    <a:pt x="954075" y="218720"/>
                    <a:pt x="971140" y="208854"/>
                  </a:cubicBezTo>
                  <a:cubicBezTo>
                    <a:pt x="946875" y="209121"/>
                    <a:pt x="922610" y="212587"/>
                    <a:pt x="898345" y="219254"/>
                  </a:cubicBezTo>
                  <a:lnTo>
                    <a:pt x="889545" y="193655"/>
                  </a:lnTo>
                  <a:cubicBezTo>
                    <a:pt x="886346" y="188589"/>
                    <a:pt x="887945" y="185922"/>
                    <a:pt x="894345" y="185656"/>
                  </a:cubicBezTo>
                  <a:cubicBezTo>
                    <a:pt x="915144" y="175790"/>
                    <a:pt x="929543" y="165923"/>
                    <a:pt x="937542" y="156057"/>
                  </a:cubicBezTo>
                  <a:lnTo>
                    <a:pt x="851948" y="156057"/>
                  </a:lnTo>
                  <a:cubicBezTo>
                    <a:pt x="847948" y="155524"/>
                    <a:pt x="843148" y="156857"/>
                    <a:pt x="837549" y="160057"/>
                  </a:cubicBezTo>
                  <a:lnTo>
                    <a:pt x="827149" y="142458"/>
                  </a:lnTo>
                  <a:lnTo>
                    <a:pt x="959141" y="142458"/>
                  </a:lnTo>
                  <a:lnTo>
                    <a:pt x="959141" y="111260"/>
                  </a:lnTo>
                  <a:lnTo>
                    <a:pt x="887146" y="111260"/>
                  </a:lnTo>
                  <a:cubicBezTo>
                    <a:pt x="883946" y="110460"/>
                    <a:pt x="879146" y="112060"/>
                    <a:pt x="872746" y="116060"/>
                  </a:cubicBezTo>
                  <a:lnTo>
                    <a:pt x="863147" y="98461"/>
                  </a:lnTo>
                  <a:lnTo>
                    <a:pt x="959141" y="98461"/>
                  </a:lnTo>
                  <a:lnTo>
                    <a:pt x="959141" y="61663"/>
                  </a:lnTo>
                  <a:lnTo>
                    <a:pt x="863147" y="61663"/>
                  </a:lnTo>
                  <a:cubicBezTo>
                    <a:pt x="858347" y="60863"/>
                    <a:pt x="853548" y="62730"/>
                    <a:pt x="848748" y="67263"/>
                  </a:cubicBezTo>
                  <a:lnTo>
                    <a:pt x="837549" y="48864"/>
                  </a:lnTo>
                  <a:lnTo>
                    <a:pt x="959141" y="48864"/>
                  </a:lnTo>
                  <a:lnTo>
                    <a:pt x="959141" y="44064"/>
                  </a:lnTo>
                  <a:cubicBezTo>
                    <a:pt x="959141" y="25399"/>
                    <a:pt x="958874" y="13399"/>
                    <a:pt x="958341" y="8066"/>
                  </a:cubicBezTo>
                  <a:cubicBezTo>
                    <a:pt x="955675" y="2200"/>
                    <a:pt x="955941" y="-466"/>
                    <a:pt x="959141" y="6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prstClr val="white"/>
                </a:solidFill>
                <a:latin typeface="锐字云字库中长宋体1.0" panose="02010604000000000000" pitchFamily="2" charset="-122"/>
                <a:ea typeface="锐字云字库中长宋体1.0" panose="02010604000000000000" pitchFamily="2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791744" y="3614578"/>
              <a:ext cx="834357" cy="196779"/>
              <a:chOff x="3893490" y="3603420"/>
              <a:chExt cx="834357" cy="196779"/>
            </a:xfrm>
          </p:grpSpPr>
          <p:sp>
            <p:nvSpPr>
              <p:cNvPr id="15" name="Freeform 5"/>
              <p:cNvSpPr>
                <a:spLocks/>
              </p:cNvSpPr>
              <p:nvPr/>
            </p:nvSpPr>
            <p:spPr bwMode="auto">
              <a:xfrm>
                <a:off x="4530706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Freeform 5"/>
              <p:cNvSpPr>
                <a:spLocks/>
              </p:cNvSpPr>
              <p:nvPr/>
            </p:nvSpPr>
            <p:spPr bwMode="auto">
              <a:xfrm>
                <a:off x="4212098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Freeform 5"/>
              <p:cNvSpPr>
                <a:spLocks/>
              </p:cNvSpPr>
              <p:nvPr/>
            </p:nvSpPr>
            <p:spPr bwMode="auto">
              <a:xfrm>
                <a:off x="3893490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7629627" y="3614578"/>
              <a:ext cx="834357" cy="196779"/>
              <a:chOff x="3893490" y="3603420"/>
              <a:chExt cx="834357" cy="196779"/>
            </a:xfrm>
          </p:grpSpPr>
          <p:sp>
            <p:nvSpPr>
              <p:cNvPr id="12" name="Freeform 5"/>
              <p:cNvSpPr>
                <a:spLocks/>
              </p:cNvSpPr>
              <p:nvPr/>
            </p:nvSpPr>
            <p:spPr bwMode="auto">
              <a:xfrm>
                <a:off x="4530706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Freeform 5"/>
              <p:cNvSpPr>
                <a:spLocks/>
              </p:cNvSpPr>
              <p:nvPr/>
            </p:nvSpPr>
            <p:spPr bwMode="auto">
              <a:xfrm>
                <a:off x="4212098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Freeform 5"/>
              <p:cNvSpPr>
                <a:spLocks/>
              </p:cNvSpPr>
              <p:nvPr/>
            </p:nvSpPr>
            <p:spPr bwMode="auto">
              <a:xfrm>
                <a:off x="3893490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8" name="矩形: 圆顶角 17"/>
          <p:cNvSpPr/>
          <p:nvPr userDrawn="1"/>
        </p:nvSpPr>
        <p:spPr>
          <a:xfrm rot="5400000">
            <a:off x="2579662" y="2862344"/>
            <a:ext cx="916648" cy="551082"/>
          </a:xfrm>
          <a:prstGeom prst="round2SameRect">
            <a:avLst>
              <a:gd name="adj1" fmla="val 14462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9" name="任意多边形: 形状 18"/>
          <p:cNvSpPr/>
          <p:nvPr userDrawn="1"/>
        </p:nvSpPr>
        <p:spPr>
          <a:xfrm>
            <a:off x="1837186" y="2688094"/>
            <a:ext cx="899142" cy="904478"/>
          </a:xfrm>
          <a:custGeom>
            <a:avLst/>
            <a:gdLst/>
            <a:ahLst/>
            <a:cxnLst/>
            <a:rect l="l" t="t" r="r" b="b"/>
            <a:pathLst>
              <a:path w="899142" h="904478">
                <a:moveTo>
                  <a:pt x="261286" y="732294"/>
                </a:moveTo>
                <a:lnTo>
                  <a:pt x="261286" y="740182"/>
                </a:lnTo>
                <a:lnTo>
                  <a:pt x="444603" y="800302"/>
                </a:lnTo>
                <a:lnTo>
                  <a:pt x="444603" y="732294"/>
                </a:lnTo>
                <a:close/>
                <a:moveTo>
                  <a:pt x="510664" y="668334"/>
                </a:moveTo>
                <a:lnTo>
                  <a:pt x="510664" y="822148"/>
                </a:lnTo>
                <a:lnTo>
                  <a:pt x="533341" y="822148"/>
                </a:lnTo>
                <a:lnTo>
                  <a:pt x="533341" y="668334"/>
                </a:lnTo>
                <a:close/>
                <a:moveTo>
                  <a:pt x="684197" y="563819"/>
                </a:moveTo>
                <a:lnTo>
                  <a:pt x="684197" y="621007"/>
                </a:lnTo>
                <a:lnTo>
                  <a:pt x="725609" y="621007"/>
                </a:lnTo>
                <a:lnTo>
                  <a:pt x="725609" y="563819"/>
                </a:lnTo>
                <a:close/>
                <a:moveTo>
                  <a:pt x="270160" y="506504"/>
                </a:moveTo>
                <a:lnTo>
                  <a:pt x="429890" y="571579"/>
                </a:lnTo>
                <a:lnTo>
                  <a:pt x="429890" y="641584"/>
                </a:lnTo>
                <a:lnTo>
                  <a:pt x="270160" y="574537"/>
                </a:lnTo>
                <a:close/>
                <a:moveTo>
                  <a:pt x="181421" y="506504"/>
                </a:moveTo>
                <a:lnTo>
                  <a:pt x="181421" y="576509"/>
                </a:lnTo>
                <a:lnTo>
                  <a:pt x="19719" y="642570"/>
                </a:lnTo>
                <a:lnTo>
                  <a:pt x="19719" y="573551"/>
                </a:lnTo>
                <a:close/>
                <a:moveTo>
                  <a:pt x="725609" y="474095"/>
                </a:moveTo>
                <a:lnTo>
                  <a:pt x="789698" y="474095"/>
                </a:lnTo>
                <a:lnTo>
                  <a:pt x="789698" y="500716"/>
                </a:lnTo>
                <a:lnTo>
                  <a:pt x="889282" y="500716"/>
                </a:lnTo>
                <a:lnTo>
                  <a:pt x="879423" y="607203"/>
                </a:lnTo>
                <a:lnTo>
                  <a:pt x="817305" y="607203"/>
                </a:lnTo>
                <a:lnTo>
                  <a:pt x="822235" y="563819"/>
                </a:lnTo>
                <a:lnTo>
                  <a:pt x="789698" y="563819"/>
                </a:lnTo>
                <a:lnTo>
                  <a:pt x="789698" y="621007"/>
                </a:lnTo>
                <a:lnTo>
                  <a:pt x="880409" y="621007"/>
                </a:lnTo>
                <a:lnTo>
                  <a:pt x="880409" y="707773"/>
                </a:lnTo>
                <a:lnTo>
                  <a:pt x="822235" y="793554"/>
                </a:lnTo>
                <a:lnTo>
                  <a:pt x="899142" y="904478"/>
                </a:lnTo>
                <a:lnTo>
                  <a:pt x="821249" y="904478"/>
                </a:lnTo>
                <a:lnTo>
                  <a:pt x="781810" y="846797"/>
                </a:lnTo>
                <a:lnTo>
                  <a:pt x="741384" y="904478"/>
                </a:lnTo>
                <a:lnTo>
                  <a:pt x="665464" y="904478"/>
                </a:lnTo>
                <a:lnTo>
                  <a:pt x="741384" y="792568"/>
                </a:lnTo>
                <a:lnTo>
                  <a:pt x="688141" y="711717"/>
                </a:lnTo>
                <a:lnTo>
                  <a:pt x="765048" y="711717"/>
                </a:lnTo>
                <a:lnTo>
                  <a:pt x="781810" y="738339"/>
                </a:lnTo>
                <a:lnTo>
                  <a:pt x="813361" y="692984"/>
                </a:lnTo>
                <a:lnTo>
                  <a:pt x="813361" y="684110"/>
                </a:lnTo>
                <a:lnTo>
                  <a:pt x="685183" y="684110"/>
                </a:lnTo>
                <a:lnTo>
                  <a:pt x="685183" y="764961"/>
                </a:lnTo>
                <a:lnTo>
                  <a:pt x="662506" y="904478"/>
                </a:lnTo>
                <a:lnTo>
                  <a:pt x="599402" y="904478"/>
                </a:lnTo>
                <a:lnTo>
                  <a:pt x="620108" y="768905"/>
                </a:lnTo>
                <a:lnTo>
                  <a:pt x="620108" y="500716"/>
                </a:lnTo>
                <a:lnTo>
                  <a:pt x="725609" y="500716"/>
                </a:lnTo>
                <a:close/>
                <a:moveTo>
                  <a:pt x="103938" y="288894"/>
                </a:moveTo>
                <a:lnTo>
                  <a:pt x="350435" y="310585"/>
                </a:lnTo>
                <a:lnTo>
                  <a:pt x="350435" y="361857"/>
                </a:lnTo>
                <a:lnTo>
                  <a:pt x="103938" y="340165"/>
                </a:lnTo>
                <a:close/>
                <a:moveTo>
                  <a:pt x="156196" y="225790"/>
                </a:moveTo>
                <a:lnTo>
                  <a:pt x="311981" y="241566"/>
                </a:lnTo>
                <a:lnTo>
                  <a:pt x="311981" y="292837"/>
                </a:lnTo>
                <a:lnTo>
                  <a:pt x="156196" y="277062"/>
                </a:lnTo>
                <a:close/>
                <a:moveTo>
                  <a:pt x="546935" y="113616"/>
                </a:moveTo>
                <a:lnTo>
                  <a:pt x="546935" y="159957"/>
                </a:lnTo>
                <a:lnTo>
                  <a:pt x="595249" y="159957"/>
                </a:lnTo>
                <a:lnTo>
                  <a:pt x="595249" y="113616"/>
                </a:lnTo>
                <a:close/>
                <a:moveTo>
                  <a:pt x="104924" y="73949"/>
                </a:moveTo>
                <a:lnTo>
                  <a:pt x="355365" y="73949"/>
                </a:lnTo>
                <a:lnTo>
                  <a:pt x="355365" y="165645"/>
                </a:lnTo>
                <a:lnTo>
                  <a:pt x="307051" y="179449"/>
                </a:lnTo>
                <a:lnTo>
                  <a:pt x="365225" y="191281"/>
                </a:lnTo>
                <a:lnTo>
                  <a:pt x="365225" y="245510"/>
                </a:lnTo>
                <a:lnTo>
                  <a:pt x="217327" y="207057"/>
                </a:lnTo>
                <a:lnTo>
                  <a:pt x="81261" y="245510"/>
                </a:lnTo>
                <a:lnTo>
                  <a:pt x="81261" y="191281"/>
                </a:lnTo>
                <a:lnTo>
                  <a:pt x="162111" y="168603"/>
                </a:lnTo>
                <a:lnTo>
                  <a:pt x="162111" y="137052"/>
                </a:lnTo>
                <a:lnTo>
                  <a:pt x="220285" y="151841"/>
                </a:lnTo>
                <a:lnTo>
                  <a:pt x="294234" y="130150"/>
                </a:lnTo>
                <a:lnTo>
                  <a:pt x="294234" y="125220"/>
                </a:lnTo>
                <a:lnTo>
                  <a:pt x="151266" y="125220"/>
                </a:lnTo>
                <a:lnTo>
                  <a:pt x="139434" y="166631"/>
                </a:lnTo>
                <a:lnTo>
                  <a:pt x="81261" y="166631"/>
                </a:lnTo>
                <a:close/>
                <a:moveTo>
                  <a:pt x="723427" y="62344"/>
                </a:moveTo>
                <a:lnTo>
                  <a:pt x="787516" y="62344"/>
                </a:lnTo>
                <a:lnTo>
                  <a:pt x="787516" y="208270"/>
                </a:lnTo>
                <a:lnTo>
                  <a:pt x="723427" y="208270"/>
                </a:lnTo>
                <a:close/>
                <a:moveTo>
                  <a:pt x="72387" y="59159"/>
                </a:moveTo>
                <a:lnTo>
                  <a:pt x="72387" y="364814"/>
                </a:lnTo>
                <a:lnTo>
                  <a:pt x="374099" y="364814"/>
                </a:lnTo>
                <a:lnTo>
                  <a:pt x="374099" y="59159"/>
                </a:lnTo>
                <a:close/>
                <a:moveTo>
                  <a:pt x="806250" y="42625"/>
                </a:moveTo>
                <a:lnTo>
                  <a:pt x="878227" y="42625"/>
                </a:lnTo>
                <a:lnTo>
                  <a:pt x="878227" y="289121"/>
                </a:lnTo>
                <a:lnTo>
                  <a:pt x="755964" y="289121"/>
                </a:lnTo>
                <a:lnTo>
                  <a:pt x="755964" y="224046"/>
                </a:lnTo>
                <a:lnTo>
                  <a:pt x="806250" y="224046"/>
                </a:lnTo>
                <a:close/>
                <a:moveTo>
                  <a:pt x="5340" y="0"/>
                </a:moveTo>
                <a:lnTo>
                  <a:pt x="441146" y="0"/>
                </a:lnTo>
                <a:lnTo>
                  <a:pt x="441146" y="159957"/>
                </a:lnTo>
                <a:lnTo>
                  <a:pt x="474958" y="159957"/>
                </a:lnTo>
                <a:lnTo>
                  <a:pt x="474958" y="113616"/>
                </a:lnTo>
                <a:lnTo>
                  <a:pt x="445379" y="113616"/>
                </a:lnTo>
                <a:lnTo>
                  <a:pt x="445379" y="48541"/>
                </a:lnTo>
                <a:lnTo>
                  <a:pt x="699763" y="48541"/>
                </a:lnTo>
                <a:lnTo>
                  <a:pt x="699763" y="113616"/>
                </a:lnTo>
                <a:lnTo>
                  <a:pt x="667226" y="113616"/>
                </a:lnTo>
                <a:lnTo>
                  <a:pt x="667226" y="159957"/>
                </a:lnTo>
                <a:lnTo>
                  <a:pt x="705679" y="159957"/>
                </a:lnTo>
                <a:lnTo>
                  <a:pt x="705679" y="226018"/>
                </a:lnTo>
                <a:lnTo>
                  <a:pt x="667226" y="226018"/>
                </a:lnTo>
                <a:lnTo>
                  <a:pt x="667226" y="282219"/>
                </a:lnTo>
                <a:lnTo>
                  <a:pt x="595249" y="282219"/>
                </a:lnTo>
                <a:lnTo>
                  <a:pt x="595249" y="226018"/>
                </a:lnTo>
                <a:lnTo>
                  <a:pt x="537075" y="226018"/>
                </a:lnTo>
                <a:lnTo>
                  <a:pt x="517356" y="289121"/>
                </a:lnTo>
                <a:lnTo>
                  <a:pt x="443407" y="289121"/>
                </a:lnTo>
                <a:lnTo>
                  <a:pt x="464112" y="226018"/>
                </a:lnTo>
                <a:lnTo>
                  <a:pt x="441146" y="226018"/>
                </a:lnTo>
                <a:lnTo>
                  <a:pt x="441146" y="405468"/>
                </a:lnTo>
                <a:lnTo>
                  <a:pt x="624828" y="405468"/>
                </a:lnTo>
                <a:lnTo>
                  <a:pt x="624828" y="379832"/>
                </a:lnTo>
                <a:lnTo>
                  <a:pt x="458196" y="379832"/>
                </a:lnTo>
                <a:lnTo>
                  <a:pt x="458196" y="314757"/>
                </a:lnTo>
                <a:lnTo>
                  <a:pt x="624828" y="314757"/>
                </a:lnTo>
                <a:lnTo>
                  <a:pt x="624828" y="292079"/>
                </a:lnTo>
                <a:lnTo>
                  <a:pt x="697791" y="292079"/>
                </a:lnTo>
                <a:lnTo>
                  <a:pt x="697791" y="314757"/>
                </a:lnTo>
                <a:lnTo>
                  <a:pt x="866395" y="314757"/>
                </a:lnTo>
                <a:lnTo>
                  <a:pt x="866395" y="379832"/>
                </a:lnTo>
                <a:lnTo>
                  <a:pt x="697791" y="379832"/>
                </a:lnTo>
                <a:lnTo>
                  <a:pt x="697791" y="405468"/>
                </a:lnTo>
                <a:lnTo>
                  <a:pt x="885129" y="405468"/>
                </a:lnTo>
                <a:lnTo>
                  <a:pt x="885129" y="469064"/>
                </a:lnTo>
                <a:lnTo>
                  <a:pt x="441722" y="469064"/>
                </a:lnTo>
                <a:lnTo>
                  <a:pt x="441722" y="488884"/>
                </a:lnTo>
                <a:lnTo>
                  <a:pt x="601374" y="488884"/>
                </a:lnTo>
                <a:lnTo>
                  <a:pt x="601374" y="551988"/>
                </a:lnTo>
                <a:lnTo>
                  <a:pt x="541229" y="551988"/>
                </a:lnTo>
                <a:lnTo>
                  <a:pt x="520524" y="605231"/>
                </a:lnTo>
                <a:lnTo>
                  <a:pt x="597431" y="605231"/>
                </a:lnTo>
                <a:lnTo>
                  <a:pt x="597431" y="883772"/>
                </a:lnTo>
                <a:lnTo>
                  <a:pt x="444603" y="883772"/>
                </a:lnTo>
                <a:lnTo>
                  <a:pt x="444603" y="869814"/>
                </a:lnTo>
                <a:lnTo>
                  <a:pt x="223819" y="796384"/>
                </a:lnTo>
                <a:lnTo>
                  <a:pt x="8874" y="869840"/>
                </a:lnTo>
                <a:lnTo>
                  <a:pt x="8874" y="799342"/>
                </a:lnTo>
                <a:lnTo>
                  <a:pt x="188323" y="739196"/>
                </a:lnTo>
                <a:lnTo>
                  <a:pt x="188323" y="732294"/>
                </a:lnTo>
                <a:lnTo>
                  <a:pt x="0" y="732294"/>
                </a:lnTo>
                <a:lnTo>
                  <a:pt x="0" y="671163"/>
                </a:lnTo>
                <a:lnTo>
                  <a:pt x="188323" y="671163"/>
                </a:lnTo>
                <a:lnTo>
                  <a:pt x="188323" y="613976"/>
                </a:lnTo>
                <a:lnTo>
                  <a:pt x="261286" y="613976"/>
                </a:lnTo>
                <a:lnTo>
                  <a:pt x="261286" y="671163"/>
                </a:lnTo>
                <a:lnTo>
                  <a:pt x="313543" y="671163"/>
                </a:lnTo>
                <a:lnTo>
                  <a:pt x="287908" y="619892"/>
                </a:lnTo>
                <a:lnTo>
                  <a:pt x="361857" y="619892"/>
                </a:lnTo>
                <a:lnTo>
                  <a:pt x="390450" y="671163"/>
                </a:lnTo>
                <a:lnTo>
                  <a:pt x="425566" y="671163"/>
                </a:lnTo>
                <a:lnTo>
                  <a:pt x="471224" y="551988"/>
                </a:lnTo>
                <a:lnTo>
                  <a:pt x="430799" y="551988"/>
                </a:lnTo>
                <a:lnTo>
                  <a:pt x="430799" y="544957"/>
                </a:lnTo>
                <a:lnTo>
                  <a:pt x="372703" y="544957"/>
                </a:lnTo>
                <a:lnTo>
                  <a:pt x="372703" y="505518"/>
                </a:lnTo>
                <a:lnTo>
                  <a:pt x="76907" y="505518"/>
                </a:lnTo>
                <a:lnTo>
                  <a:pt x="76907" y="544957"/>
                </a:lnTo>
                <a:lnTo>
                  <a:pt x="7888" y="544957"/>
                </a:lnTo>
                <a:lnTo>
                  <a:pt x="7888" y="442414"/>
                </a:lnTo>
                <a:lnTo>
                  <a:pt x="179449" y="442414"/>
                </a:lnTo>
                <a:lnTo>
                  <a:pt x="171561" y="422695"/>
                </a:lnTo>
                <a:lnTo>
                  <a:pt x="255370" y="422695"/>
                </a:lnTo>
                <a:lnTo>
                  <a:pt x="263258" y="442414"/>
                </a:lnTo>
                <a:lnTo>
                  <a:pt x="437491" y="442414"/>
                </a:lnTo>
                <a:lnTo>
                  <a:pt x="437491" y="422495"/>
                </a:lnTo>
                <a:lnTo>
                  <a:pt x="5340" y="42249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000" dirty="0">
              <a:solidFill>
                <a:prstClr val="white"/>
              </a:solidFill>
              <a:latin typeface="锐字锐线怒放黑简1.0" panose="02010604000000000000" pitchFamily="2" charset="-122"/>
              <a:ea typeface="锐字锐线怒放黑简1.0" panose="02010604000000000000" pitchFamily="2" charset="-122"/>
            </a:endParaRPr>
          </a:p>
        </p:txBody>
      </p:sp>
      <p:sp>
        <p:nvSpPr>
          <p:cNvPr id="20" name="矩形: 圆角 19"/>
          <p:cNvSpPr/>
          <p:nvPr userDrawn="1"/>
        </p:nvSpPr>
        <p:spPr>
          <a:xfrm>
            <a:off x="1786169" y="2679893"/>
            <a:ext cx="1529470" cy="917570"/>
          </a:xfrm>
          <a:prstGeom prst="roundRect">
            <a:avLst>
              <a:gd name="adj" fmla="val 10569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429054" y="2679562"/>
            <a:ext cx="6987426" cy="920890"/>
          </a:xfrm>
        </p:spPr>
        <p:txBody>
          <a:bodyPr>
            <a:normAutofit/>
          </a:bodyPr>
          <a:lstStyle>
            <a:lvl1pPr algn="dist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76637" y="2679561"/>
            <a:ext cx="752416" cy="919314"/>
          </a:xfrm>
        </p:spPr>
        <p:txBody>
          <a:bodyPr anchor="ctr">
            <a:noAutofit/>
          </a:bodyPr>
          <a:lstStyle>
            <a:lvl1pPr marL="0" indent="0" algn="ctr">
              <a:buNone/>
              <a:defRPr sz="6000" b="1">
                <a:solidFill>
                  <a:srgbClr val="0070C0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97463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主观题型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</p:nvPr>
        </p:nvSpPr>
        <p:spPr>
          <a:xfrm>
            <a:off x="3429054" y="2681090"/>
            <a:ext cx="6987426" cy="920890"/>
          </a:xfrm>
        </p:spPr>
        <p:txBody>
          <a:bodyPr>
            <a:normAutofit/>
          </a:bodyPr>
          <a:lstStyle>
            <a:lvl1pPr algn="dist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</a:t>
            </a:r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2676637" y="2681090"/>
            <a:ext cx="752416" cy="919314"/>
          </a:xfrm>
        </p:spPr>
        <p:txBody>
          <a:bodyPr anchor="ctr">
            <a:noAutofit/>
          </a:bodyPr>
          <a:lstStyle>
            <a:lvl1pPr marL="0" indent="0" algn="ctr">
              <a:buNone/>
              <a:defRPr sz="6000" b="1">
                <a:solidFill>
                  <a:srgbClr val="0070C0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922191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典型例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922400" cy="55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标题 1"/>
          <p:cNvSpPr txBox="1">
            <a:spLocks/>
          </p:cNvSpPr>
          <p:nvPr userDrawn="1"/>
        </p:nvSpPr>
        <p:spPr>
          <a:xfrm>
            <a:off x="-3689" y="3035"/>
            <a:ext cx="1920865" cy="555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zh-CN" altLang="en-US" sz="2800" spc="600" dirty="0">
                <a:solidFill>
                  <a:prstClr val="white"/>
                </a:solidFill>
              </a:rPr>
              <a:t>典型例题</a:t>
            </a:r>
          </a:p>
        </p:txBody>
      </p:sp>
    </p:spTree>
    <p:extLst>
      <p:ext uri="{BB962C8B-B14F-4D97-AF65-F5344CB8AC3E}">
        <p14:creationId xmlns:p14="http://schemas.microsoft.com/office/powerpoint/2010/main" val="60513995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应用体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922400" cy="55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-3689" y="3035"/>
            <a:ext cx="1920865" cy="555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spc="600" dirty="0">
                <a:solidFill>
                  <a:prstClr val="white"/>
                </a:solidFill>
              </a:rPr>
              <a:t>学以致用</a:t>
            </a:r>
          </a:p>
        </p:txBody>
      </p:sp>
    </p:spTree>
    <p:extLst>
      <p:ext uri="{BB962C8B-B14F-4D97-AF65-F5344CB8AC3E}">
        <p14:creationId xmlns:p14="http://schemas.microsoft.com/office/powerpoint/2010/main" val="290178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阅卷展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79381" y="4024316"/>
            <a:ext cx="11233247" cy="2322759"/>
            <a:chOff x="623391" y="683075"/>
            <a:chExt cx="11233247" cy="2322759"/>
          </a:xfrm>
        </p:grpSpPr>
        <p:sp>
          <p:nvSpPr>
            <p:cNvPr id="8" name="矩形: 圆角 7"/>
            <p:cNvSpPr/>
            <p:nvPr/>
          </p:nvSpPr>
          <p:spPr>
            <a:xfrm>
              <a:off x="623391" y="692696"/>
              <a:ext cx="11233247" cy="2313138"/>
            </a:xfrm>
            <a:prstGeom prst="roundRect">
              <a:avLst>
                <a:gd name="adj" fmla="val 498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任意多边形: 形状 8"/>
            <p:cNvSpPr/>
            <p:nvPr/>
          </p:nvSpPr>
          <p:spPr>
            <a:xfrm rot="16200000">
              <a:off x="1410834" y="260648"/>
              <a:ext cx="729372" cy="1593468"/>
            </a:xfrm>
            <a:custGeom>
              <a:avLst/>
              <a:gdLst>
                <a:gd name="connsiteX0" fmla="*/ 729372 w 729372"/>
                <a:gd name="connsiteY0" fmla="*/ 0 h 1593468"/>
                <a:gd name="connsiteX1" fmla="*/ 729372 w 729372"/>
                <a:gd name="connsiteY1" fmla="*/ 1593468 h 1593468"/>
                <a:gd name="connsiteX2" fmla="*/ 0 w 729372"/>
                <a:gd name="connsiteY2" fmla="*/ 1593468 h 1593468"/>
                <a:gd name="connsiteX3" fmla="*/ 233217 w 729372"/>
                <a:gd name="connsiteY3" fmla="*/ 796734 h 1593468"/>
                <a:gd name="connsiteX4" fmla="*/ 0 w 729372"/>
                <a:gd name="connsiteY4" fmla="*/ 0 h 159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9372" h="1593468">
                  <a:moveTo>
                    <a:pt x="729372" y="0"/>
                  </a:moveTo>
                  <a:lnTo>
                    <a:pt x="729372" y="1593468"/>
                  </a:lnTo>
                  <a:lnTo>
                    <a:pt x="0" y="1593468"/>
                  </a:lnTo>
                  <a:lnTo>
                    <a:pt x="233217" y="796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65040" y="683075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prstClr val="white"/>
                  </a:solidFill>
                </a:rPr>
                <a:t>标准答案</a:t>
              </a:r>
              <a:endParaRPr lang="zh-CN" altLang="en-US" sz="2800" dirty="0">
                <a:solidFill>
                  <a:prstClr val="white"/>
                </a:solidFill>
              </a:endParaRPr>
            </a:p>
          </p:txBody>
        </p:sp>
      </p:grpSp>
      <p:sp>
        <p:nvSpPr>
          <p:cNvPr id="11" name="矩形: 圆角 10"/>
          <p:cNvSpPr/>
          <p:nvPr userDrawn="1"/>
        </p:nvSpPr>
        <p:spPr>
          <a:xfrm>
            <a:off x="479377" y="520550"/>
            <a:ext cx="5256584" cy="3240361"/>
          </a:xfrm>
          <a:prstGeom prst="roundRect">
            <a:avLst>
              <a:gd name="adj" fmla="val 49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 rot="16200000">
            <a:off x="1266819" y="88502"/>
            <a:ext cx="729372" cy="1593468"/>
          </a:xfrm>
          <a:custGeom>
            <a:avLst/>
            <a:gdLst>
              <a:gd name="connsiteX0" fmla="*/ 729372 w 729372"/>
              <a:gd name="connsiteY0" fmla="*/ 0 h 1593468"/>
              <a:gd name="connsiteX1" fmla="*/ 729372 w 729372"/>
              <a:gd name="connsiteY1" fmla="*/ 1593468 h 1593468"/>
              <a:gd name="connsiteX2" fmla="*/ 0 w 729372"/>
              <a:gd name="connsiteY2" fmla="*/ 1593468 h 1593468"/>
              <a:gd name="connsiteX3" fmla="*/ 233217 w 729372"/>
              <a:gd name="connsiteY3" fmla="*/ 796734 h 1593468"/>
              <a:gd name="connsiteX4" fmla="*/ 0 w 729372"/>
              <a:gd name="connsiteY4" fmla="*/ 0 h 159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9372" h="1593468">
                <a:moveTo>
                  <a:pt x="729372" y="0"/>
                </a:moveTo>
                <a:lnTo>
                  <a:pt x="729372" y="1593468"/>
                </a:lnTo>
                <a:lnTo>
                  <a:pt x="0" y="1593468"/>
                </a:lnTo>
                <a:lnTo>
                  <a:pt x="233217" y="796734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821029" y="51092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prstClr val="white"/>
                </a:solidFill>
              </a:rPr>
              <a:t>阅卷展示</a:t>
            </a: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6027563" y="510930"/>
            <a:ext cx="5685065" cy="3249981"/>
            <a:chOff x="623391" y="683075"/>
            <a:chExt cx="5685065" cy="3249981"/>
          </a:xfrm>
        </p:grpSpPr>
        <p:sp>
          <p:nvSpPr>
            <p:cNvPr id="15" name="矩形: 圆角 14"/>
            <p:cNvSpPr/>
            <p:nvPr/>
          </p:nvSpPr>
          <p:spPr>
            <a:xfrm>
              <a:off x="623391" y="692696"/>
              <a:ext cx="5685065" cy="3240360"/>
            </a:xfrm>
            <a:prstGeom prst="roundRect">
              <a:avLst>
                <a:gd name="adj" fmla="val 498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任意多边形: 形状 15"/>
            <p:cNvSpPr/>
            <p:nvPr/>
          </p:nvSpPr>
          <p:spPr>
            <a:xfrm rot="16200000">
              <a:off x="1410834" y="260648"/>
              <a:ext cx="729372" cy="1593468"/>
            </a:xfrm>
            <a:custGeom>
              <a:avLst/>
              <a:gdLst>
                <a:gd name="connsiteX0" fmla="*/ 729372 w 729372"/>
                <a:gd name="connsiteY0" fmla="*/ 0 h 1593468"/>
                <a:gd name="connsiteX1" fmla="*/ 729372 w 729372"/>
                <a:gd name="connsiteY1" fmla="*/ 1593468 h 1593468"/>
                <a:gd name="connsiteX2" fmla="*/ 0 w 729372"/>
                <a:gd name="connsiteY2" fmla="*/ 1593468 h 1593468"/>
                <a:gd name="connsiteX3" fmla="*/ 233217 w 729372"/>
                <a:gd name="connsiteY3" fmla="*/ 796734 h 1593468"/>
                <a:gd name="connsiteX4" fmla="*/ 0 w 729372"/>
                <a:gd name="connsiteY4" fmla="*/ 0 h 159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9372" h="1593468">
                  <a:moveTo>
                    <a:pt x="729372" y="0"/>
                  </a:moveTo>
                  <a:lnTo>
                    <a:pt x="729372" y="1593468"/>
                  </a:lnTo>
                  <a:lnTo>
                    <a:pt x="0" y="1593468"/>
                  </a:lnTo>
                  <a:lnTo>
                    <a:pt x="233217" y="796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65040" y="683075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prstClr val="white"/>
                  </a:solidFill>
                </a:rPr>
                <a:t>名师点评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46952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8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41.xml"/><Relationship Id="rId3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36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40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44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41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41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41" y="63563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0" hangingPunct="0">
              <a:defRPr/>
            </a:pPr>
            <a:fld id="{5EBCFF31-69BD-4239-9B79-7008355E0D8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 eaLnBrk="0" hangingPunct="0">
                <a:defRPr/>
              </a:pPr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1" y="6356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0" hangingPunct="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7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2EB0456-1C95-47C4-8B25-10EE7234708F}" type="slidenum">
              <a:rPr lang="zh-CN" altLang="en-US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3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42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4870" r:id="rId4"/>
    <p:sldLayoutId id="2147484871" r:id="rId5"/>
    <p:sldLayoutId id="2147484872" r:id="rId6"/>
    <p:sldLayoutId id="2147484876" r:id="rId7"/>
  </p:sldLayoutIdLst>
  <p:txStyles>
    <p:titleStyle>
      <a:lvl1pPr algn="ctr" defTabSz="1217295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微软雅黑" panose="020B0503020204020204" charset="-122"/>
        </a:defRPr>
      </a:lvl1pPr>
      <a:lvl2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2pPr>
      <a:lvl3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3pPr>
      <a:lvl4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4pPr>
      <a:lvl5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5pPr>
      <a:lvl6pPr marL="4572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6pPr>
      <a:lvl7pPr marL="9144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7pPr>
      <a:lvl8pPr marL="13716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8pPr>
      <a:lvl9pPr marL="18288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9pPr>
    </p:titleStyle>
    <p:bodyStyle>
      <a:lvl1pPr marL="455930" indent="-4559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89330" indent="-3797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27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3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19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99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4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94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40" r:id="rId1"/>
    <p:sldLayoutId id="2147484841" r:id="rId2"/>
    <p:sldLayoutId id="2147484842" r:id="rId3"/>
    <p:sldLayoutId id="2147484843" r:id="rId4"/>
    <p:sldLayoutId id="2147484844" r:id="rId5"/>
    <p:sldLayoutId id="2147484845" r:id="rId6"/>
    <p:sldLayoutId id="2147484846" r:id="rId7"/>
    <p:sldLayoutId id="2147484847" r:id="rId8"/>
    <p:sldLayoutId id="2147484848" r:id="rId9"/>
    <p:sldLayoutId id="2147484849" r:id="rId10"/>
    <p:sldLayoutId id="2147484850" r:id="rId11"/>
    <p:sldLayoutId id="2147484851" r:id="rId12"/>
    <p:sldLayoutId id="2147484852" r:id="rId13"/>
    <p:sldLayoutId id="2147484853" r:id="rId14"/>
    <p:sldLayoutId id="2147484854" r:id="rId15"/>
    <p:sldLayoutId id="2147484855" r:id="rId16"/>
    <p:sldLayoutId id="2147484856" r:id="rId17"/>
    <p:sldLayoutId id="2147484857" r:id="rId18"/>
    <p:sldLayoutId id="2147484858" r:id="rId19"/>
    <p:sldLayoutId id="2147484859" r:id="rId20"/>
    <p:sldLayoutId id="2147484860" r:id="rId21"/>
    <p:sldLayoutId id="2147484861" r:id="rId22"/>
    <p:sldLayoutId id="2147484862" r:id="rId23"/>
    <p:sldLayoutId id="2147484863" r:id="rId24"/>
    <p:sldLayoutId id="2147484864" r:id="rId25"/>
    <p:sldLayoutId id="2147484865" r:id="rId26"/>
    <p:sldLayoutId id="2147484866" r:id="rId27"/>
    <p:sldLayoutId id="2147484867" r:id="rId28"/>
    <p:sldLayoutId id="2147484868" r:id="rId29"/>
    <p:sldLayoutId id="2147484869" r:id="rId3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13492" y="884131"/>
            <a:ext cx="11176812" cy="621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大气的主要成分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501307"/>
              </p:ext>
            </p:extLst>
          </p:nvPr>
        </p:nvGraphicFramePr>
        <p:xfrm>
          <a:off x="575768" y="1661568"/>
          <a:ext cx="10560792" cy="5151808"/>
        </p:xfrm>
        <a:graphic>
          <a:graphicData uri="http://schemas.openxmlformats.org/drawingml/2006/table">
            <a:tbl>
              <a:tblPr/>
              <a:tblGrid>
                <a:gridCol w="1012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8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9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39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主要成分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主要作用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976">
                <a:tc row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干洁空气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氮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生物体内蛋白质的重要组成部分</a:t>
                      </a:r>
                      <a:endParaRPr lang="zh-CN" sz="2600" kern="100" baseline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9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氧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人类和一切生物维持生命活动必需的物质</a:t>
                      </a:r>
                      <a:endParaRPr lang="zh-CN" sz="2600" kern="100" baseline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9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二氧化碳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绿色植物进行光合作用的原料；对地面起保温作用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9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臭氧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吸收紫外线，被誉为</a:t>
                      </a: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地球生命的保护伞</a:t>
                      </a: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”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9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稀有气体</a:t>
                      </a:r>
                      <a:endParaRPr lang="zh-CN" sz="2600" kern="100" baseline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397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水汽</a:t>
                      </a:r>
                      <a:endParaRPr lang="zh-CN" sz="2600" kern="100" baseline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成云致雨的必要条件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397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固体杂质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原创设计师QQ598969553             _1"/>
          <p:cNvSpPr/>
          <p:nvPr/>
        </p:nvSpPr>
        <p:spPr bwMode="auto">
          <a:xfrm>
            <a:off x="3" y="-27384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原创设计师QQ598969553             _2"/>
          <p:cNvSpPr/>
          <p:nvPr/>
        </p:nvSpPr>
        <p:spPr bwMode="auto">
          <a:xfrm>
            <a:off x="122606" y="233133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原创设计师QQ598969553             _3"/>
          <p:cNvSpPr>
            <a:spLocks noChangeArrowheads="1"/>
          </p:cNvSpPr>
          <p:nvPr/>
        </p:nvSpPr>
        <p:spPr bwMode="auto">
          <a:xfrm>
            <a:off x="982768" y="192727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课题导入</a:t>
            </a:r>
            <a:r>
              <a:rPr lang="en-US" altLang="zh-CN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专题概况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8" name="原创设计师QQ598969553             _5"/>
          <p:cNvSpPr>
            <a:spLocks noChangeArrowheads="1"/>
          </p:cNvSpPr>
          <p:nvPr/>
        </p:nvSpPr>
        <p:spPr bwMode="auto">
          <a:xfrm>
            <a:off x="981706" y="624031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KETIDAORU</a:t>
            </a:r>
            <a:r>
              <a:rPr lang="zh-CN" altLang="en-US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3207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61982" y="903988"/>
            <a:ext cx="11176812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大气</a:t>
            </a:r>
            <a:r>
              <a:rPr lang="zh-CN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垂直分层</a:t>
            </a:r>
            <a:endParaRPr lang="zh-CN" altLang="zh-CN" sz="2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原创设计师QQ598969553             _1"/>
          <p:cNvSpPr/>
          <p:nvPr/>
        </p:nvSpPr>
        <p:spPr bwMode="auto">
          <a:xfrm>
            <a:off x="3" y="-27384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1" name="原创设计师QQ598969553             _2"/>
          <p:cNvSpPr/>
          <p:nvPr/>
        </p:nvSpPr>
        <p:spPr bwMode="auto">
          <a:xfrm>
            <a:off x="122606" y="233133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2" name="原创设计师QQ598969553             _3"/>
          <p:cNvSpPr>
            <a:spLocks noChangeArrowheads="1"/>
          </p:cNvSpPr>
          <p:nvPr/>
        </p:nvSpPr>
        <p:spPr bwMode="auto">
          <a:xfrm>
            <a:off x="982768" y="192727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课题导入</a:t>
            </a:r>
            <a:r>
              <a:rPr lang="en-US" altLang="zh-CN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专题概况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13" name="原创设计师QQ598969553             _5"/>
          <p:cNvSpPr>
            <a:spLocks noChangeArrowheads="1"/>
          </p:cNvSpPr>
          <p:nvPr/>
        </p:nvSpPr>
        <p:spPr bwMode="auto">
          <a:xfrm>
            <a:off x="981706" y="624031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KETIDAORU</a:t>
            </a:r>
            <a:r>
              <a:rPr lang="zh-CN" altLang="en-US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</a:p>
        </p:txBody>
      </p:sp>
      <p:pic>
        <p:nvPicPr>
          <p:cNvPr id="14" name="Picture 2" descr="R21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7" y="1863109"/>
            <a:ext cx="6081891" cy="3620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960" y="1988840"/>
            <a:ext cx="5975040" cy="365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06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23393" y="762352"/>
          <a:ext cx="10945214" cy="4754880"/>
        </p:xfrm>
        <a:graphic>
          <a:graphicData uri="http://schemas.openxmlformats.org/drawingml/2006/table">
            <a:tbl>
              <a:tblPr/>
              <a:tblGrid>
                <a:gridCol w="1420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4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2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57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502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分层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气温垂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直变化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大气运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动状况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与人类的关系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02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对流层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随高度增加而降低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对流运动显著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天气现象复杂多变，与人类关系最密切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2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平流层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随高度增加而升高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水平运动为主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有利于高空飞行，臭氧层为地球生命的保护伞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02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高层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大气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 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 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80</a:t>
                      </a: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500 km</a:t>
                      </a: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有若干电离层，对无线电通信有重要作用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457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61982" y="903988"/>
            <a:ext cx="11176812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大气</a:t>
            </a:r>
            <a:r>
              <a:rPr lang="zh-CN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垂直分层</a:t>
            </a:r>
            <a:endParaRPr lang="zh-CN" altLang="zh-CN" sz="2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19788" y="5263974"/>
            <a:ext cx="11176812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大气</a:t>
            </a:r>
            <a:r>
              <a:rPr lang="zh-CN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基本物理性质</a:t>
            </a:r>
            <a:endParaRPr lang="zh-CN" altLang="zh-CN" sz="2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2670" y="5965045"/>
            <a:ext cx="74641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气温、气压、风、湿度（降水）</a:t>
            </a:r>
            <a:endParaRPr lang="zh-CN" altLang="en-US" sz="2400" dirty="0"/>
          </a:p>
        </p:txBody>
      </p:sp>
      <p:sp>
        <p:nvSpPr>
          <p:cNvPr id="10" name="原创设计师QQ598969553             _1"/>
          <p:cNvSpPr/>
          <p:nvPr/>
        </p:nvSpPr>
        <p:spPr bwMode="auto">
          <a:xfrm>
            <a:off x="3" y="-27384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1" name="原创设计师QQ598969553             _2"/>
          <p:cNvSpPr/>
          <p:nvPr/>
        </p:nvSpPr>
        <p:spPr bwMode="auto">
          <a:xfrm>
            <a:off x="122606" y="233133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2" name="原创设计师QQ598969553             _3"/>
          <p:cNvSpPr>
            <a:spLocks noChangeArrowheads="1"/>
          </p:cNvSpPr>
          <p:nvPr/>
        </p:nvSpPr>
        <p:spPr bwMode="auto">
          <a:xfrm>
            <a:off x="982768" y="192727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课题导入</a:t>
            </a:r>
            <a:r>
              <a:rPr lang="en-US" altLang="zh-CN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专题概况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13" name="原创设计师QQ598969553             _5"/>
          <p:cNvSpPr>
            <a:spLocks noChangeArrowheads="1"/>
          </p:cNvSpPr>
          <p:nvPr/>
        </p:nvSpPr>
        <p:spPr bwMode="auto">
          <a:xfrm>
            <a:off x="981706" y="624031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KETIDAORU</a:t>
            </a:r>
            <a:r>
              <a:rPr lang="zh-CN" altLang="en-US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</a:p>
        </p:txBody>
      </p:sp>
      <p:pic>
        <p:nvPicPr>
          <p:cNvPr id="14" name="Picture 2" descr="R21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477" y="1534011"/>
            <a:ext cx="6628221" cy="3851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6628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7F5F4544-9D4B-488B-930D-CE5C1BB6834A}"/>
              </a:ext>
            </a:extLst>
          </p:cNvPr>
          <p:cNvSpPr txBox="1">
            <a:spLocks/>
          </p:cNvSpPr>
          <p:nvPr/>
        </p:nvSpPr>
        <p:spPr>
          <a:xfrm>
            <a:off x="4058" y="2420910"/>
            <a:ext cx="12187942" cy="166793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</a:ln>
        </p:spPr>
        <p:txBody>
          <a:bodyPr anchor="ctr"/>
          <a:lstStyle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3600" b="0" i="0" u="non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Tx/>
            </a:pPr>
            <a:r>
              <a:rPr lang="zh-CN" alt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专题</a:t>
            </a:r>
            <a:r>
              <a:rPr lang="en-US" altLang="zh-CN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  </a:t>
            </a:r>
            <a:r>
              <a:rPr lang="zh-CN" alt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大气受热过程与气温</a:t>
            </a:r>
            <a:endParaRPr lang="en-US" altLang="zh-CN" sz="44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609FA7D-4711-458B-96D8-5D33E174E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1944" y="4365104"/>
            <a:ext cx="7548111" cy="1149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lnSpc>
                <a:spcPts val="44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高三地理组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ts val="44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程辰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347E1A-C816-4114-9B37-0D0AC7B50201}"/>
              </a:ext>
            </a:extLst>
          </p:cNvPr>
          <p:cNvSpPr/>
          <p:nvPr/>
        </p:nvSpPr>
        <p:spPr>
          <a:xfrm>
            <a:off x="4937219" y="5771973"/>
            <a:ext cx="2317559" cy="5668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104DF1-0A05-4375-89E9-F3A294C15285}"/>
              </a:ext>
            </a:extLst>
          </p:cNvPr>
          <p:cNvSpPr txBox="1"/>
          <p:nvPr/>
        </p:nvSpPr>
        <p:spPr>
          <a:xfrm>
            <a:off x="4058" y="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地理一轮</a:t>
            </a:r>
            <a:r>
              <a:rPr lang="zh-CN" altLang="en-US" sz="2400" dirty="0"/>
              <a:t>复习</a:t>
            </a:r>
          </a:p>
        </p:txBody>
      </p:sp>
    </p:spTree>
    <p:extLst>
      <p:ext uri="{BB962C8B-B14F-4D97-AF65-F5344CB8AC3E}">
        <p14:creationId xmlns:p14="http://schemas.microsoft.com/office/powerpoint/2010/main" val="2009423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目标引领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MUBIAOYINLING</a:t>
            </a:r>
          </a:p>
        </p:txBody>
      </p:sp>
      <p:sp>
        <p:nvSpPr>
          <p:cNvPr id="7" name="矩形 6"/>
          <p:cNvSpPr/>
          <p:nvPr/>
        </p:nvSpPr>
        <p:spPr>
          <a:xfrm>
            <a:off x="612646" y="1628800"/>
            <a:ext cx="10966708" cy="309315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1.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综合思维：联系大气受热过程示意图及其原理，从要素综合的角度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</a:t>
            </a:r>
            <a:endParaRPr lang="en-US" altLang="zh-CN" sz="2600" kern="1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影响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昼夜温差大小、太阳辐射量大小及气温高低等地理事象的要素。</a:t>
            </a:r>
            <a:endParaRPr lang="zh-CN" altLang="zh-CN" sz="26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2.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人地协调观：结合大气受热过程在实际生活中的应用，能简单辨识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人们</a:t>
            </a:r>
            <a:endParaRPr lang="en-US" altLang="zh-CN" sz="2600" kern="1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生产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活动和生活习惯与地理环境之间的联系，理解人类对地理环境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施加</a:t>
            </a:r>
            <a:endParaRPr lang="en-US" altLang="zh-CN" sz="2600" kern="1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影响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的方式及其带来的影响。</a:t>
            </a:r>
            <a:endParaRPr lang="zh-CN" altLang="zh-CN" sz="2600" kern="100" dirty="0">
              <a:solidFill>
                <a:prstClr val="black"/>
              </a:solidFill>
              <a:latin typeface="宋体" panose="02010600030101010101" pitchFamily="2" charset="-122"/>
              <a:cs typeface="Courier New" panose="02070309020205020404"/>
            </a:endParaRPr>
          </a:p>
        </p:txBody>
      </p:sp>
    </p:spTree>
    <p:extLst>
      <p:ext uri="{BB962C8B-B14F-4D97-AF65-F5344CB8AC3E}">
        <p14:creationId xmlns:p14="http://schemas.microsoft.com/office/powerpoint/2010/main" val="1749635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 bwMode="auto">
          <a:xfrm>
            <a:off x="8631785" y="2303241"/>
            <a:ext cx="2057400" cy="3078163"/>
            <a:chOff x="0" y="0"/>
            <a:chExt cx="1296" cy="1938"/>
          </a:xfrm>
        </p:grpSpPr>
        <p:grpSp>
          <p:nvGrpSpPr>
            <p:cNvPr id="6" name="Group 3"/>
            <p:cNvGrpSpPr/>
            <p:nvPr/>
          </p:nvGrpSpPr>
          <p:grpSpPr bwMode="auto">
            <a:xfrm>
              <a:off x="0" y="0"/>
              <a:ext cx="1296" cy="1920"/>
              <a:chOff x="0" y="0"/>
              <a:chExt cx="1296" cy="1920"/>
            </a:xfrm>
          </p:grpSpPr>
          <p:sp>
            <p:nvSpPr>
              <p:cNvPr id="9" name="AutoShape 4"/>
              <p:cNvSpPr>
                <a:spLocks noChangeArrowheads="1"/>
              </p:cNvSpPr>
              <p:nvPr/>
            </p:nvSpPr>
            <p:spPr bwMode="auto">
              <a:xfrm rot="434151">
                <a:off x="0" y="624"/>
                <a:ext cx="624" cy="769"/>
              </a:xfrm>
              <a:prstGeom prst="leftArrow">
                <a:avLst>
                  <a:gd name="adj1" fmla="val 50000"/>
                  <a:gd name="adj2" fmla="val 25000"/>
                </a:avLst>
              </a:prstGeom>
              <a:solidFill>
                <a:srgbClr val="FF9900"/>
              </a:solidFill>
              <a:ln w="9525" cmpd="sng">
                <a:solidFill>
                  <a:srgbClr val="FF99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utoShape 5"/>
              <p:cNvSpPr>
                <a:spLocks noChangeArrowheads="1"/>
              </p:cNvSpPr>
              <p:nvPr/>
            </p:nvSpPr>
            <p:spPr bwMode="auto">
              <a:xfrm rot="21298094">
                <a:off x="768" y="0"/>
                <a:ext cx="96" cy="864"/>
              </a:xfrm>
              <a:prstGeom prst="upArrow">
                <a:avLst>
                  <a:gd name="adj1" fmla="val 50000"/>
                  <a:gd name="adj2" fmla="val 225000"/>
                </a:avLst>
              </a:prstGeom>
              <a:solidFill>
                <a:srgbClr val="FF9900"/>
              </a:solidFill>
              <a:ln w="9525" cmpd="sng">
                <a:solidFill>
                  <a:srgbClr val="FF9900"/>
                </a:solidFill>
                <a:miter lim="800000"/>
              </a:ln>
              <a:effectLst/>
            </p:spPr>
            <p:txBody>
              <a:bodyPr vert="eaVert" wrap="none" anchor="ctr"/>
              <a:lstStyle/>
              <a:p>
                <a:pPr>
                  <a:defRPr/>
                </a:pPr>
                <a:endParaRPr lang="zh-CN" altLang="en-US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" name="Group 6"/>
              <p:cNvGrpSpPr/>
              <p:nvPr/>
            </p:nvGrpSpPr>
            <p:grpSpPr bwMode="auto">
              <a:xfrm>
                <a:off x="576" y="864"/>
                <a:ext cx="720" cy="1056"/>
                <a:chOff x="0" y="0"/>
                <a:chExt cx="720" cy="1056"/>
              </a:xfrm>
            </p:grpSpPr>
            <p:sp>
              <p:nvSpPr>
                <p:cNvPr id="12" name="Line 7"/>
                <p:cNvSpPr>
                  <a:spLocks noChangeShapeType="1"/>
                </p:cNvSpPr>
                <p:nvPr/>
              </p:nvSpPr>
              <p:spPr bwMode="auto">
                <a:xfrm>
                  <a:off x="0" y="383"/>
                  <a:ext cx="288" cy="673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Line 8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192" cy="0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Line 9"/>
                <p:cNvSpPr>
                  <a:spLocks noChangeShapeType="1"/>
                </p:cNvSpPr>
                <p:nvPr/>
              </p:nvSpPr>
              <p:spPr bwMode="auto">
                <a:xfrm>
                  <a:off x="288" y="0"/>
                  <a:ext cx="432" cy="1056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0" y="0"/>
                  <a:ext cx="48" cy="336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Line 11"/>
                <p:cNvSpPr>
                  <a:spLocks noChangeShapeType="1"/>
                </p:cNvSpPr>
                <p:nvPr/>
              </p:nvSpPr>
              <p:spPr bwMode="auto">
                <a:xfrm>
                  <a:off x="288" y="1054"/>
                  <a:ext cx="432" cy="0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" name="Line 12"/>
            <p:cNvSpPr>
              <a:spLocks noChangeShapeType="1"/>
            </p:cNvSpPr>
            <p:nvPr/>
          </p:nvSpPr>
          <p:spPr bwMode="auto">
            <a:xfrm>
              <a:off x="480" y="1200"/>
              <a:ext cx="288" cy="720"/>
            </a:xfrm>
            <a:prstGeom prst="line">
              <a:avLst/>
            </a:prstGeom>
            <a:noFill/>
            <a:ln w="9525" cmpd="sng">
              <a:solidFill>
                <a:srgbClr val="FF99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8" name="未知"/>
            <p:cNvSpPr/>
            <p:nvPr/>
          </p:nvSpPr>
          <p:spPr bwMode="auto">
            <a:xfrm>
              <a:off x="504" y="841"/>
              <a:ext cx="792" cy="1097"/>
            </a:xfrm>
            <a:custGeom>
              <a:avLst/>
              <a:gdLst>
                <a:gd name="T0" fmla="*/ 792 w 792"/>
                <a:gd name="T1" fmla="*/ 1055 h 1097"/>
                <a:gd name="T2" fmla="*/ 708 w 792"/>
                <a:gd name="T3" fmla="*/ 815 h 1097"/>
                <a:gd name="T4" fmla="*/ 648 w 792"/>
                <a:gd name="T5" fmla="*/ 683 h 1097"/>
                <a:gd name="T6" fmla="*/ 600 w 792"/>
                <a:gd name="T7" fmla="*/ 587 h 1097"/>
                <a:gd name="T8" fmla="*/ 552 w 792"/>
                <a:gd name="T9" fmla="*/ 503 h 1097"/>
                <a:gd name="T10" fmla="*/ 504 w 792"/>
                <a:gd name="T11" fmla="*/ 359 h 1097"/>
                <a:gd name="T12" fmla="*/ 456 w 792"/>
                <a:gd name="T13" fmla="*/ 275 h 1097"/>
                <a:gd name="T14" fmla="*/ 408 w 792"/>
                <a:gd name="T15" fmla="*/ 179 h 1097"/>
                <a:gd name="T16" fmla="*/ 360 w 792"/>
                <a:gd name="T17" fmla="*/ 35 h 1097"/>
                <a:gd name="T18" fmla="*/ 180 w 792"/>
                <a:gd name="T19" fmla="*/ 23 h 1097"/>
                <a:gd name="T20" fmla="*/ 60 w 792"/>
                <a:gd name="T21" fmla="*/ 275 h 1097"/>
                <a:gd name="T22" fmla="*/ 0 w 792"/>
                <a:gd name="T23" fmla="*/ 383 h 1097"/>
                <a:gd name="T24" fmla="*/ 84 w 792"/>
                <a:gd name="T25" fmla="*/ 587 h 1097"/>
                <a:gd name="T26" fmla="*/ 108 w 792"/>
                <a:gd name="T27" fmla="*/ 707 h 1097"/>
                <a:gd name="T28" fmla="*/ 168 w 792"/>
                <a:gd name="T29" fmla="*/ 851 h 1097"/>
                <a:gd name="T30" fmla="*/ 204 w 792"/>
                <a:gd name="T31" fmla="*/ 935 h 1097"/>
                <a:gd name="T32" fmla="*/ 240 w 792"/>
                <a:gd name="T33" fmla="*/ 1043 h 1097"/>
                <a:gd name="T34" fmla="*/ 252 w 792"/>
                <a:gd name="T35" fmla="*/ 1079 h 1097"/>
                <a:gd name="T36" fmla="*/ 360 w 792"/>
                <a:gd name="T37" fmla="*/ 1091 h 1097"/>
                <a:gd name="T38" fmla="*/ 612 w 792"/>
                <a:gd name="T39" fmla="*/ 1067 h 1097"/>
                <a:gd name="T40" fmla="*/ 708 w 792"/>
                <a:gd name="T41" fmla="*/ 1079 h 1097"/>
                <a:gd name="T42" fmla="*/ 768 w 792"/>
                <a:gd name="T43" fmla="*/ 1091 h 1097"/>
                <a:gd name="T44" fmla="*/ 792 w 792"/>
                <a:gd name="T45" fmla="*/ 1055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92" h="1097">
                  <a:moveTo>
                    <a:pt x="792" y="1055"/>
                  </a:moveTo>
                  <a:cubicBezTo>
                    <a:pt x="767" y="979"/>
                    <a:pt x="744" y="886"/>
                    <a:pt x="708" y="815"/>
                  </a:cubicBezTo>
                  <a:cubicBezTo>
                    <a:pt x="684" y="767"/>
                    <a:pt x="678" y="728"/>
                    <a:pt x="648" y="683"/>
                  </a:cubicBezTo>
                  <a:cubicBezTo>
                    <a:pt x="586" y="590"/>
                    <a:pt x="672" y="719"/>
                    <a:pt x="600" y="587"/>
                  </a:cubicBezTo>
                  <a:cubicBezTo>
                    <a:pt x="595" y="573"/>
                    <a:pt x="558" y="516"/>
                    <a:pt x="552" y="503"/>
                  </a:cubicBezTo>
                  <a:cubicBezTo>
                    <a:pt x="535" y="465"/>
                    <a:pt x="528" y="395"/>
                    <a:pt x="504" y="359"/>
                  </a:cubicBezTo>
                  <a:cubicBezTo>
                    <a:pt x="488" y="335"/>
                    <a:pt x="472" y="299"/>
                    <a:pt x="456" y="275"/>
                  </a:cubicBezTo>
                  <a:cubicBezTo>
                    <a:pt x="434" y="242"/>
                    <a:pt x="430" y="212"/>
                    <a:pt x="408" y="179"/>
                  </a:cubicBezTo>
                  <a:cubicBezTo>
                    <a:pt x="396" y="129"/>
                    <a:pt x="383" y="81"/>
                    <a:pt x="360" y="35"/>
                  </a:cubicBezTo>
                  <a:cubicBezTo>
                    <a:pt x="254" y="0"/>
                    <a:pt x="313" y="8"/>
                    <a:pt x="180" y="23"/>
                  </a:cubicBezTo>
                  <a:cubicBezTo>
                    <a:pt x="103" y="74"/>
                    <a:pt x="88" y="191"/>
                    <a:pt x="60" y="275"/>
                  </a:cubicBezTo>
                  <a:cubicBezTo>
                    <a:pt x="47" y="314"/>
                    <a:pt x="13" y="344"/>
                    <a:pt x="0" y="383"/>
                  </a:cubicBezTo>
                  <a:cubicBezTo>
                    <a:pt x="21" y="468"/>
                    <a:pt x="48" y="515"/>
                    <a:pt x="84" y="587"/>
                  </a:cubicBezTo>
                  <a:cubicBezTo>
                    <a:pt x="88" y="602"/>
                    <a:pt x="99" y="690"/>
                    <a:pt x="108" y="707"/>
                  </a:cubicBezTo>
                  <a:cubicBezTo>
                    <a:pt x="138" y="766"/>
                    <a:pt x="120" y="731"/>
                    <a:pt x="168" y="851"/>
                  </a:cubicBezTo>
                  <a:cubicBezTo>
                    <a:pt x="174" y="864"/>
                    <a:pt x="198" y="922"/>
                    <a:pt x="204" y="935"/>
                  </a:cubicBezTo>
                  <a:cubicBezTo>
                    <a:pt x="204" y="935"/>
                    <a:pt x="234" y="1025"/>
                    <a:pt x="240" y="1043"/>
                  </a:cubicBezTo>
                  <a:cubicBezTo>
                    <a:pt x="244" y="1055"/>
                    <a:pt x="239" y="1078"/>
                    <a:pt x="252" y="1079"/>
                  </a:cubicBezTo>
                  <a:cubicBezTo>
                    <a:pt x="288" y="1083"/>
                    <a:pt x="324" y="1087"/>
                    <a:pt x="360" y="1091"/>
                  </a:cubicBezTo>
                  <a:cubicBezTo>
                    <a:pt x="414" y="1085"/>
                    <a:pt x="567" y="1067"/>
                    <a:pt x="612" y="1067"/>
                  </a:cubicBezTo>
                  <a:cubicBezTo>
                    <a:pt x="644" y="1067"/>
                    <a:pt x="676" y="1074"/>
                    <a:pt x="708" y="1079"/>
                  </a:cubicBezTo>
                  <a:cubicBezTo>
                    <a:pt x="728" y="1082"/>
                    <a:pt x="748" y="1097"/>
                    <a:pt x="768" y="1091"/>
                  </a:cubicBezTo>
                  <a:cubicBezTo>
                    <a:pt x="782" y="1087"/>
                    <a:pt x="784" y="1067"/>
                    <a:pt x="792" y="1055"/>
                  </a:cubicBezTo>
                  <a:close/>
                </a:path>
              </a:pathLst>
            </a:custGeom>
            <a:solidFill>
              <a:srgbClr val="FF9900"/>
            </a:solidFill>
            <a:ln w="9525" cmpd="sng">
              <a:solidFill>
                <a:srgbClr val="FF99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4"/>
          <p:cNvGrpSpPr/>
          <p:nvPr/>
        </p:nvGrpSpPr>
        <p:grpSpPr bwMode="auto">
          <a:xfrm>
            <a:off x="2686859" y="484013"/>
            <a:ext cx="8886825" cy="6329363"/>
            <a:chOff x="162" y="-3"/>
            <a:chExt cx="5598" cy="3987"/>
          </a:xfrm>
        </p:grpSpPr>
        <p:sp>
          <p:nvSpPr>
            <p:cNvPr id="18" name="AutoShape 15"/>
            <p:cNvSpPr>
              <a:spLocks noChangeArrowheads="1"/>
            </p:cNvSpPr>
            <p:nvPr/>
          </p:nvSpPr>
          <p:spPr bwMode="auto">
            <a:xfrm>
              <a:off x="759" y="-3"/>
              <a:ext cx="432" cy="432"/>
            </a:xfrm>
            <a:prstGeom prst="star16">
              <a:avLst>
                <a:gd name="adj" fmla="val 37500"/>
              </a:avLst>
            </a:prstGeom>
            <a:solidFill>
              <a:srgbClr val="FF3300"/>
            </a:solidFill>
            <a:ln w="9525" cmpd="sng">
              <a:solidFill>
                <a:srgbClr val="FFFF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 flipV="1">
              <a:off x="162" y="3076"/>
              <a:ext cx="5598" cy="0"/>
            </a:xfrm>
            <a:prstGeom prst="line">
              <a:avLst/>
            </a:prstGeom>
            <a:noFill/>
            <a:ln w="38100" cmpd="sng">
              <a:solidFill>
                <a:srgbClr val="FF99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7" descr="宽上对角线"/>
            <p:cNvSpPr>
              <a:spLocks noChangeArrowheads="1"/>
            </p:cNvSpPr>
            <p:nvPr/>
          </p:nvSpPr>
          <p:spPr bwMode="auto">
            <a:xfrm>
              <a:off x="162" y="3072"/>
              <a:ext cx="5598" cy="288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19050" cmpd="sng">
              <a:solidFill>
                <a:srgbClr val="FF99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162" y="1572"/>
              <a:ext cx="5598" cy="12"/>
            </a:xfrm>
            <a:prstGeom prst="line">
              <a:avLst/>
            </a:prstGeom>
            <a:noFill/>
            <a:ln w="38100" cmpd="sng">
              <a:solidFill>
                <a:schemeClr val="folHlink"/>
              </a:solidFill>
              <a:prstDash val="lgDash"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162" y="3360"/>
              <a:ext cx="5598" cy="624"/>
            </a:xfrm>
            <a:prstGeom prst="rect">
              <a:avLst/>
            </a:prstGeom>
            <a:solidFill>
              <a:srgbClr val="FFCB7F"/>
            </a:solidFill>
            <a:ln w="9525" cmpd="sng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4868" y="1209"/>
              <a:ext cx="892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大气上界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2496" y="3120"/>
              <a:ext cx="864" cy="24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3346997" y="1312641"/>
            <a:ext cx="1293813" cy="16764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 cmpd="sng">
            <a:solidFill>
              <a:schemeClr val="tx1"/>
            </a:solidFill>
            <a:miter lim="800000"/>
          </a:ln>
          <a:effectLst/>
        </p:spPr>
        <p:txBody>
          <a:bodyPr vert="eaVert" wrap="none" anchor="ctr"/>
          <a:lstStyle/>
          <a:p>
            <a:pPr>
              <a:defRPr/>
            </a:pPr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3777210" y="1312641"/>
            <a:ext cx="492125" cy="1200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太</a:t>
            </a:r>
          </a:p>
          <a:p>
            <a:pPr>
              <a:defRPr/>
            </a:pPr>
            <a:r>
              <a:rPr lang="zh-CN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阳</a:t>
            </a:r>
          </a:p>
          <a:p>
            <a:pPr>
              <a:defRPr/>
            </a:pPr>
            <a:r>
              <a:rPr lang="zh-CN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辐</a:t>
            </a:r>
          </a:p>
          <a:p>
            <a:pPr>
              <a:defRPr/>
            </a:pPr>
            <a:r>
              <a:rPr lang="zh-CN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射</a:t>
            </a:r>
            <a:endParaRPr lang="zh-CN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9" name="AutoShape 26"/>
          <p:cNvSpPr>
            <a:spLocks noChangeArrowheads="1"/>
          </p:cNvSpPr>
          <p:nvPr/>
        </p:nvSpPr>
        <p:spPr bwMode="auto">
          <a:xfrm>
            <a:off x="3510510" y="3009679"/>
            <a:ext cx="914400" cy="2362200"/>
          </a:xfrm>
          <a:prstGeom prst="downArrow">
            <a:avLst>
              <a:gd name="adj1" fmla="val 50000"/>
              <a:gd name="adj2" fmla="val 64583"/>
            </a:avLst>
          </a:prstGeom>
          <a:solidFill>
            <a:srgbClr val="FF3300"/>
          </a:solidFill>
          <a:ln w="9525" cmpd="sng">
            <a:solidFill>
              <a:schemeClr val="tx1"/>
            </a:solidFill>
            <a:miter lim="800000"/>
          </a:ln>
          <a:effectLst/>
        </p:spPr>
        <p:txBody>
          <a:bodyPr vert="eaVert" wrap="none" anchor="ctr"/>
          <a:lstStyle/>
          <a:p>
            <a:pPr>
              <a:defRPr/>
            </a:pPr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0" name="AutoShape 27"/>
          <p:cNvSpPr>
            <a:spLocks noChangeArrowheads="1"/>
          </p:cNvSpPr>
          <p:nvPr/>
        </p:nvSpPr>
        <p:spPr bwMode="auto">
          <a:xfrm rot="2349540">
            <a:off x="4021685" y="3314479"/>
            <a:ext cx="1143000" cy="152400"/>
          </a:xfrm>
          <a:prstGeom prst="rightArrow">
            <a:avLst>
              <a:gd name="adj1" fmla="val 50000"/>
              <a:gd name="adj2" fmla="val 187500"/>
            </a:avLst>
          </a:prstGeom>
          <a:solidFill>
            <a:srgbClr val="FF3300"/>
          </a:solidFill>
          <a:ln w="9525" cmpd="sng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31" name="Group 28"/>
          <p:cNvGrpSpPr/>
          <p:nvPr/>
        </p:nvGrpSpPr>
        <p:grpSpPr bwMode="auto">
          <a:xfrm>
            <a:off x="6331497" y="2303241"/>
            <a:ext cx="1295400" cy="3048000"/>
            <a:chOff x="0" y="0"/>
            <a:chExt cx="480" cy="1824"/>
          </a:xfrm>
        </p:grpSpPr>
        <p:sp>
          <p:nvSpPr>
            <p:cNvPr id="32" name="AutoShape 29"/>
            <p:cNvSpPr>
              <a:spLocks noChangeArrowheads="1"/>
            </p:cNvSpPr>
            <p:nvPr/>
          </p:nvSpPr>
          <p:spPr bwMode="auto">
            <a:xfrm>
              <a:off x="96" y="0"/>
              <a:ext cx="288" cy="864"/>
            </a:xfrm>
            <a:prstGeom prst="upArrow">
              <a:avLst>
                <a:gd name="adj1" fmla="val 50000"/>
                <a:gd name="adj2" fmla="val 75000"/>
              </a:avLst>
            </a:prstGeom>
            <a:solidFill>
              <a:srgbClr val="FF9900"/>
            </a:solidFill>
            <a:ln w="9525" cmpd="sng">
              <a:solidFill>
                <a:srgbClr val="FF99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33" name="AutoShape 30"/>
            <p:cNvSpPr>
              <a:spLocks noChangeArrowheads="1"/>
            </p:cNvSpPr>
            <p:nvPr/>
          </p:nvSpPr>
          <p:spPr bwMode="auto">
            <a:xfrm>
              <a:off x="0" y="864"/>
              <a:ext cx="480" cy="96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mpd="sng">
              <a:solidFill>
                <a:srgbClr val="FF99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3748635" y="3141441"/>
            <a:ext cx="415498" cy="230832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削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弱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太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阳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辐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射</a:t>
            </a:r>
            <a:endParaRPr lang="zh-CN" dirty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endParaRPr lang="zh-CN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4927516" y="2361868"/>
            <a:ext cx="1862447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大气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反射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吸收 、散射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等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削弱作用</a:t>
            </a:r>
            <a:endParaRPr lang="zh-CN" altLang="en-US" sz="1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6" name="Group 33"/>
          <p:cNvGrpSpPr/>
          <p:nvPr/>
        </p:nvGrpSpPr>
        <p:grpSpPr bwMode="auto">
          <a:xfrm>
            <a:off x="3272385" y="5395691"/>
            <a:ext cx="1811338" cy="412749"/>
            <a:chOff x="0" y="0"/>
            <a:chExt cx="1141" cy="288"/>
          </a:xfrm>
        </p:grpSpPr>
        <p:sp>
          <p:nvSpPr>
            <p:cNvPr id="37" name="Rectangle 34"/>
            <p:cNvSpPr>
              <a:spLocks noChangeArrowheads="1"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38" name="Text Box 35"/>
            <p:cNvSpPr txBox="1">
              <a:spLocks noChangeArrowheads="1"/>
            </p:cNvSpPr>
            <p:nvPr/>
          </p:nvSpPr>
          <p:spPr bwMode="auto">
            <a:xfrm>
              <a:off x="0" y="0"/>
              <a:ext cx="1141" cy="23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zh-CN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地面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吸收</a:t>
              </a:r>
              <a:r>
                <a:rPr lang="zh-CN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增温</a:t>
              </a:r>
              <a:endParaRPr 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 Box 36"/>
          <p:cNvSpPr txBox="1">
            <a:spLocks noChangeArrowheads="1"/>
          </p:cNvSpPr>
          <p:nvPr/>
        </p:nvSpPr>
        <p:spPr bwMode="auto">
          <a:xfrm rot="20423604">
            <a:off x="9781135" y="3839454"/>
            <a:ext cx="493712" cy="15684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地</a:t>
            </a:r>
          </a:p>
          <a:p>
            <a:pPr>
              <a:defRPr/>
            </a:pPr>
            <a:r>
              <a:rPr 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面</a:t>
            </a:r>
          </a:p>
          <a:p>
            <a:pPr>
              <a:defRPr/>
            </a:pPr>
            <a:r>
              <a:rPr 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辐</a:t>
            </a:r>
          </a:p>
          <a:p>
            <a:pPr>
              <a:defRPr/>
            </a:pPr>
            <a:r>
              <a:rPr 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射</a:t>
            </a:r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8746085" y="3526112"/>
            <a:ext cx="696912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大气</a:t>
            </a:r>
          </a:p>
          <a:p>
            <a:pPr>
              <a:defRPr/>
            </a:pPr>
            <a:r>
              <a:rPr 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吸收</a:t>
            </a:r>
          </a:p>
        </p:txBody>
      </p: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9157400" y="1860725"/>
            <a:ext cx="1733167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射向宇宙空间</a:t>
            </a:r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>
            <a:off x="6766295" y="3003376"/>
            <a:ext cx="354012" cy="132343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大</a:t>
            </a:r>
          </a:p>
          <a:p>
            <a:pPr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气</a:t>
            </a:r>
          </a:p>
          <a:p>
            <a:pPr>
              <a:defRPr/>
            </a:pPr>
            <a:r>
              <a:rPr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辐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射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2567608" y="6051377"/>
            <a:ext cx="3068638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“太阳暖大地”</a:t>
            </a:r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8769897" y="6037041"/>
            <a:ext cx="3057525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“大地暖大气”</a:t>
            </a:r>
          </a:p>
        </p:txBody>
      </p:sp>
      <p:sp>
        <p:nvSpPr>
          <p:cNvPr id="45" name="Rectangle 43"/>
          <p:cNvSpPr>
            <a:spLocks noChangeArrowheads="1"/>
          </p:cNvSpPr>
          <p:nvPr/>
        </p:nvSpPr>
        <p:spPr bwMode="auto">
          <a:xfrm>
            <a:off x="5569497" y="6037041"/>
            <a:ext cx="3068638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“大气还大地”</a:t>
            </a:r>
          </a:p>
        </p:txBody>
      </p:sp>
      <p:sp>
        <p:nvSpPr>
          <p:cNvPr id="48" name="Text Box 46"/>
          <p:cNvSpPr txBox="1">
            <a:spLocks noChangeArrowheads="1"/>
          </p:cNvSpPr>
          <p:nvPr/>
        </p:nvSpPr>
        <p:spPr bwMode="auto">
          <a:xfrm>
            <a:off x="8003211" y="3154141"/>
            <a:ext cx="441325" cy="1323764"/>
          </a:xfrm>
          <a:prstGeom prst="rect">
            <a:avLst/>
          </a:prstGeom>
          <a:solidFill>
            <a:srgbClr val="FF3300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大</a:t>
            </a:r>
          </a:p>
          <a:p>
            <a:pPr>
              <a:defRPr/>
            </a:pPr>
            <a:r>
              <a:rPr 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气</a:t>
            </a:r>
          </a:p>
          <a:p>
            <a:pPr>
              <a:defRPr/>
            </a:pPr>
            <a:r>
              <a:rPr 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增</a:t>
            </a:r>
          </a:p>
          <a:p>
            <a:pPr>
              <a:defRPr/>
            </a:pPr>
            <a:r>
              <a:rPr 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温</a:t>
            </a:r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 flipV="1">
            <a:off x="4496347" y="2650904"/>
            <a:ext cx="504825" cy="503237"/>
          </a:xfrm>
          <a:prstGeom prst="line">
            <a:avLst/>
          </a:prstGeom>
          <a:noFill/>
          <a:ln w="57150" cmpd="sng">
            <a:solidFill>
              <a:srgbClr val="E6AF0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1" name="Text Box 49"/>
          <p:cNvSpPr txBox="1">
            <a:spLocks noChangeArrowheads="1"/>
          </p:cNvSpPr>
          <p:nvPr/>
        </p:nvSpPr>
        <p:spPr bwMode="auto">
          <a:xfrm>
            <a:off x="6379493" y="5458046"/>
            <a:ext cx="169386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保持地面温度</a:t>
            </a:r>
          </a:p>
        </p:txBody>
      </p:sp>
      <p:sp>
        <p:nvSpPr>
          <p:cNvPr id="2" name="矩形 1"/>
          <p:cNvSpPr/>
          <p:nvPr/>
        </p:nvSpPr>
        <p:spPr>
          <a:xfrm>
            <a:off x="9452786" y="5435278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地面释放辐射</a:t>
            </a:r>
          </a:p>
        </p:txBody>
      </p:sp>
      <p:sp>
        <p:nvSpPr>
          <p:cNvPr id="53" name="Text Box 38"/>
          <p:cNvSpPr txBox="1">
            <a:spLocks noChangeArrowheads="1"/>
          </p:cNvSpPr>
          <p:nvPr/>
        </p:nvSpPr>
        <p:spPr bwMode="auto">
          <a:xfrm>
            <a:off x="6237232" y="1865026"/>
            <a:ext cx="1733167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射向宇宙空间</a:t>
            </a:r>
          </a:p>
        </p:txBody>
      </p:sp>
      <p:sp>
        <p:nvSpPr>
          <p:cNvPr id="57" name="Text Box 38"/>
          <p:cNvSpPr txBox="1">
            <a:spLocks noChangeArrowheads="1"/>
          </p:cNvSpPr>
          <p:nvPr/>
        </p:nvSpPr>
        <p:spPr bwMode="auto">
          <a:xfrm>
            <a:off x="6278665" y="4746392"/>
            <a:ext cx="1475084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>
                <a:latin typeface="+mn-ea"/>
                <a:ea typeface="+mn-ea"/>
                <a:cs typeface="Times New Roman" panose="02020603050405020304" pitchFamily="18" charset="0"/>
              </a:rPr>
              <a:t>大气逆辐射</a:t>
            </a:r>
            <a:endParaRPr lang="zh-CN" altLang="zh-CN" sz="20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C287088-A716-40B5-8D93-2066FE58629B}"/>
              </a:ext>
            </a:extLst>
          </p:cNvPr>
          <p:cNvSpPr/>
          <p:nvPr/>
        </p:nvSpPr>
        <p:spPr>
          <a:xfrm>
            <a:off x="53292" y="679241"/>
            <a:ext cx="114176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大气的受热过程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）受热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过程及其应用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2" name="Text Box 32"/>
          <p:cNvSpPr txBox="1">
            <a:spLocks noChangeArrowheads="1"/>
          </p:cNvSpPr>
          <p:nvPr/>
        </p:nvSpPr>
        <p:spPr bwMode="auto">
          <a:xfrm>
            <a:off x="7698576" y="4580574"/>
            <a:ext cx="1862447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大气对地面的保温作用</a:t>
            </a:r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098" y="807851"/>
            <a:ext cx="1460748" cy="62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503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 autoUpdateAnimBg="0"/>
      <p:bldP spid="27" grpId="0" autoUpdateAnimBg="0"/>
      <p:bldP spid="29" grpId="0" animBg="1"/>
      <p:bldP spid="30" grpId="0" animBg="1"/>
      <p:bldP spid="34" grpId="0" bldLvl="0" autoUpdateAnimBg="0"/>
      <p:bldP spid="35" grpId="0" bldLvl="0" autoUpdateAnimBg="0"/>
      <p:bldP spid="39" grpId="0" autoUpdateAnimBg="0"/>
      <p:bldP spid="40" grpId="0" autoUpdateAnimBg="0"/>
      <p:bldP spid="41" grpId="0" autoUpdateAnimBg="0"/>
      <p:bldP spid="42" grpId="0" bldLvl="0" autoUpdateAnimBg="0"/>
      <p:bldP spid="43" grpId="0"/>
      <p:bldP spid="44" grpId="0"/>
      <p:bldP spid="45" grpId="0"/>
      <p:bldP spid="48" grpId="0" animBg="1"/>
      <p:bldP spid="50" grpId="0" animBg="1"/>
      <p:bldP spid="51" grpId="0" autoUpdateAnimBg="0"/>
      <p:bldP spid="2" grpId="0" animBg="1"/>
      <p:bldP spid="53" grpId="0" autoUpdateAnimBg="0"/>
      <p:bldP spid="57" grpId="0" autoUpdateAnimBg="0"/>
      <p:bldP spid="72" grpId="0" bldLvl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BC287088-A716-40B5-8D93-2066FE58629B}"/>
              </a:ext>
            </a:extLst>
          </p:cNvPr>
          <p:cNvSpPr/>
          <p:nvPr/>
        </p:nvSpPr>
        <p:spPr>
          <a:xfrm>
            <a:off x="53292" y="679241"/>
            <a:ext cx="114176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大气的受热过程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）受热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过程及其应用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3899" y="171621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太阳短波辐射</a:t>
            </a:r>
          </a:p>
        </p:txBody>
      </p:sp>
      <p:sp>
        <p:nvSpPr>
          <p:cNvPr id="4" name="矩形 3"/>
          <p:cNvSpPr/>
          <p:nvPr/>
        </p:nvSpPr>
        <p:spPr>
          <a:xfrm>
            <a:off x="865544" y="255740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大气削弱太阳辐射</a:t>
            </a:r>
          </a:p>
        </p:txBody>
      </p:sp>
      <p:sp>
        <p:nvSpPr>
          <p:cNvPr id="25" name="矩形 24"/>
          <p:cNvSpPr/>
          <p:nvPr/>
        </p:nvSpPr>
        <p:spPr>
          <a:xfrm>
            <a:off x="274676" y="3414939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地面吸收增温（太阳暖大地）</a:t>
            </a:r>
          </a:p>
        </p:txBody>
      </p:sp>
      <p:sp>
        <p:nvSpPr>
          <p:cNvPr id="28" name="矩形 27"/>
          <p:cNvSpPr/>
          <p:nvPr/>
        </p:nvSpPr>
        <p:spPr>
          <a:xfrm>
            <a:off x="843592" y="418890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地面释放长波辐射</a:t>
            </a:r>
          </a:p>
        </p:txBody>
      </p:sp>
      <p:sp>
        <p:nvSpPr>
          <p:cNvPr id="46" name="矩形 45"/>
          <p:cNvSpPr/>
          <p:nvPr/>
        </p:nvSpPr>
        <p:spPr>
          <a:xfrm>
            <a:off x="240987" y="4887576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大气吸收增温（大地暖大气）</a:t>
            </a:r>
          </a:p>
        </p:txBody>
      </p:sp>
      <p:sp>
        <p:nvSpPr>
          <p:cNvPr id="52" name="矩形 51"/>
          <p:cNvSpPr/>
          <p:nvPr/>
        </p:nvSpPr>
        <p:spPr>
          <a:xfrm>
            <a:off x="119336" y="5612365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大气释放逆辐射（大气还大地）</a:t>
            </a:r>
          </a:p>
        </p:txBody>
      </p:sp>
      <p:sp>
        <p:nvSpPr>
          <p:cNvPr id="54" name="矩形 53"/>
          <p:cNvSpPr/>
          <p:nvPr/>
        </p:nvSpPr>
        <p:spPr>
          <a:xfrm>
            <a:off x="535125" y="6372036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地面热量损失得到补偿</a:t>
            </a: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1875987" y="2085546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1859255" y="2926735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1833731" y="3784271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1827496" y="4483539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1827496" y="5256908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1803979" y="5981697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9" name="图片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006" y="980728"/>
            <a:ext cx="8586650" cy="587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53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5" grpId="0"/>
      <p:bldP spid="28" grpId="0"/>
      <p:bldP spid="46" grpId="0"/>
      <p:bldP spid="52" grpId="0"/>
      <p:bldP spid="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BC287088-A716-40B5-8D93-2066FE58629B}"/>
              </a:ext>
            </a:extLst>
          </p:cNvPr>
          <p:cNvSpPr/>
          <p:nvPr/>
        </p:nvSpPr>
        <p:spPr>
          <a:xfrm>
            <a:off x="53292" y="679241"/>
            <a:ext cx="114176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大气的受热过程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）受热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过程及其应用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3899" y="171621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太阳短波辐射</a:t>
            </a:r>
          </a:p>
        </p:txBody>
      </p:sp>
      <p:sp>
        <p:nvSpPr>
          <p:cNvPr id="4" name="矩形 3"/>
          <p:cNvSpPr/>
          <p:nvPr/>
        </p:nvSpPr>
        <p:spPr>
          <a:xfrm>
            <a:off x="865544" y="255740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大气削弱太阳辐射</a:t>
            </a:r>
          </a:p>
        </p:txBody>
      </p:sp>
      <p:sp>
        <p:nvSpPr>
          <p:cNvPr id="25" name="矩形 24"/>
          <p:cNvSpPr/>
          <p:nvPr/>
        </p:nvSpPr>
        <p:spPr>
          <a:xfrm>
            <a:off x="274676" y="3414939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地面吸收增温（太阳暖大地）</a:t>
            </a:r>
          </a:p>
        </p:txBody>
      </p:sp>
      <p:sp>
        <p:nvSpPr>
          <p:cNvPr id="28" name="矩形 27"/>
          <p:cNvSpPr/>
          <p:nvPr/>
        </p:nvSpPr>
        <p:spPr>
          <a:xfrm>
            <a:off x="843592" y="418890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地面释放长波辐射</a:t>
            </a:r>
          </a:p>
        </p:txBody>
      </p:sp>
      <p:sp>
        <p:nvSpPr>
          <p:cNvPr id="46" name="矩形 45"/>
          <p:cNvSpPr/>
          <p:nvPr/>
        </p:nvSpPr>
        <p:spPr>
          <a:xfrm>
            <a:off x="240987" y="4887576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大气吸收增温（大地暖大气）</a:t>
            </a:r>
          </a:p>
        </p:txBody>
      </p:sp>
      <p:sp>
        <p:nvSpPr>
          <p:cNvPr id="52" name="矩形 51"/>
          <p:cNvSpPr/>
          <p:nvPr/>
        </p:nvSpPr>
        <p:spPr>
          <a:xfrm>
            <a:off x="119336" y="5612365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大气释放逆辐射（大气还大地）</a:t>
            </a:r>
          </a:p>
        </p:txBody>
      </p:sp>
      <p:sp>
        <p:nvSpPr>
          <p:cNvPr id="54" name="矩形 53"/>
          <p:cNvSpPr/>
          <p:nvPr/>
        </p:nvSpPr>
        <p:spPr>
          <a:xfrm>
            <a:off x="535125" y="6372036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地面热量损失得到补偿</a:t>
            </a: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1875987" y="2085546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1859255" y="2926735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1833731" y="3784271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1827496" y="4483539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1827496" y="5256908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1803979" y="5981697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477308" y="4214640"/>
            <a:ext cx="773937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归纳总结：</a:t>
            </a:r>
            <a:endParaRPr lang="en-US" altLang="zh-C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受热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的两大过程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地面的增温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：大部分太阳辐射透过大气射到地面，使地面增温。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大气的增温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：地面以地面辐射的形式向大气传递热量。</a:t>
            </a:r>
          </a:p>
        </p:txBody>
      </p:sp>
      <p:sp>
        <p:nvSpPr>
          <p:cNvPr id="19" name="矩形 18"/>
          <p:cNvSpPr/>
          <p:nvPr/>
        </p:nvSpPr>
        <p:spPr>
          <a:xfrm>
            <a:off x="4502719" y="5541595"/>
            <a:ext cx="77293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大气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的两大作用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削弱作用：大气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层中水汽、云层、尘埃等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对太阳辐射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的吸收、反射和散射作用。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保温作用：大气逆辐射对近地面大气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热量的补偿作用。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490" y="51073"/>
            <a:ext cx="7163142" cy="4208705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4511824" y="5538079"/>
            <a:ext cx="77393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大气热量的两大来源</a:t>
            </a:r>
            <a:endParaRPr lang="en-US" altLang="zh-C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①太阳是大气最重要的热量来源</a:t>
            </a:r>
            <a:endParaRPr lang="en-US" altLang="zh-C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②近地面辐射是大气直接的热量来源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396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BC287088-A716-40B5-8D93-2066FE58629B}"/>
              </a:ext>
            </a:extLst>
          </p:cNvPr>
          <p:cNvSpPr/>
          <p:nvPr/>
        </p:nvSpPr>
        <p:spPr>
          <a:xfrm>
            <a:off x="53292" y="679241"/>
            <a:ext cx="114176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大气的受热过程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）受热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过程及其应用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EFFBE0E-1730-4722-BAD9-51798C071762}"/>
              </a:ext>
            </a:extLst>
          </p:cNvPr>
          <p:cNvSpPr/>
          <p:nvPr/>
        </p:nvSpPr>
        <p:spPr>
          <a:xfrm>
            <a:off x="299356" y="1507344"/>
            <a:ext cx="115932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dirty="0" smtClean="0">
                <a:solidFill>
                  <a:prstClr val="black"/>
                </a:solidFill>
              </a:rPr>
              <a:t>辨析</a:t>
            </a:r>
            <a:r>
              <a:rPr lang="en-US" altLang="zh-CN" sz="2400" dirty="0" smtClean="0">
                <a:solidFill>
                  <a:prstClr val="black"/>
                </a:solidFill>
              </a:rPr>
              <a:t>.</a:t>
            </a:r>
            <a:r>
              <a:rPr lang="zh-CN" altLang="en-US" sz="2400" dirty="0">
                <a:solidFill>
                  <a:prstClr val="black"/>
                </a:solidFill>
              </a:rPr>
              <a:t>若该地太阳辐射强，温度是否一定高？</a:t>
            </a:r>
          </a:p>
          <a:p>
            <a:pPr lvl="0"/>
            <a:r>
              <a:rPr lang="zh-CN" altLang="en-US" sz="2400" dirty="0">
                <a:solidFill>
                  <a:prstClr val="black"/>
                </a:solidFill>
                <a:latin typeface="+mn-ea"/>
              </a:rPr>
              <a:t>答</a:t>
            </a:r>
            <a:r>
              <a:rPr lang="zh-CN" altLang="en-US" sz="2400" dirty="0" smtClean="0">
                <a:solidFill>
                  <a:prstClr val="black"/>
                </a:solidFill>
                <a:latin typeface="+mn-ea"/>
              </a:rPr>
              <a:t>：</a:t>
            </a:r>
            <a:endParaRPr lang="en-US" altLang="zh-CN" sz="2400" dirty="0" smtClean="0">
              <a:solidFill>
                <a:prstClr val="black"/>
              </a:solidFill>
              <a:latin typeface="+mn-ea"/>
            </a:endParaRPr>
          </a:p>
          <a:p>
            <a:pPr lvl="0"/>
            <a:r>
              <a:rPr lang="zh-CN" altLang="en-US" sz="2400" dirty="0" smtClean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判断：不一定</a:t>
            </a:r>
            <a:r>
              <a:rPr lang="zh-CN" altLang="en-US" sz="2400" dirty="0" smtClean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400" dirty="0" smtClean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zh-CN" altLang="en-US" sz="2400" dirty="0" smtClean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理由：该地太阳辐射强只能说明该地大气削弱作用弱，到达该地的太阳辐射多，但是依据大气受热过程可知，太阳辐射要转换为大气的热量（气温），还需要经过地面吸收增温并向外释放长波辐射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大气吸收地面长波辐射增温两个环节，所以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A.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地面吸收太阳辐射能力的强弱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B.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大气吸收地面长波辐射的能力强弱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都会影响大气的受热增温。</a:t>
            </a:r>
          </a:p>
        </p:txBody>
      </p:sp>
    </p:spTree>
    <p:extLst>
      <p:ext uri="{BB962C8B-B14F-4D97-AF65-F5344CB8AC3E}">
        <p14:creationId xmlns:p14="http://schemas.microsoft.com/office/powerpoint/2010/main" val="2448533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142341A-C446-40CD-9C9C-FE63864E9E4D}"/>
              </a:ext>
            </a:extLst>
          </p:cNvPr>
          <p:cNvSpPr/>
          <p:nvPr/>
        </p:nvSpPr>
        <p:spPr>
          <a:xfrm>
            <a:off x="299356" y="1066364"/>
            <a:ext cx="115932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）解释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温室气体大量排放对全球气候变暖的影响：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）分析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农业实践中的一些现象：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①我国北方地区利用温室大棚生产反季节蔬菜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（保温作用）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②深秋农民利用燃烧秸秆制造烟雾预防霜冻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（保温作用）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③华北地区早春农民利用地膜覆盖进行农作物种植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（保温作用）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4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）分析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某地太阳辐射量多少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CC5FAA-5160-44A5-98C4-93D009A94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178" y="1484775"/>
            <a:ext cx="6564827" cy="122413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91344" y="498884"/>
            <a:ext cx="68688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大作用原理的应用→分析生产、生活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现象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9736" y="5169372"/>
            <a:ext cx="10956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①高海拔地区：地势高→空气稀薄→大气对太阳辐射的削弱作用弱→太阳辐射强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9356" y="5631631"/>
            <a:ext cx="12187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②内陆地区：气候干旱→晴天多，阴雨少→大气对太阳辐射的削弱作用弱→太阳辐射强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过程及其应用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947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142341A-C446-40CD-9C9C-FE63864E9E4D}"/>
              </a:ext>
            </a:extLst>
          </p:cNvPr>
          <p:cNvSpPr/>
          <p:nvPr/>
        </p:nvSpPr>
        <p:spPr>
          <a:xfrm>
            <a:off x="299356" y="982176"/>
            <a:ext cx="11593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）分析昼夜温差大小的影响因素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1344" y="498884"/>
            <a:ext cx="68688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大作用原理的应用→分析生产、生活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现象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过程及其应用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5360" y="1470921"/>
            <a:ext cx="1148527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地势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高低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b="1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地势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大气稀薄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白天大气的削弱作用和夜晚大气的保温作用都弱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昼夜温差大。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天气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状况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b="1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晴朗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的天气条件下，白天大气的削弱作用和夜晚大气的保温作用都弱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昼夜温差大。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垫面性质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b="1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垫面的比热容大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增温和降温速度都慢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昼夜温差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zh-CN" altLang="en-US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。（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海洋的昼夜温差一般小于陆地；反之，昼夜温差大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zh-CN" sz="2400" b="1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53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9336" y="44624"/>
            <a:ext cx="115932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氧化亚氮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N2O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）在百年尺度内的增温效应是等量二氧化碳的近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300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倍。农田是氧化亚氮的第一大排放源。</a:t>
            </a:r>
            <a:r>
              <a:rPr lang="zh-CN" altLang="en-US" sz="2400" dirty="0" smtClean="0"/>
              <a:t>完成题</a:t>
            </a:r>
            <a:r>
              <a:rPr lang="zh-CN" altLang="en-US" sz="2400" dirty="0"/>
              <a:t>。</a:t>
            </a:r>
          </a:p>
          <a:p>
            <a:r>
              <a:rPr lang="en-US" altLang="zh-CN" sz="2400" dirty="0" smtClean="0"/>
              <a:t>1.</a:t>
            </a:r>
            <a:r>
              <a:rPr lang="zh-CN" altLang="en-US" sz="2400" dirty="0" smtClean="0"/>
              <a:t>氧化亚氮</a:t>
            </a:r>
            <a:r>
              <a:rPr lang="zh-CN" altLang="en-US" sz="2400" dirty="0"/>
              <a:t>具有增温效应，主要是因为（　　）</a:t>
            </a:r>
          </a:p>
          <a:p>
            <a:pPr marL="457200" indent="-457200">
              <a:buAutoNum type="alphaUcPeriod"/>
            </a:pPr>
            <a:r>
              <a:rPr lang="zh-CN" altLang="en-US" sz="2400" dirty="0" smtClean="0"/>
              <a:t>大气辐射</a:t>
            </a:r>
            <a:r>
              <a:rPr lang="zh-CN" altLang="en-US" sz="2400" dirty="0"/>
              <a:t>总量增加	</a:t>
            </a:r>
            <a:endParaRPr lang="en-US" altLang="zh-CN" sz="2400" dirty="0" smtClean="0"/>
          </a:p>
          <a:p>
            <a:r>
              <a:rPr lang="en-US" altLang="zh-CN" sz="2400" dirty="0" smtClean="0"/>
              <a:t>B</a:t>
            </a:r>
            <a:r>
              <a:rPr lang="en-US" altLang="zh-CN" sz="2400" dirty="0"/>
              <a:t>. </a:t>
            </a:r>
            <a:r>
              <a:rPr lang="zh-CN" altLang="en-US" sz="2400" dirty="0"/>
              <a:t>大气吸收作用增强</a:t>
            </a:r>
          </a:p>
          <a:p>
            <a:r>
              <a:rPr lang="en-US" altLang="zh-CN" sz="2400" dirty="0"/>
              <a:t>C. </a:t>
            </a:r>
            <a:r>
              <a:rPr lang="zh-CN" altLang="en-US" sz="2400" dirty="0"/>
              <a:t>地面辐射总量增加	</a:t>
            </a:r>
            <a:endParaRPr lang="en-US" altLang="zh-CN" sz="2400" dirty="0" smtClean="0"/>
          </a:p>
          <a:p>
            <a:r>
              <a:rPr lang="en-US" altLang="zh-CN" sz="2400" dirty="0" smtClean="0"/>
              <a:t>D</a:t>
            </a:r>
            <a:r>
              <a:rPr lang="en-US" altLang="zh-CN" sz="2400" dirty="0"/>
              <a:t>. </a:t>
            </a:r>
            <a:r>
              <a:rPr lang="zh-CN" altLang="en-US" sz="2400" dirty="0"/>
              <a:t>地面反射作用增强</a:t>
            </a:r>
          </a:p>
        </p:txBody>
      </p:sp>
      <p:sp>
        <p:nvSpPr>
          <p:cNvPr id="3" name="矩形 2"/>
          <p:cNvSpPr/>
          <p:nvPr/>
        </p:nvSpPr>
        <p:spPr>
          <a:xfrm>
            <a:off x="61256" y="3401705"/>
            <a:ext cx="1207266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答案</a:t>
            </a:r>
            <a:r>
              <a:rPr lang="en-US" altLang="zh-CN" sz="2000" dirty="0"/>
              <a:t>】B</a:t>
            </a:r>
          </a:p>
          <a:p>
            <a:r>
              <a:rPr lang="en-US" altLang="zh-CN" sz="2000" dirty="0"/>
              <a:t>【</a:t>
            </a:r>
            <a:r>
              <a:rPr lang="zh-CN" altLang="en-US" sz="2000" dirty="0"/>
              <a:t>解析</a:t>
            </a:r>
            <a:r>
              <a:rPr lang="en-US" altLang="zh-CN" sz="2000" dirty="0"/>
              <a:t>】</a:t>
            </a:r>
            <a:r>
              <a:rPr lang="zh-CN" altLang="en-US" sz="2000" dirty="0"/>
              <a:t>氧化亚氮是最重要的温室气体之一，氧化亚氮能够强烈吸收地面辐射，使大气吸收作用增强，进而使得大气逆辐射增强，保温效果好，从而具有增温效应，</a:t>
            </a:r>
            <a:r>
              <a:rPr lang="en-US" altLang="zh-CN" sz="2000" dirty="0"/>
              <a:t>B</a:t>
            </a:r>
            <a:r>
              <a:rPr lang="zh-CN" altLang="en-US" sz="2000" dirty="0"/>
              <a:t>正确，</a:t>
            </a:r>
            <a:r>
              <a:rPr lang="en-US" altLang="zh-CN" sz="2000" dirty="0"/>
              <a:t>A</a:t>
            </a:r>
            <a:r>
              <a:rPr lang="zh-CN" altLang="en-US" sz="2000" dirty="0"/>
              <a:t>错误；</a:t>
            </a:r>
          </a:p>
          <a:p>
            <a:r>
              <a:rPr lang="zh-CN" altLang="en-US" sz="2000" dirty="0"/>
              <a:t>氧化亚氮并不能使地面辐射总量增加，也不能使地面反射作用增强，</a:t>
            </a:r>
            <a:r>
              <a:rPr lang="en-US" altLang="zh-CN" sz="2000" dirty="0"/>
              <a:t>CD</a:t>
            </a:r>
            <a:r>
              <a:rPr lang="zh-CN" altLang="en-US" sz="2000" dirty="0"/>
              <a:t>错误</a:t>
            </a:r>
            <a:r>
              <a:rPr lang="zh-CN" altLang="en-US" sz="2000" dirty="0" smtClean="0"/>
              <a:t>。故</a:t>
            </a:r>
            <a:r>
              <a:rPr lang="zh-CN" altLang="en-US" sz="2000" dirty="0"/>
              <a:t>选：</a:t>
            </a:r>
            <a:r>
              <a:rPr lang="en-US" altLang="zh-CN" sz="2000" dirty="0"/>
              <a:t>B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61077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3264" y="116632"/>
            <a:ext cx="1192864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物体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的温度越高，辐射越强。某校同学通过测量记录地表温度（下表），探究不同下垫面对地面辐射的影响。</a:t>
            </a:r>
            <a:r>
              <a:rPr lang="zh-CN" altLang="en-US" sz="2400" dirty="0"/>
              <a:t>据此完成下列小题。 </a:t>
            </a:r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 smtClean="0"/>
          </a:p>
        </p:txBody>
      </p:sp>
      <p:pic>
        <p:nvPicPr>
          <p:cNvPr id="1026" name="Picture 2" descr="C:\Users\86153\AppData\Local\Temp\ksohtml11580\wps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00" y="908720"/>
            <a:ext cx="5976664" cy="2818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6109928" y="119385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/>
              <a:t>2.</a:t>
            </a:r>
            <a:r>
              <a:rPr lang="zh-CN" altLang="en-US" sz="2400" dirty="0"/>
              <a:t>依据表中数据，推测地面辐射从强到弱的排序是</a:t>
            </a:r>
          </a:p>
          <a:p>
            <a:pPr marL="342900" indent="-342900">
              <a:buAutoNum type="alphaUcPeriod"/>
            </a:pPr>
            <a:r>
              <a:rPr lang="zh-CN" altLang="en-US" sz="2400" dirty="0" smtClean="0"/>
              <a:t>池塘</a:t>
            </a:r>
            <a:r>
              <a:rPr lang="zh-CN" altLang="en-US" sz="2400" dirty="0"/>
              <a:t>、灌木土地、沙坑	</a:t>
            </a:r>
            <a:endParaRPr lang="en-US" altLang="zh-CN" sz="2400" dirty="0" smtClean="0"/>
          </a:p>
          <a:p>
            <a:r>
              <a:rPr lang="en-US" altLang="zh-CN" sz="2400" dirty="0" smtClean="0"/>
              <a:t>B</a:t>
            </a:r>
            <a:r>
              <a:rPr lang="en-US" altLang="zh-CN" sz="2400" dirty="0"/>
              <a:t>. </a:t>
            </a:r>
            <a:r>
              <a:rPr lang="zh-CN" altLang="en-US" sz="2400" dirty="0"/>
              <a:t>操场、草坪、沙坑</a:t>
            </a:r>
          </a:p>
          <a:p>
            <a:r>
              <a:rPr lang="en-US" altLang="zh-CN" sz="2400" dirty="0"/>
              <a:t>C. </a:t>
            </a:r>
            <a:r>
              <a:rPr lang="zh-CN" altLang="en-US" sz="2400" dirty="0"/>
              <a:t>草坪、池塘、灌木土地	</a:t>
            </a:r>
            <a:endParaRPr lang="en-US" altLang="zh-CN" sz="2400" dirty="0" smtClean="0"/>
          </a:p>
          <a:p>
            <a:r>
              <a:rPr lang="en-US" altLang="zh-CN" sz="2400" dirty="0" smtClean="0"/>
              <a:t>D</a:t>
            </a:r>
            <a:r>
              <a:rPr lang="en-US" altLang="zh-CN" sz="2400" dirty="0"/>
              <a:t>. </a:t>
            </a:r>
            <a:r>
              <a:rPr lang="zh-CN" altLang="en-US" sz="2400" dirty="0"/>
              <a:t>操场、沙坑、池塘</a:t>
            </a:r>
          </a:p>
        </p:txBody>
      </p:sp>
      <p:sp>
        <p:nvSpPr>
          <p:cNvPr id="4" name="矩形 3"/>
          <p:cNvSpPr/>
          <p:nvPr/>
        </p:nvSpPr>
        <p:spPr>
          <a:xfrm>
            <a:off x="128845" y="3902284"/>
            <a:ext cx="1185934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2.【</a:t>
            </a:r>
            <a:r>
              <a:rPr lang="zh-CN" altLang="en-US" sz="2000" dirty="0"/>
              <a:t>分析</a:t>
            </a:r>
            <a:r>
              <a:rPr lang="en-US" altLang="zh-CN" sz="2000" dirty="0"/>
              <a:t>】 </a:t>
            </a:r>
          </a:p>
          <a:p>
            <a:r>
              <a:rPr lang="zh-CN" altLang="en-US" sz="2000" dirty="0"/>
              <a:t>本题考查大气受热相关知识，旨在考查学生获取和解读图地理信息能力和调动、运用知识的能力。解题的关键是正确获取图表信息，分析地面辐射从强到弱的排序。</a:t>
            </a:r>
          </a:p>
          <a:p>
            <a:r>
              <a:rPr lang="en-US" altLang="zh-CN" sz="2000" dirty="0"/>
              <a:t>【</a:t>
            </a:r>
            <a:r>
              <a:rPr lang="zh-CN" altLang="en-US" sz="2000" dirty="0"/>
              <a:t>解答</a:t>
            </a:r>
            <a:r>
              <a:rPr lang="en-US" altLang="zh-CN" sz="2000" dirty="0"/>
              <a:t>】</a:t>
            </a:r>
          </a:p>
          <a:p>
            <a:r>
              <a:rPr lang="en-US" altLang="zh-CN" sz="2000" dirty="0"/>
              <a:t> </a:t>
            </a:r>
            <a:r>
              <a:rPr lang="zh-CN" altLang="en-US" sz="2000" dirty="0"/>
              <a:t>根据表格当中的数据可以读出其</a:t>
            </a:r>
            <a:r>
              <a:rPr lang="en-US" altLang="zh-CN" sz="2000" dirty="0"/>
              <a:t>13:00</a:t>
            </a:r>
            <a:r>
              <a:rPr lang="zh-CN" altLang="en-US" sz="2000" dirty="0"/>
              <a:t>温度的排序为：操场</a:t>
            </a:r>
            <a:r>
              <a:rPr lang="en-US" altLang="zh-CN" sz="2000" dirty="0"/>
              <a:t>&gt;</a:t>
            </a:r>
            <a:r>
              <a:rPr lang="zh-CN" altLang="en-US" sz="2000" dirty="0"/>
              <a:t>沙坑</a:t>
            </a:r>
            <a:r>
              <a:rPr lang="en-US" altLang="zh-CN" sz="2000" dirty="0"/>
              <a:t>&gt;</a:t>
            </a:r>
            <a:r>
              <a:rPr lang="zh-CN" altLang="en-US" sz="2000" dirty="0"/>
              <a:t>草坪</a:t>
            </a:r>
            <a:r>
              <a:rPr lang="en-US" altLang="zh-CN" sz="2000" dirty="0"/>
              <a:t>&gt;</a:t>
            </a:r>
            <a:r>
              <a:rPr lang="zh-CN" altLang="en-US" sz="2000" dirty="0"/>
              <a:t>灌木土地</a:t>
            </a:r>
            <a:r>
              <a:rPr lang="en-US" altLang="zh-CN" sz="2000" dirty="0"/>
              <a:t>&gt;</a:t>
            </a:r>
            <a:r>
              <a:rPr lang="zh-CN" altLang="en-US" sz="2000" dirty="0"/>
              <a:t>池塘，其余时间段为：操场</a:t>
            </a:r>
            <a:r>
              <a:rPr lang="en-US" altLang="zh-CN" sz="2000" dirty="0"/>
              <a:t>&gt;</a:t>
            </a:r>
            <a:r>
              <a:rPr lang="zh-CN" altLang="en-US" sz="2000" dirty="0"/>
              <a:t>沙坑</a:t>
            </a:r>
            <a:r>
              <a:rPr lang="en-US" altLang="zh-CN" sz="2000" dirty="0"/>
              <a:t>&gt;</a:t>
            </a:r>
            <a:r>
              <a:rPr lang="zh-CN" altLang="en-US" sz="2000" dirty="0"/>
              <a:t>灌木土地</a:t>
            </a:r>
            <a:r>
              <a:rPr lang="en-US" altLang="zh-CN" sz="2000" dirty="0"/>
              <a:t>&gt;</a:t>
            </a:r>
            <a:r>
              <a:rPr lang="zh-CN" altLang="en-US" sz="2000" dirty="0"/>
              <a:t>草坪</a:t>
            </a:r>
            <a:r>
              <a:rPr lang="en-US" altLang="zh-CN" sz="2000" dirty="0"/>
              <a:t>&gt;</a:t>
            </a:r>
            <a:r>
              <a:rPr lang="zh-CN" altLang="en-US" sz="2000" dirty="0"/>
              <a:t>池塘，由材料可知，物体的温度越高辐射越强，所以其辐射的从强到弱的顺序分别为操场、沙坑、草坪、灌木土地、池塘或操场、沙坑、灌木土地、草坪、池塘。故</a:t>
            </a:r>
            <a:r>
              <a:rPr lang="en-US" altLang="zh-CN" sz="2000" dirty="0"/>
              <a:t>D</a:t>
            </a:r>
            <a:r>
              <a:rPr lang="zh-CN" altLang="en-US" sz="2000" dirty="0"/>
              <a:t>正确，</a:t>
            </a:r>
            <a:r>
              <a:rPr lang="en-US" altLang="zh-CN" sz="2000" dirty="0"/>
              <a:t>ABC</a:t>
            </a:r>
            <a:r>
              <a:rPr lang="zh-CN" altLang="en-US" sz="2000" dirty="0"/>
              <a:t>错误</a:t>
            </a:r>
            <a:r>
              <a:rPr lang="zh-CN" altLang="en-US" sz="2000" dirty="0" smtClean="0"/>
              <a:t>。故</a:t>
            </a:r>
            <a:r>
              <a:rPr lang="zh-CN" altLang="en-US" sz="2000" dirty="0"/>
              <a:t>选</a:t>
            </a:r>
            <a:r>
              <a:rPr lang="en-US" altLang="zh-CN" sz="2000" dirty="0"/>
              <a:t>D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36856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9336" y="-99392"/>
            <a:ext cx="1188132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660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(2017·</a:t>
            </a:r>
            <a:r>
              <a:rPr lang="zh-CN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全国文综</a:t>
            </a:r>
            <a:r>
              <a:rPr lang="en-US" altLang="zh-CN" sz="2000" kern="100" dirty="0">
                <a:latin typeface="宋体" panose="02010600030101010101" pitchFamily="2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Ⅰ</a:t>
            </a:r>
            <a:r>
              <a:rPr lang="en-US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我国某地为保证葡萄植株安全越冬，采用双层覆膜技术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两层覆膜间留有一定空间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，效果显著。下图中的曲线示意当地寒冷期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(12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月至次年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2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丰、枯雪年的平均气温日变化和丰、枯雪年的膜内平均温度日变化。据此完成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3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4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题。</a:t>
            </a:r>
            <a:endParaRPr lang="zh-CN" altLang="zh-CN" sz="9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9218" name="Picture 2" descr="JS22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749" y="1427747"/>
            <a:ext cx="6132004" cy="300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19336" y="1427747"/>
            <a:ext cx="1117681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3.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图中表示枯雪年膜内平均温度日变化的曲线是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A.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①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		B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		C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③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		D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④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4" name="TextBox 19"/>
          <p:cNvSpPr txBox="1"/>
          <p:nvPr/>
        </p:nvSpPr>
        <p:spPr>
          <a:xfrm>
            <a:off x="1791092" y="1793830"/>
            <a:ext cx="75609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40"/>
            <a:r>
              <a:rPr lang="zh-CN" altLang="en-US" sz="4500" b="1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√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40524" y="2443410"/>
            <a:ext cx="11176812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4.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该地寒冷期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A.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最低气温高于－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16 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℃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B.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气温日变化因积雪状况差异较大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C.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膜内温度日变化因积雪状况差异较大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D.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膜内温度日变化与气温日变化一致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8" name="TextBox 19"/>
          <p:cNvSpPr txBox="1"/>
          <p:nvPr/>
        </p:nvSpPr>
        <p:spPr>
          <a:xfrm>
            <a:off x="92542" y="3933056"/>
            <a:ext cx="756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40"/>
            <a:r>
              <a:rPr lang="zh-CN" altLang="en-US" sz="3200" b="1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√</a:t>
            </a:r>
          </a:p>
        </p:txBody>
      </p:sp>
    </p:spTree>
    <p:extLst>
      <p:ext uri="{BB962C8B-B14F-4D97-AF65-F5344CB8AC3E}">
        <p14:creationId xmlns:p14="http://schemas.microsoft.com/office/powerpoint/2010/main" val="154729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16632"/>
            <a:ext cx="1187986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为我国某地一个蔬菜大棚的照片，图</a:t>
            </a:r>
            <a:r>
              <a:rPr lang="en-US" altLang="zh-CN" dirty="0"/>
              <a:t>2</a:t>
            </a:r>
            <a:r>
              <a:rPr lang="zh-CN" altLang="en-US" dirty="0"/>
              <a:t>为地球大气受热过程示意图，图中数字代表某种辐射。</a:t>
            </a:r>
            <a:r>
              <a:rPr lang="zh-CN" altLang="en-US" dirty="0" smtClean="0"/>
              <a:t>回答</a:t>
            </a:r>
            <a:r>
              <a:rPr lang="en-US" altLang="zh-CN" dirty="0" smtClean="0"/>
              <a:t>5-6</a:t>
            </a:r>
            <a:r>
              <a:rPr lang="zh-CN" altLang="en-US" dirty="0" smtClean="0"/>
              <a:t>题</a:t>
            </a:r>
            <a:r>
              <a:rPr lang="zh-CN" altLang="en-US" dirty="0"/>
              <a:t>。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112" y="497661"/>
            <a:ext cx="6604244" cy="30207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102595" y="3518436"/>
            <a:ext cx="118093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5.</a:t>
            </a:r>
            <a:r>
              <a:rPr lang="zh-CN" altLang="en-US" sz="2000" dirty="0"/>
              <a:t>照片拍摄季节，当地的农民一般会给大棚覆盖黑色尼龙网，而不是我们常见的白色塑料薄膜或者玻璃大棚。照片拍摄的时间以及这样做的目的分别是（　　）</a:t>
            </a:r>
          </a:p>
          <a:p>
            <a:r>
              <a:rPr lang="en-US" altLang="zh-CN" sz="2000" dirty="0"/>
              <a:t>A. 7-8</a:t>
            </a:r>
            <a:r>
              <a:rPr lang="zh-CN" altLang="en-US" sz="2000" dirty="0"/>
              <a:t>月，削弱①以减少农作物水分蒸腾</a:t>
            </a:r>
          </a:p>
          <a:p>
            <a:r>
              <a:rPr lang="en-US" altLang="zh-CN" sz="2000" dirty="0"/>
              <a:t>B. 10-11</a:t>
            </a:r>
            <a:r>
              <a:rPr lang="zh-CN" altLang="en-US" sz="2000" dirty="0"/>
              <a:t>月，阻挡②以防止夜间温度过低</a:t>
            </a:r>
          </a:p>
          <a:p>
            <a:r>
              <a:rPr lang="en-US" altLang="zh-CN" sz="2000" dirty="0"/>
              <a:t>C. 12-</a:t>
            </a:r>
            <a:r>
              <a:rPr lang="zh-CN" altLang="en-US" sz="2000" dirty="0"/>
              <a:t>次年</a:t>
            </a:r>
            <a:r>
              <a:rPr lang="en-US" altLang="zh-CN" sz="2000" dirty="0"/>
              <a:t>1</a:t>
            </a:r>
            <a:r>
              <a:rPr lang="zh-CN" altLang="en-US" sz="2000" dirty="0"/>
              <a:t>月，增加③以提高土壤的温度</a:t>
            </a:r>
          </a:p>
          <a:p>
            <a:r>
              <a:rPr lang="en-US" altLang="zh-CN" sz="2000" dirty="0"/>
              <a:t>D. 6-7</a:t>
            </a:r>
            <a:r>
              <a:rPr lang="zh-CN" altLang="en-US" sz="2000" dirty="0"/>
              <a:t>月，增强④以降低白天大气的温度</a:t>
            </a:r>
          </a:p>
        </p:txBody>
      </p:sp>
      <p:sp>
        <p:nvSpPr>
          <p:cNvPr id="5" name="矩形 4"/>
          <p:cNvSpPr/>
          <p:nvPr/>
        </p:nvSpPr>
        <p:spPr>
          <a:xfrm>
            <a:off x="102595" y="5457428"/>
            <a:ext cx="75482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6.</a:t>
            </a:r>
            <a:r>
              <a:rPr lang="zh-CN" altLang="en-US" sz="2000" dirty="0" smtClean="0"/>
              <a:t>图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中（　　）</a:t>
            </a:r>
          </a:p>
          <a:p>
            <a:r>
              <a:rPr lang="en-US" altLang="zh-CN" sz="2000" dirty="0" smtClean="0"/>
              <a:t>A. ③</a:t>
            </a:r>
            <a:r>
              <a:rPr lang="zh-CN" altLang="en-US" sz="2000" dirty="0" smtClean="0"/>
              <a:t>能量大部分被大气所吸收	</a:t>
            </a:r>
            <a:r>
              <a:rPr lang="en-US" altLang="zh-CN" sz="2000" dirty="0" smtClean="0"/>
              <a:t>B. ④</a:t>
            </a:r>
            <a:r>
              <a:rPr lang="zh-CN" altLang="en-US" sz="2000" dirty="0" smtClean="0"/>
              <a:t>是近地面大气的根本热源</a:t>
            </a:r>
          </a:p>
          <a:p>
            <a:r>
              <a:rPr lang="en-US" altLang="zh-CN" sz="2000" dirty="0" smtClean="0"/>
              <a:t>C. ②</a:t>
            </a:r>
            <a:r>
              <a:rPr lang="zh-CN" altLang="en-US" sz="2000" dirty="0" smtClean="0"/>
              <a:t>只出现在夜晚起保温作用	</a:t>
            </a:r>
            <a:r>
              <a:rPr lang="en-US" altLang="zh-CN" sz="2000" dirty="0" smtClean="0"/>
              <a:t>D. ①</a:t>
            </a:r>
            <a:r>
              <a:rPr lang="zh-CN" altLang="en-US" sz="2000" dirty="0" smtClean="0"/>
              <a:t>表示散失的少量长波辐射</a:t>
            </a:r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8472264" y="5965259"/>
            <a:ext cx="1867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答案：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A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D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907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7E02FF0-BB3C-41BC-80F4-430AB0A80165}"/>
              </a:ext>
            </a:extLst>
          </p:cNvPr>
          <p:cNvSpPr/>
          <p:nvPr/>
        </p:nvSpPr>
        <p:spPr>
          <a:xfrm>
            <a:off x="323191" y="964410"/>
            <a:ext cx="577439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的时间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变化特征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①日变化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A.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一天中，最低气温出现在日出前后；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B.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一天中，太阳辐射最强是正午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时；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地面温度最高出现在午后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即当地地方时为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13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00)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左右；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D.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大气温度（气温）最高出现在午后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即当地地方时为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00)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左右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②年变化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A.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北半球太阳辐射最强是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月份；北半球大陆气温最高是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月份；北半球海洋气温最高是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月份。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B.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北半球太阳辐射最弱为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月，陆地气温最低为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月份，海洋气温最低为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月份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C8001D-5414-46C0-BF7B-46AF67FD3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427" y="1772816"/>
            <a:ext cx="5711381" cy="382842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011BCAB-70E5-4543-9F37-AC280DEBF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428" y="1772816"/>
            <a:ext cx="5711380" cy="398804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0A090B3-DE20-4FED-BE10-E2A257C48D09}"/>
              </a:ext>
            </a:extLst>
          </p:cNvPr>
          <p:cNvSpPr/>
          <p:nvPr/>
        </p:nvSpPr>
        <p:spPr>
          <a:xfrm>
            <a:off x="119336" y="502745"/>
            <a:ext cx="26068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1.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气温的时空特征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249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二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大气受热的结果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—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气温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616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5ED729-43B4-4FDE-9272-298677B3796E}"/>
              </a:ext>
            </a:extLst>
          </p:cNvPr>
          <p:cNvSpPr/>
          <p:nvPr/>
        </p:nvSpPr>
        <p:spPr>
          <a:xfrm>
            <a:off x="263352" y="563196"/>
            <a:ext cx="118813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的垂直分布与逆温现象</a:t>
            </a:r>
          </a:p>
          <a:p>
            <a:pPr algn="just"/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①常规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分布：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对流层气温在垂直方向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上，海拔每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上升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100 m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，温度下降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0.6℃</a:t>
            </a:r>
          </a:p>
          <a:p>
            <a:pPr algn="just"/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②逆温：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一定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条件下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对流层</a:t>
            </a: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一定高度范围内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气温随高度增加而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上升。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（上热下冷）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 descr="u=2733091871,422985281&amp;fm=26&amp;gp=0">
            <a:extLst>
              <a:ext uri="{FF2B5EF4-FFF2-40B4-BE49-F238E27FC236}">
                <a16:creationId xmlns:a16="http://schemas.microsoft.com/office/drawing/2014/main" id="{9AAC7B5F-967D-403D-B0FA-BC5F97E57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12" y="1772817"/>
            <a:ext cx="5904656" cy="201622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6156888-F148-4DF4-8531-D32DAB8E3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040" y="4012399"/>
            <a:ext cx="9865096" cy="280097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0DB3E40-D54D-4562-811E-4D5656BCED64}"/>
              </a:ext>
            </a:extLst>
          </p:cNvPr>
          <p:cNvSpPr/>
          <p:nvPr/>
        </p:nvSpPr>
        <p:spPr>
          <a:xfrm>
            <a:off x="407368" y="3397429"/>
            <a:ext cx="29706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逆温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的类型及成因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A57CD5-E702-4AA5-AACA-69B763DFCFB6}"/>
              </a:ext>
            </a:extLst>
          </p:cNvPr>
          <p:cNvSpPr/>
          <p:nvPr/>
        </p:nvSpPr>
        <p:spPr>
          <a:xfrm>
            <a:off x="0" y="15007"/>
            <a:ext cx="11449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空间分布特征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718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A07631C-72B3-4AEB-9160-DCB2A3FF51DB}"/>
              </a:ext>
            </a:extLst>
          </p:cNvPr>
          <p:cNvSpPr/>
          <p:nvPr/>
        </p:nvSpPr>
        <p:spPr>
          <a:xfrm>
            <a:off x="364659" y="2182212"/>
            <a:ext cx="1137726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逆温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的影响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空气的对流上升运动被抑制</a:t>
            </a:r>
          </a:p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有利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方面：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a.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逆温的出现</a:t>
            </a:r>
            <a:r>
              <a:rPr lang="zh-CN" altLang="en-US" sz="2400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阻碍了空气对流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，因此可以抑制沙尘暴的发生。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b.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逆温出现在高空，有利于飞机的飞行。</a:t>
            </a:r>
          </a:p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不利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方面：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a.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逆温时大气结构比较稳定，容易加重大气污染。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b.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对天气的影响：容易产生大雾，减少降水等情况。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对交通的影响：能见度降低，地面湿滑。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A57CD5-E702-4AA5-AACA-69B763DFCFB6}"/>
              </a:ext>
            </a:extLst>
          </p:cNvPr>
          <p:cNvSpPr/>
          <p:nvPr/>
        </p:nvSpPr>
        <p:spPr>
          <a:xfrm>
            <a:off x="0" y="375047"/>
            <a:ext cx="11449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空间分布特征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5ED729-43B4-4FDE-9272-298677B3796E}"/>
              </a:ext>
            </a:extLst>
          </p:cNvPr>
          <p:cNvSpPr/>
          <p:nvPr/>
        </p:nvSpPr>
        <p:spPr>
          <a:xfrm>
            <a:off x="263352" y="851823"/>
            <a:ext cx="114492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的垂直分布与逆温现象</a:t>
            </a:r>
          </a:p>
          <a:p>
            <a:pPr algn="just"/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①常规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分布：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对流层气温在垂直方向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上，海拔每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上升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100 m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，温度下降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0.6℃</a:t>
            </a:r>
          </a:p>
          <a:p>
            <a:pPr algn="just"/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②逆温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在一定条件下，在</a:t>
            </a: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对流层一定高度范围内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气温随高度增加而上升的现象。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323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42D1E7-0053-4667-A485-D75E819658AD}"/>
              </a:ext>
            </a:extLst>
          </p:cNvPr>
          <p:cNvSpPr/>
          <p:nvPr/>
        </p:nvSpPr>
        <p:spPr>
          <a:xfrm>
            <a:off x="191344" y="77723"/>
            <a:ext cx="1173730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2400" dirty="0"/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2013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浙江） 近年来，雾霾天气在我国频繁出现，空气质量问题已引起全社会高度关注。如图是气温垂直分布的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种情形。</a:t>
            </a:r>
            <a:r>
              <a:rPr lang="zh-CN" altLang="en-US" sz="2400" dirty="0"/>
              <a:t>读图完成问题。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 smtClean="0"/>
              <a:t>图</a:t>
            </a:r>
            <a:r>
              <a:rPr lang="zh-CN" altLang="en-US" sz="2400" dirty="0"/>
              <a:t>中最有利于雾霾大气污染物扩散的情形是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 ①           </a:t>
            </a:r>
            <a:r>
              <a:rPr lang="en-US" altLang="zh-CN" sz="2400" dirty="0"/>
              <a:t>B</a:t>
            </a:r>
            <a:r>
              <a:rPr lang="zh-CN" altLang="en-US" sz="2400" dirty="0"/>
              <a:t>．②              </a:t>
            </a:r>
            <a:r>
              <a:rPr lang="en-US" altLang="zh-CN" sz="2400" dirty="0"/>
              <a:t>C</a:t>
            </a:r>
            <a:r>
              <a:rPr lang="zh-CN" altLang="en-US" sz="2400" dirty="0"/>
              <a:t>．③             </a:t>
            </a:r>
            <a:r>
              <a:rPr lang="en-US" altLang="zh-CN" sz="2400" dirty="0"/>
              <a:t>D</a:t>
            </a:r>
            <a:r>
              <a:rPr lang="zh-CN" altLang="en-US" sz="2400" dirty="0"/>
              <a:t>．④</a:t>
            </a:r>
          </a:p>
        </p:txBody>
      </p:sp>
      <p:pic>
        <p:nvPicPr>
          <p:cNvPr id="3" name="图片 2" descr="沃圣高考名师团队(客服QQ:1185941688，微信:sxmxms369)，主要推出高考预测押题密卷，高考仿真模拟，历年高考真题独家解析，高考真题专项分类，高中课外辅导讲义系列">
            <a:extLst>
              <a:ext uri="{FF2B5EF4-FFF2-40B4-BE49-F238E27FC236}">
                <a16:creationId xmlns:a16="http://schemas.microsoft.com/office/drawing/2014/main" id="{6D23FD79-E5E7-4488-9269-1C8AB0557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153" y="1229851"/>
            <a:ext cx="7183693" cy="20882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1A7F911-5EB9-4AF6-AB6C-09177ECBF605}"/>
              </a:ext>
            </a:extLst>
          </p:cNvPr>
          <p:cNvSpPr/>
          <p:nvPr/>
        </p:nvSpPr>
        <p:spPr>
          <a:xfrm>
            <a:off x="209749" y="4398203"/>
            <a:ext cx="11377264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A</a:t>
            </a:r>
            <a:r>
              <a:rPr lang="en-US" altLang="zh-CN" sz="2400" dirty="0"/>
              <a:t>【</a:t>
            </a:r>
            <a:r>
              <a:rPr lang="zh-CN" altLang="en-US" sz="2400" dirty="0"/>
              <a:t>解析</a:t>
            </a:r>
            <a:r>
              <a:rPr lang="en-US" altLang="zh-CN" sz="2400" dirty="0"/>
              <a:t>】</a:t>
            </a:r>
            <a:r>
              <a:rPr lang="zh-CN" altLang="en-US" sz="2400" dirty="0"/>
              <a:t>雾霾天气一般在静风或无风、大气比较稳定的情况下容易产生，图①中气温随海拔升高而降低，此种情况下空气对流运动显著，雾霾最容易扩散。</a:t>
            </a:r>
          </a:p>
        </p:txBody>
      </p:sp>
    </p:spTree>
    <p:extLst>
      <p:ext uri="{BB962C8B-B14F-4D97-AF65-F5344CB8AC3E}">
        <p14:creationId xmlns:p14="http://schemas.microsoft.com/office/powerpoint/2010/main" val="3894977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35812" y="332656"/>
            <a:ext cx="11176812" cy="1131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660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四川文综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雾是悬浮在近地面空气中的大量微小水滴或冰晶。下图为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中国年平均雾日空间分布图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据材料回答</a:t>
            </a:r>
            <a:r>
              <a:rPr lang="en-US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题。</a:t>
            </a:r>
            <a:endParaRPr lang="zh-CN" altLang="zh-CN" sz="1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194" name="Picture 2" descr="JS220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158" y="1478179"/>
            <a:ext cx="5371842" cy="412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507594" y="1512568"/>
            <a:ext cx="11176812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下列地区中，年平均雾日最少的是</a:t>
            </a:r>
            <a:endParaRPr lang="zh-CN" altLang="zh-CN" sz="24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A.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福建沿海</a:t>
            </a: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	</a:t>
            </a:r>
            <a:r>
              <a:rPr lang="en-US" altLang="zh-CN" sz="24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          B</a:t>
            </a: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黄海沿岸</a:t>
            </a:r>
            <a:endParaRPr lang="zh-CN" altLang="zh-CN" sz="24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C.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准噶尔盆地</a:t>
            </a: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	D.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柴达木盆地</a:t>
            </a:r>
            <a:endParaRPr lang="zh-CN" altLang="zh-CN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94492" y="3260591"/>
            <a:ext cx="6325666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与四川盆地内秋、冬季节多雾直接相关的是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秦岭阻挡冷空气南下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气流受地形阻挡抬升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受暖湿的东南季风影响显著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晴朗的夜间地面辐射冷却强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17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720"/>
            <a:ext cx="12191999" cy="475252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2423592" y="908720"/>
            <a:ext cx="7416824" cy="12164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3071664" y="2276872"/>
            <a:ext cx="7776864" cy="128846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071664" y="3717030"/>
            <a:ext cx="4032448" cy="79209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495600" y="4660811"/>
            <a:ext cx="9696398" cy="100043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07345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JS22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895" y="1124744"/>
            <a:ext cx="5663941" cy="4986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9"/>
          <p:cNvSpPr txBox="1"/>
          <p:nvPr/>
        </p:nvSpPr>
        <p:spPr>
          <a:xfrm>
            <a:off x="119336" y="1023843"/>
            <a:ext cx="75609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40"/>
            <a:r>
              <a:rPr lang="zh-CN" altLang="en-US" sz="4500" b="1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√</a:t>
            </a:r>
          </a:p>
        </p:txBody>
      </p:sp>
      <p:sp>
        <p:nvSpPr>
          <p:cNvPr id="2" name="矩形 1"/>
          <p:cNvSpPr/>
          <p:nvPr/>
        </p:nvSpPr>
        <p:spPr>
          <a:xfrm>
            <a:off x="335360" y="77430"/>
            <a:ext cx="116652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(</a:t>
            </a:r>
            <a:r>
              <a:rPr lang="zh-CN" altLang="en-US" sz="2400" dirty="0"/>
              <a:t>山东文综</a:t>
            </a:r>
            <a:r>
              <a:rPr lang="en-US" altLang="zh-CN" sz="2400" dirty="0"/>
              <a:t>)</a:t>
            </a:r>
            <a:r>
              <a:rPr lang="zh-CN" altLang="en-US" sz="2400" dirty="0"/>
              <a:t>下图为北半球中纬度某地某日</a:t>
            </a:r>
            <a:r>
              <a:rPr lang="en-US" altLang="zh-CN" sz="2400" dirty="0"/>
              <a:t>5</a:t>
            </a:r>
            <a:r>
              <a:rPr lang="zh-CN" altLang="en-US" sz="2400" dirty="0"/>
              <a:t>次观测到的“近地面气温垂直分布示意图”。当日天气晴朗，日出时间为</a:t>
            </a:r>
            <a:r>
              <a:rPr lang="en-US" altLang="zh-CN" sz="2400" dirty="0"/>
              <a:t>5</a:t>
            </a:r>
            <a:r>
              <a:rPr lang="zh-CN" altLang="en-US" sz="2400" dirty="0"/>
              <a:t>时。读图回答下题。</a:t>
            </a:r>
          </a:p>
          <a:p>
            <a:r>
              <a:rPr lang="en-US" altLang="zh-CN" sz="2400" dirty="0"/>
              <a:t>5.</a:t>
            </a:r>
            <a:r>
              <a:rPr lang="zh-CN" altLang="en-US" sz="2400" dirty="0"/>
              <a:t>由图中信息可分析出</a:t>
            </a:r>
          </a:p>
          <a:p>
            <a:r>
              <a:rPr lang="en-US" altLang="zh-CN" sz="2400" dirty="0"/>
              <a:t>A.5</a:t>
            </a:r>
            <a:r>
              <a:rPr lang="zh-CN" altLang="en-US" sz="2400" dirty="0"/>
              <a:t>时、</a:t>
            </a:r>
            <a:r>
              <a:rPr lang="en-US" altLang="zh-CN" sz="2400" dirty="0"/>
              <a:t>20</a:t>
            </a:r>
            <a:r>
              <a:rPr lang="zh-CN" altLang="en-US" sz="2400" dirty="0"/>
              <a:t>时大气较稳定</a:t>
            </a:r>
          </a:p>
          <a:p>
            <a:r>
              <a:rPr lang="en-US" altLang="zh-CN" sz="2400" dirty="0"/>
              <a:t>B.12</a:t>
            </a:r>
            <a:r>
              <a:rPr lang="zh-CN" altLang="en-US" sz="2400" dirty="0"/>
              <a:t>时、</a:t>
            </a:r>
            <a:r>
              <a:rPr lang="en-US" altLang="zh-CN" sz="2400" dirty="0"/>
              <a:t>15</a:t>
            </a:r>
            <a:r>
              <a:rPr lang="zh-CN" altLang="en-US" sz="2400" dirty="0"/>
              <a:t>时出现逆温现象</a:t>
            </a:r>
          </a:p>
          <a:p>
            <a:r>
              <a:rPr lang="en-US" altLang="zh-CN" sz="2400" dirty="0"/>
              <a:t>C.</a:t>
            </a:r>
            <a:r>
              <a:rPr lang="zh-CN" altLang="en-US" sz="2400" dirty="0"/>
              <a:t>大气热量直接来自太阳辐射</a:t>
            </a:r>
          </a:p>
          <a:p>
            <a:r>
              <a:rPr lang="en-US" altLang="zh-CN" sz="2400" dirty="0"/>
              <a:t>D.</a:t>
            </a:r>
            <a:r>
              <a:rPr lang="zh-CN" altLang="en-US" sz="2400" dirty="0"/>
              <a:t>气温日较差自下而上增大</a:t>
            </a:r>
          </a:p>
        </p:txBody>
      </p:sp>
      <p:sp>
        <p:nvSpPr>
          <p:cNvPr id="3" name="矩形 2"/>
          <p:cNvSpPr/>
          <p:nvPr/>
        </p:nvSpPr>
        <p:spPr>
          <a:xfrm>
            <a:off x="105871" y="3429000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解析　对流层气温垂直分布规律是随高度的升高而降低，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气温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下高上低的大气结构有利于对流的发生，若气温随高度升高而升高，或气温的变化垂直递减率小于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℃/km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，则很大几率出现逆温现象，不利于大气的对流，大气较稳定。读图可知，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时出现逆温，大气稳定，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时逆温消失。大气热量主要来自地面辐射；逆温自下而上逐渐消失，也说明这一问题。气温日较差的大小可以通过观察各气温曲线之间的气温差判断，由图可知，下部明显大于上部。</a:t>
            </a:r>
          </a:p>
        </p:txBody>
      </p:sp>
    </p:spTree>
    <p:extLst>
      <p:ext uri="{BB962C8B-B14F-4D97-AF65-F5344CB8AC3E}">
        <p14:creationId xmlns:p14="http://schemas.microsoft.com/office/powerpoint/2010/main" val="43193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5ED729-43B4-4FDE-9272-298677B3796E}"/>
              </a:ext>
            </a:extLst>
          </p:cNvPr>
          <p:cNvSpPr/>
          <p:nvPr/>
        </p:nvSpPr>
        <p:spPr>
          <a:xfrm>
            <a:off x="369776" y="554928"/>
            <a:ext cx="11449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的水平分布特征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FA018D-00F5-47C6-8E9B-C312D2AA3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5"/>
          <a:stretch>
            <a:fillRect/>
          </a:stretch>
        </p:blipFill>
        <p:spPr>
          <a:xfrm>
            <a:off x="23461" y="1412776"/>
            <a:ext cx="6074127" cy="44012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D06D5F3-7D7D-48D5-A8EB-E1B3A70560A7}"/>
              </a:ext>
            </a:extLst>
          </p:cNvPr>
          <p:cNvSpPr/>
          <p:nvPr/>
        </p:nvSpPr>
        <p:spPr>
          <a:xfrm>
            <a:off x="6097589" y="1196752"/>
            <a:ext cx="609441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特征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全球：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气温由低纬度向高纬度递减。也就是纬度越高，气温越低。</a:t>
            </a:r>
          </a:p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原因：纬度位置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特征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海陆间：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同纬度地带，夏季气温陆地高于海洋，冬季气温海洋高于陆地。</a:t>
            </a:r>
          </a:p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原因：海陆热力性质差异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特征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内陆地区：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地势（海拔）高的地区气温低，地势（海拔）低的地区气温高</a:t>
            </a:r>
          </a:p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原因：地势高低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特征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沿海地区：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暖流流经海区海水温度较高，寒流流经海区海水温度较低。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原因：洋流</a:t>
            </a:r>
          </a:p>
        </p:txBody>
      </p:sp>
    </p:spTree>
    <p:extLst>
      <p:ext uri="{BB962C8B-B14F-4D97-AF65-F5344CB8AC3E}">
        <p14:creationId xmlns:p14="http://schemas.microsoft.com/office/powerpoint/2010/main" val="3209387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>
            <a:spLocks noChangeArrowheads="1"/>
          </p:cNvSpPr>
          <p:nvPr/>
        </p:nvSpPr>
        <p:spPr bwMode="auto">
          <a:xfrm>
            <a:off x="463804" y="44624"/>
            <a:ext cx="11176812" cy="957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660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zh-CN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山东文综</a:t>
            </a:r>
            <a:r>
              <a:rPr lang="en-US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气温的日变化一般表现为最高值出现在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14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时左右，最低值出现在日出前后</a:t>
            </a:r>
            <a:r>
              <a:rPr lang="zh-CN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zh-CN" altLang="en-US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</a:t>
            </a:r>
            <a:r>
              <a:rPr lang="zh-CN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示意某区域某日某时刻的等温线分布。读图，回答下题。</a:t>
            </a:r>
            <a:endParaRPr lang="zh-CN" altLang="zh-CN" sz="9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7170" name="Picture 2" descr="R219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648571"/>
            <a:ext cx="4088412" cy="363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551384" y="1008032"/>
            <a:ext cx="70324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下列时刻中，最有可能出现该等温线分布状况的是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A.6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	B.9</a:t>
            </a:r>
            <a:r>
              <a:rPr lang="zh-CN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C.12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D.14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33" name="TextBox 19"/>
          <p:cNvSpPr txBox="1"/>
          <p:nvPr/>
        </p:nvSpPr>
        <p:spPr>
          <a:xfrm>
            <a:off x="1343472" y="1488152"/>
            <a:ext cx="75609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40"/>
            <a:r>
              <a:rPr lang="zh-CN" altLang="en-US" sz="4500" b="1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√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91344" y="2348880"/>
            <a:ext cx="11176812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(1)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审题：你从上述材料中获取和解读到哪些地理信息？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日最高温出现在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14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时左右，最低温出现在日出前后；由</a:t>
            </a:r>
            <a:r>
              <a:rPr lang="zh-CN" altLang="zh-CN" sz="2000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等温线</a:t>
            </a:r>
            <a:endParaRPr lang="en-US" altLang="zh-CN" sz="2000" kern="100" dirty="0" smtClean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平直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分布可知，同纬度陆地与海洋气温相同。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(2)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破题：你在解答上题时调用了哪些地理知识？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由大气受热原理可知，近地面大气的热量来自地球表面，海洋与陆地热力性质不同，所以陆地气温与海洋气温变化过程不同，海洋气温变化滞后于陆地气温变化</a:t>
            </a:r>
            <a:r>
              <a:rPr lang="zh-CN" altLang="zh-CN" sz="2000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13856" y="5013176"/>
            <a:ext cx="1117681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3)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解题：解答上题如何辨别选项？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6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时和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14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时出现陆地最低气温和最高气温，海洋气温升降幅度小，极值与陆地不同。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12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时太阳辐射强，陆地增温超过海洋，不会相等。日出前后，海洋温度比陆地温度高，日出后海洋和陆地开始升温，陆地升温快，海洋升温慢，大约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9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时左右可能出现陆地和海洋温度相等。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82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51FBAF3-E136-4E1B-95B8-FB178AC5FC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76"/>
          <a:stretch/>
        </p:blipFill>
        <p:spPr>
          <a:xfrm>
            <a:off x="618240" y="1052736"/>
            <a:ext cx="10958696" cy="574126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249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二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大气受热的结果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—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气温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A090B3-DE20-4FED-BE10-E2A257C48D09}"/>
              </a:ext>
            </a:extLst>
          </p:cNvPr>
          <p:cNvSpPr/>
          <p:nvPr/>
        </p:nvSpPr>
        <p:spPr>
          <a:xfrm>
            <a:off x="263352" y="544670"/>
            <a:ext cx="32255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2.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影响气温高低的因素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2855640" y="1099714"/>
            <a:ext cx="7488832" cy="8171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359696" y="2060848"/>
            <a:ext cx="8217240" cy="122413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488914" y="3429000"/>
            <a:ext cx="8439733" cy="252028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783632" y="6085722"/>
            <a:ext cx="9192342" cy="7082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496091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E873E8-445F-478F-848D-3370CB71FFF6}"/>
              </a:ext>
            </a:extLst>
          </p:cNvPr>
          <p:cNvSpPr/>
          <p:nvPr/>
        </p:nvSpPr>
        <p:spPr>
          <a:xfrm>
            <a:off x="84920" y="260648"/>
            <a:ext cx="1202533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（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湖北省宜昌市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2019—2020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学年高三年级元月调考）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日至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日，拉萨连续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日平均气温超过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22℃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，首次达到了中国气候季节划分的夏季标准，这是当地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1955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年有气象观测记录以来首次入夏。往年夏季较为凉爽的拉萨，今年电风扇、家用空调供不应求。</a:t>
            </a:r>
            <a:r>
              <a:rPr lang="zh-CN" altLang="en-US" sz="2400" dirty="0"/>
              <a:t>据此完成</a:t>
            </a:r>
            <a:r>
              <a:rPr lang="en-US" altLang="zh-CN" sz="2400" dirty="0"/>
              <a:t>12—14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/>
              <a:t>12</a:t>
            </a:r>
            <a:r>
              <a:rPr lang="zh-CN" altLang="en-US" sz="2400" dirty="0"/>
              <a:t>．内蒙古高原上的呼伦贝尔夏季空调和电风扇使用率也较低，与拉萨相比，呼伦贝尔该特点形成的主要原因是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．海拔较高，大气保温作用弱	</a:t>
            </a:r>
            <a:r>
              <a:rPr lang="en-US" altLang="zh-CN" sz="2400" dirty="0"/>
              <a:t>B</a:t>
            </a:r>
            <a:r>
              <a:rPr lang="zh-CN" altLang="en-US" sz="2400" dirty="0"/>
              <a:t>．云量较少，大气保温作用弱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．纬度较高，太阳高度角小	</a:t>
            </a:r>
            <a:r>
              <a:rPr lang="en-US" altLang="zh-CN" sz="2400" dirty="0"/>
              <a:t>D</a:t>
            </a:r>
            <a:r>
              <a:rPr lang="zh-CN" altLang="en-US" sz="2400" dirty="0"/>
              <a:t>．海洋影响小，夜晚降温快</a:t>
            </a:r>
          </a:p>
          <a:p>
            <a:r>
              <a:rPr lang="en-US" altLang="zh-CN" sz="2400" dirty="0"/>
              <a:t>13</a:t>
            </a:r>
            <a:r>
              <a:rPr lang="zh-CN" altLang="en-US" sz="2400" dirty="0"/>
              <a:t>．这次拉萨顺利入夏的原因最可能是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．西南季风势力强，带来大量暖空气，增温明显</a:t>
            </a:r>
          </a:p>
          <a:p>
            <a:r>
              <a:rPr lang="en-US" altLang="zh-CN" sz="2400" dirty="0"/>
              <a:t>B</a:t>
            </a:r>
            <a:r>
              <a:rPr lang="zh-CN" altLang="en-US" sz="2400" dirty="0"/>
              <a:t>．拉萨地处河谷地带，不易散热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．太阳活动强烈</a:t>
            </a:r>
          </a:p>
          <a:p>
            <a:r>
              <a:rPr lang="en-US" altLang="zh-CN" sz="2400" dirty="0"/>
              <a:t>D</a:t>
            </a:r>
            <a:r>
              <a:rPr lang="zh-CN" altLang="en-US" sz="2400" dirty="0"/>
              <a:t>．受高气压影响，形成强烈的气流下沉增温和辐射增温</a:t>
            </a:r>
          </a:p>
          <a:p>
            <a:r>
              <a:rPr lang="en-US" altLang="zh-CN" sz="2400" dirty="0"/>
              <a:t>14</a:t>
            </a:r>
            <a:r>
              <a:rPr lang="zh-CN" altLang="en-US" sz="2400" dirty="0"/>
              <a:t>．此次高温事件产生的影响，下列说法正确的是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．农作物及牧草长势较去年偏好	</a:t>
            </a:r>
            <a:r>
              <a:rPr lang="en-US" altLang="zh-CN" sz="2400" dirty="0"/>
              <a:t>B</a:t>
            </a:r>
            <a:r>
              <a:rPr lang="zh-CN" altLang="en-US" sz="2400" dirty="0"/>
              <a:t>．以后每年春末商家采购大量空调电扇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．高温事件后不久，对流增强，雨季到来	</a:t>
            </a:r>
            <a:r>
              <a:rPr lang="en-US" altLang="zh-CN" sz="2400" dirty="0"/>
              <a:t>D</a:t>
            </a:r>
            <a:r>
              <a:rPr lang="zh-CN" altLang="en-US" sz="2400" dirty="0"/>
              <a:t>．冰川融化，林线上升</a:t>
            </a:r>
          </a:p>
        </p:txBody>
      </p:sp>
    </p:spTree>
    <p:extLst>
      <p:ext uri="{BB962C8B-B14F-4D97-AF65-F5344CB8AC3E}">
        <p14:creationId xmlns:p14="http://schemas.microsoft.com/office/powerpoint/2010/main" val="635559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E873E8-445F-478F-848D-3370CB71FFF6}"/>
              </a:ext>
            </a:extLst>
          </p:cNvPr>
          <p:cNvSpPr/>
          <p:nvPr/>
        </p:nvSpPr>
        <p:spPr>
          <a:xfrm>
            <a:off x="84920" y="21972"/>
            <a:ext cx="1202533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  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（湖北省宜昌市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2019—2020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学年高三年级元月调考）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2019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日至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29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日，拉萨连续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日平均气温超过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22℃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，首次达到了中国气候季节划分的夏季标准，这是当地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1955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年有气象观测记录以来首次入夏。往年夏季较为凉爽的拉萨，今年电风扇、家用空调供不应求。</a:t>
            </a:r>
            <a:r>
              <a:rPr lang="zh-CN" altLang="en-US" sz="2400" dirty="0"/>
              <a:t>据此完成</a:t>
            </a:r>
            <a:r>
              <a:rPr lang="en-US" altLang="zh-CN" sz="2400" dirty="0"/>
              <a:t>12—14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/>
              <a:t>12</a:t>
            </a:r>
            <a:r>
              <a:rPr lang="zh-CN" altLang="en-US" sz="2400" dirty="0"/>
              <a:t>．内蒙古高原上的呼伦贝尔夏季空调和电风扇使用率也较低，与拉萨相比，呼伦贝尔该特点形成的主要原因是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．海拔较高，大气保温作用弱	</a:t>
            </a:r>
            <a:r>
              <a:rPr lang="en-US" altLang="zh-CN" sz="2400" dirty="0"/>
              <a:t>B</a:t>
            </a:r>
            <a:r>
              <a:rPr lang="zh-CN" altLang="en-US" sz="2400" dirty="0"/>
              <a:t>．云量较少，大气保温作用弱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．纬度较高，太阳高度角小	</a:t>
            </a:r>
            <a:r>
              <a:rPr lang="en-US" altLang="zh-CN" sz="2400" dirty="0"/>
              <a:t>D</a:t>
            </a:r>
            <a:r>
              <a:rPr lang="zh-CN" altLang="en-US" sz="2400" dirty="0"/>
              <a:t>．海洋影响小，夜晚降温快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D059E5-673B-40E6-BC43-3254E571F470}"/>
              </a:ext>
            </a:extLst>
          </p:cNvPr>
          <p:cNvSpPr/>
          <p:nvPr/>
        </p:nvSpPr>
        <p:spPr>
          <a:xfrm>
            <a:off x="98719" y="3418398"/>
            <a:ext cx="11901937" cy="156966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400" dirty="0"/>
              <a:t>【</a:t>
            </a:r>
            <a:r>
              <a:rPr lang="zh-CN" altLang="en-US" sz="2400" dirty="0"/>
              <a:t>答案</a:t>
            </a:r>
            <a:r>
              <a:rPr lang="en-US" altLang="zh-CN" sz="2400" dirty="0"/>
              <a:t>】12</a:t>
            </a:r>
            <a:r>
              <a:rPr lang="zh-CN" altLang="en-US" sz="2400" dirty="0"/>
              <a:t>．</a:t>
            </a:r>
            <a:r>
              <a:rPr lang="en-US" altLang="zh-CN" sz="2400" dirty="0"/>
              <a:t>C  13</a:t>
            </a:r>
            <a:r>
              <a:rPr lang="zh-CN" altLang="en-US" sz="2400" dirty="0"/>
              <a:t>．</a:t>
            </a:r>
            <a:r>
              <a:rPr lang="en-US" altLang="zh-CN" sz="2400" dirty="0"/>
              <a:t>D  14</a:t>
            </a:r>
            <a:r>
              <a:rPr lang="zh-CN" altLang="en-US" sz="2400" dirty="0"/>
              <a:t>．</a:t>
            </a:r>
            <a:r>
              <a:rPr lang="en-US" altLang="zh-CN" sz="2400" dirty="0"/>
              <a:t>C</a:t>
            </a:r>
          </a:p>
          <a:p>
            <a:r>
              <a:rPr lang="en-US" altLang="zh-CN" sz="2400" dirty="0"/>
              <a:t>【</a:t>
            </a:r>
            <a:r>
              <a:rPr lang="zh-CN" altLang="en-US" sz="2400" dirty="0"/>
              <a:t>解析</a:t>
            </a:r>
            <a:r>
              <a:rPr lang="en-US" altLang="zh-CN" sz="2400" dirty="0"/>
              <a:t>】12</a:t>
            </a:r>
            <a:r>
              <a:rPr lang="zh-CN" altLang="en-US" sz="2400" dirty="0"/>
              <a:t>．内蒙古高原上的呼伦贝尔与拉萨相比，呼伦贝尔纬度高，太阳高度角小，获得的太阳辐射量少，夏季气温较低，</a:t>
            </a:r>
            <a:r>
              <a:rPr lang="en-US" altLang="zh-CN" sz="2400" dirty="0"/>
              <a:t>C</a:t>
            </a:r>
            <a:r>
              <a:rPr lang="zh-CN" altLang="en-US" sz="2400" dirty="0"/>
              <a:t>正确。而拉萨位于青藏高原上，海拔高大气稀薄，云量少，</a:t>
            </a:r>
            <a:r>
              <a:rPr lang="en-US" altLang="zh-CN" sz="2400" dirty="0"/>
              <a:t>A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错。呼伦贝尔离海洋更近，受海洋的影响大，</a:t>
            </a:r>
            <a:r>
              <a:rPr lang="en-US" altLang="zh-CN" sz="2400" dirty="0"/>
              <a:t>D</a:t>
            </a:r>
            <a:r>
              <a:rPr lang="zh-CN" altLang="en-US" sz="2400" dirty="0"/>
              <a:t>错。故选</a:t>
            </a:r>
            <a:r>
              <a:rPr lang="en-US" altLang="zh-CN" sz="2400" dirty="0"/>
              <a:t>C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24842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E873E8-445F-478F-848D-3370CB71FFF6}"/>
              </a:ext>
            </a:extLst>
          </p:cNvPr>
          <p:cNvSpPr/>
          <p:nvPr/>
        </p:nvSpPr>
        <p:spPr>
          <a:xfrm>
            <a:off x="119336" y="44624"/>
            <a:ext cx="120253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（湖北省宜昌市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2019—2020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学年高三年级元月调考）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日至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日，拉萨连续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日平均气温超过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22℃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，首次达到了中国气候季节划分的夏季标准，这是当地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1955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年有气象观测记录以来首次入夏。往年夏季较为凉爽的拉萨，今年电风扇、家用空调供不应求。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据此完成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12—14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题。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．这次拉萨顺利入夏的原因最可能是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．西南季风势力强，带来大量暖空气，增温明显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．拉萨地处河谷地带，不易散热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．太阳活动强烈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．受高气压影响，形成强烈的气流下沉增温和辐射增温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4F9778-3352-41BA-8750-0B69B572F736}"/>
              </a:ext>
            </a:extLst>
          </p:cNvPr>
          <p:cNvSpPr/>
          <p:nvPr/>
        </p:nvSpPr>
        <p:spPr>
          <a:xfrm>
            <a:off x="119336" y="3645024"/>
            <a:ext cx="12025336" cy="156966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400" dirty="0"/>
              <a:t>13</a:t>
            </a:r>
            <a:r>
              <a:rPr lang="zh-CN" altLang="en-US" sz="2400" dirty="0"/>
              <a:t>．据材料可知，拉萨往年夏季较为凉爽，从气候学上划分属于无夏区，突然入夏，说明气候异常，气温突然升高，是受副热带高气压的异常影响，形成强烈的气流下沉使增温和辐射增温，</a:t>
            </a:r>
            <a:r>
              <a:rPr lang="en-US" altLang="zh-CN" sz="2400" dirty="0"/>
              <a:t>D</a:t>
            </a:r>
            <a:r>
              <a:rPr lang="zh-CN" altLang="en-US" sz="2400" dirty="0"/>
              <a:t>正确。西南季风对拉萨气温几乎没有影响，</a:t>
            </a:r>
            <a:r>
              <a:rPr lang="en-US" altLang="zh-CN" sz="2400" dirty="0"/>
              <a:t>A</a:t>
            </a:r>
            <a:r>
              <a:rPr lang="zh-CN" altLang="en-US" sz="2400" dirty="0"/>
              <a:t>错。拉萨地处河谷地带，不易散热，不会导致气温异常，故</a:t>
            </a:r>
            <a:r>
              <a:rPr lang="en-US" altLang="zh-CN" sz="2400" dirty="0"/>
              <a:t>B</a:t>
            </a:r>
            <a:r>
              <a:rPr lang="zh-CN" altLang="en-US" sz="2400" dirty="0"/>
              <a:t>错。太阳活动对气温异常没有影响，</a:t>
            </a:r>
            <a:r>
              <a:rPr lang="en-US" altLang="zh-CN" sz="2400" dirty="0"/>
              <a:t>C</a:t>
            </a:r>
            <a:r>
              <a:rPr lang="zh-CN" altLang="en-US" sz="2400" dirty="0"/>
              <a:t>错。故选</a:t>
            </a:r>
            <a:r>
              <a:rPr lang="en-US" altLang="zh-CN" sz="2400" dirty="0"/>
              <a:t>D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58608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E873E8-445F-478F-848D-3370CB71FFF6}"/>
              </a:ext>
            </a:extLst>
          </p:cNvPr>
          <p:cNvSpPr/>
          <p:nvPr/>
        </p:nvSpPr>
        <p:spPr>
          <a:xfrm>
            <a:off x="119336" y="218954"/>
            <a:ext cx="120253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（湖北省宜昌市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2019—2020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学年高三年级元月调考）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日至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日，拉萨连续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日平均气温超过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22℃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，首次达到了中国气候季节划分的夏季标准，这是当地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1955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年有气象观测记录以来首次入夏。往年夏季较为凉爽的拉萨，今年电风扇、家用空调供不应求。</a:t>
            </a:r>
            <a:r>
              <a:rPr lang="zh-CN" altLang="en-US" sz="2400" dirty="0"/>
              <a:t>据此完成</a:t>
            </a:r>
            <a:r>
              <a:rPr lang="en-US" altLang="zh-CN" sz="2400" dirty="0"/>
              <a:t>12—14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/>
              <a:t>14</a:t>
            </a:r>
            <a:r>
              <a:rPr lang="zh-CN" altLang="en-US" sz="2400" dirty="0"/>
              <a:t>．此次高温事件产生的影响，下列说法正确的是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．农作物及牧草长势较去年偏好	</a:t>
            </a:r>
            <a:r>
              <a:rPr lang="en-US" altLang="zh-CN" sz="2400" dirty="0"/>
              <a:t>B</a:t>
            </a:r>
            <a:r>
              <a:rPr lang="zh-CN" altLang="en-US" sz="2400" dirty="0"/>
              <a:t>．以后每年春末商家采购大量空调电扇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．高温事件后不久，对流增强，雨季到来	</a:t>
            </a:r>
            <a:r>
              <a:rPr lang="en-US" altLang="zh-CN" sz="2400" dirty="0"/>
              <a:t>D</a:t>
            </a:r>
            <a:r>
              <a:rPr lang="zh-CN" altLang="en-US" sz="2400" dirty="0"/>
              <a:t>．冰川融化，林线上升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C1EAE3-AED7-4897-81B1-E4FDF94F5702}"/>
              </a:ext>
            </a:extLst>
          </p:cNvPr>
          <p:cNvSpPr/>
          <p:nvPr/>
        </p:nvSpPr>
        <p:spPr>
          <a:xfrm>
            <a:off x="371364" y="3140968"/>
            <a:ext cx="11449272" cy="132343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14</a:t>
            </a:r>
            <a:r>
              <a:rPr lang="zh-CN" altLang="en-US" sz="2000" dirty="0"/>
              <a:t>．拉萨在短期内出现气温达到入夏标准的情况属异常现象，不具有普遍性，拉萨仍属于气候季节划分的无夏区。短暂的气温升高，属于气温异常，对农作物及牧草长势会有不利的影响，</a:t>
            </a:r>
            <a:r>
              <a:rPr lang="en-US" altLang="zh-CN" sz="2000" dirty="0"/>
              <a:t>A</a:t>
            </a:r>
            <a:r>
              <a:rPr lang="zh-CN" altLang="en-US" sz="2000" dirty="0"/>
              <a:t>错，不会每年都出现这种异常，</a:t>
            </a:r>
            <a:r>
              <a:rPr lang="en-US" altLang="zh-CN" sz="2000" dirty="0"/>
              <a:t>B</a:t>
            </a:r>
            <a:r>
              <a:rPr lang="zh-CN" altLang="en-US" sz="2000" dirty="0"/>
              <a:t>错。高温会使对流增强，上升流多降水，雨季到来，</a:t>
            </a:r>
            <a:r>
              <a:rPr lang="en-US" altLang="zh-CN" sz="2000" dirty="0"/>
              <a:t>C</a:t>
            </a:r>
            <a:r>
              <a:rPr lang="zh-CN" altLang="en-US" sz="2000" dirty="0"/>
              <a:t>正确。短暂气温升高，不会使林线上升，</a:t>
            </a:r>
            <a:r>
              <a:rPr lang="en-US" altLang="zh-CN" sz="2000" dirty="0"/>
              <a:t>D</a:t>
            </a:r>
            <a:r>
              <a:rPr lang="zh-CN" altLang="en-US" sz="2000" dirty="0"/>
              <a:t>错。故选</a:t>
            </a:r>
            <a:r>
              <a:rPr lang="en-US" altLang="zh-CN" sz="2000" dirty="0"/>
              <a:t>C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44021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0D8B062-799F-4B11-AFCB-AFBDCD89F659}"/>
              </a:ext>
            </a:extLst>
          </p:cNvPr>
          <p:cNvSpPr/>
          <p:nvPr/>
        </p:nvSpPr>
        <p:spPr>
          <a:xfrm>
            <a:off x="119336" y="476672"/>
            <a:ext cx="1180931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【</a:t>
            </a:r>
            <a:r>
              <a:rPr lang="zh-CN" altLang="en-US" sz="2400" dirty="0"/>
              <a:t>黑龙江省顶级名校</a:t>
            </a:r>
            <a:r>
              <a:rPr lang="en-US" altLang="zh-CN" sz="2400" dirty="0"/>
              <a:t>2019—2020</a:t>
            </a:r>
            <a:r>
              <a:rPr lang="zh-CN" altLang="en-US" sz="2400" dirty="0"/>
              <a:t>学年高三上学期期中</a:t>
            </a:r>
            <a:r>
              <a:rPr lang="en-US" altLang="zh-CN" sz="2400" dirty="0"/>
              <a:t>】</a:t>
            </a:r>
            <a:r>
              <a:rPr lang="zh-CN" altLang="en-US" sz="2400" dirty="0"/>
              <a:t>气象学上，若连续</a:t>
            </a:r>
            <a:r>
              <a:rPr lang="en-US" altLang="zh-CN" sz="2400" dirty="0"/>
              <a:t>5</a:t>
            </a:r>
            <a:r>
              <a:rPr lang="zh-CN" altLang="en-US" sz="2400" dirty="0"/>
              <a:t>天的日平均气温一年中的第一次（北半球）均≥</a:t>
            </a:r>
            <a:r>
              <a:rPr lang="en-US" altLang="zh-CN" sz="2400" dirty="0"/>
              <a:t>10℃</a:t>
            </a:r>
            <a:r>
              <a:rPr lang="zh-CN" altLang="en-US" sz="2400" dirty="0"/>
              <a:t>，则以第一天作为春季的开始日。读“我国</a:t>
            </a:r>
            <a:r>
              <a:rPr lang="en-US" altLang="zh-CN" sz="2400" dirty="0"/>
              <a:t>30°N</a:t>
            </a:r>
            <a:r>
              <a:rPr lang="zh-CN" altLang="en-US" sz="2400" dirty="0"/>
              <a:t>附近各地入春时间分布示意图”。完成</a:t>
            </a:r>
            <a:r>
              <a:rPr lang="en-US" altLang="zh-CN" sz="2400" dirty="0"/>
              <a:t>12—13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/>
              <a:t>12</a:t>
            </a:r>
            <a:r>
              <a:rPr lang="zh-CN" altLang="en-US" sz="2400" dirty="0"/>
              <a:t>．①地与②地入春时间分别可能是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．①为</a:t>
            </a:r>
            <a:r>
              <a:rPr lang="en-US" altLang="zh-CN" sz="2400" dirty="0"/>
              <a:t>5</a:t>
            </a:r>
            <a:r>
              <a:rPr lang="zh-CN" altLang="en-US" sz="2400" dirty="0"/>
              <a:t>月</a:t>
            </a:r>
            <a:r>
              <a:rPr lang="en-US" altLang="zh-CN" sz="2400" dirty="0"/>
              <a:t>15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	</a:t>
            </a:r>
            <a:endParaRPr lang="en-US" altLang="zh-CN" sz="2400" dirty="0"/>
          </a:p>
          <a:p>
            <a:r>
              <a:rPr lang="en-US" altLang="zh-CN" sz="2400" dirty="0"/>
              <a:t>B</a:t>
            </a:r>
            <a:r>
              <a:rPr lang="zh-CN" altLang="en-US" sz="2400" dirty="0"/>
              <a:t>．①为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18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25</a:t>
            </a:r>
            <a:r>
              <a:rPr lang="zh-CN" altLang="en-US" sz="2400" dirty="0"/>
              <a:t>日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．①为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18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	</a:t>
            </a:r>
            <a:endParaRPr lang="en-US" altLang="zh-CN" sz="2400" dirty="0"/>
          </a:p>
          <a:p>
            <a:r>
              <a:rPr lang="en-US" altLang="zh-CN" sz="2400" dirty="0"/>
              <a:t>D</a:t>
            </a:r>
            <a:r>
              <a:rPr lang="zh-CN" altLang="en-US" sz="2400" dirty="0"/>
              <a:t>．①为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5</a:t>
            </a:r>
            <a:r>
              <a:rPr lang="zh-CN" altLang="en-US" sz="2400" dirty="0"/>
              <a:t>月</a:t>
            </a:r>
            <a:r>
              <a:rPr lang="en-US" altLang="zh-CN" sz="2400" dirty="0"/>
              <a:t>15</a:t>
            </a:r>
            <a:r>
              <a:rPr lang="zh-CN" altLang="en-US" sz="2400" dirty="0"/>
              <a:t>日</a:t>
            </a:r>
          </a:p>
          <a:p>
            <a:r>
              <a:rPr lang="en-US" altLang="zh-CN" sz="2400" dirty="0"/>
              <a:t>13</a:t>
            </a:r>
            <a:r>
              <a:rPr lang="zh-CN" altLang="en-US" sz="2400" dirty="0"/>
              <a:t>．造成③、④两地入春时间差异的原因是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．③地太阳高度较大，获得太阳辐射多	</a:t>
            </a:r>
            <a:endParaRPr lang="en-US" altLang="zh-CN" sz="2400" dirty="0"/>
          </a:p>
          <a:p>
            <a:r>
              <a:rPr lang="en-US" altLang="zh-CN" sz="2400" dirty="0"/>
              <a:t>B</a:t>
            </a:r>
            <a:r>
              <a:rPr lang="zh-CN" altLang="en-US" sz="2400" dirty="0"/>
              <a:t>．③地大陆性较强，春季气温回升较快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．④地受海洋调节作用强，春季来得早	</a:t>
            </a:r>
            <a:endParaRPr lang="en-US" altLang="zh-CN" sz="2400" dirty="0"/>
          </a:p>
          <a:p>
            <a:r>
              <a:rPr lang="en-US" altLang="zh-CN" sz="2400" dirty="0"/>
              <a:t>D</a:t>
            </a:r>
            <a:r>
              <a:rPr lang="zh-CN" altLang="en-US" sz="2400" dirty="0"/>
              <a:t>．④地受冬季风影响较大，春季来得晚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FA7CB93-4D02-4691-9A2D-8C744E544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6" y="1628800"/>
            <a:ext cx="6312024" cy="1923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728874C-5E42-4F10-AEF1-090EB3865532}"/>
              </a:ext>
            </a:extLst>
          </p:cNvPr>
          <p:cNvSpPr/>
          <p:nvPr/>
        </p:nvSpPr>
        <p:spPr>
          <a:xfrm>
            <a:off x="120307" y="5417929"/>
            <a:ext cx="11996670" cy="132343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答案</a:t>
            </a:r>
            <a:r>
              <a:rPr lang="en-US" altLang="zh-CN" sz="2000" dirty="0"/>
              <a:t>】12</a:t>
            </a:r>
            <a:r>
              <a:rPr lang="zh-CN" altLang="en-US" sz="2000" dirty="0"/>
              <a:t>．</a:t>
            </a:r>
            <a:r>
              <a:rPr lang="en-US" altLang="zh-CN" sz="2000" dirty="0"/>
              <a:t>A  13</a:t>
            </a:r>
            <a:r>
              <a:rPr lang="zh-CN" altLang="en-US" sz="2000" dirty="0"/>
              <a:t>．</a:t>
            </a:r>
            <a:r>
              <a:rPr lang="en-US" altLang="zh-CN" sz="2000" dirty="0"/>
              <a:t>B</a:t>
            </a:r>
          </a:p>
          <a:p>
            <a:r>
              <a:rPr lang="en-US" altLang="zh-CN" sz="2000" dirty="0"/>
              <a:t>【</a:t>
            </a:r>
            <a:r>
              <a:rPr lang="zh-CN" altLang="en-US" sz="2000" dirty="0"/>
              <a:t>解析</a:t>
            </a:r>
            <a:r>
              <a:rPr lang="en-US" altLang="zh-CN" sz="2000" dirty="0"/>
              <a:t>】12</a:t>
            </a:r>
            <a:r>
              <a:rPr lang="zh-CN" altLang="en-US" sz="2000" dirty="0"/>
              <a:t>．由图中经纬度定位可知①、②分别为青藏高原和四川盆地。受地形影响，①海拔高气温较低，入春迟；②地位于四川盆地，北部有高大山脉阻挡冷空气，气温较高，入春早。结合图中所示的同纬度其他地区的入春时间可知，①入春时间应迟于川西高原</a:t>
            </a:r>
            <a:r>
              <a:rPr lang="en-US" altLang="zh-CN" sz="2000" dirty="0"/>
              <a:t>3</a:t>
            </a:r>
            <a:r>
              <a:rPr lang="zh-CN" altLang="en-US" sz="2000" dirty="0"/>
              <a:t>月</a:t>
            </a:r>
            <a:r>
              <a:rPr lang="en-US" altLang="zh-CN" sz="2000" dirty="0"/>
              <a:t>18</a:t>
            </a:r>
            <a:r>
              <a:rPr lang="zh-CN" altLang="en-US" sz="2000" dirty="0"/>
              <a:t>日，②地则早于</a:t>
            </a:r>
            <a:r>
              <a:rPr lang="en-US" altLang="zh-CN" sz="2000" dirty="0"/>
              <a:t>2</a:t>
            </a:r>
            <a:r>
              <a:rPr lang="zh-CN" altLang="en-US" sz="2000" dirty="0"/>
              <a:t>月</a:t>
            </a:r>
            <a:r>
              <a:rPr lang="en-US" altLang="zh-CN" sz="2000" dirty="0"/>
              <a:t>25</a:t>
            </a:r>
            <a:r>
              <a:rPr lang="zh-CN" altLang="en-US" sz="2000" dirty="0"/>
              <a:t>日。故本题正确答案为</a:t>
            </a:r>
            <a:r>
              <a:rPr lang="en-US" altLang="zh-CN" sz="2000" dirty="0"/>
              <a:t>A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07848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0D8B062-799F-4B11-AFCB-AFBDCD89F659}"/>
              </a:ext>
            </a:extLst>
          </p:cNvPr>
          <p:cNvSpPr/>
          <p:nvPr/>
        </p:nvSpPr>
        <p:spPr>
          <a:xfrm>
            <a:off x="191344" y="407561"/>
            <a:ext cx="1180931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【</a:t>
            </a:r>
            <a:r>
              <a:rPr lang="zh-CN" altLang="en-US" sz="2400" dirty="0"/>
              <a:t>黑龙江省顶级名校</a:t>
            </a:r>
            <a:r>
              <a:rPr lang="en-US" altLang="zh-CN" sz="2400" dirty="0"/>
              <a:t>2019—2020</a:t>
            </a:r>
            <a:r>
              <a:rPr lang="zh-CN" altLang="en-US" sz="2400" dirty="0"/>
              <a:t>学年高三上学期期中</a:t>
            </a:r>
            <a:r>
              <a:rPr lang="en-US" altLang="zh-CN" sz="2400" dirty="0"/>
              <a:t>】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气象学上，若连续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天的日平均气温一年中的第一次（北半球）均≥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10℃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，则以第一天作为春季的开始日。</a:t>
            </a:r>
            <a:r>
              <a:rPr lang="zh-CN" altLang="en-US" sz="2400" dirty="0"/>
              <a:t>读“我国</a:t>
            </a:r>
            <a:r>
              <a:rPr lang="en-US" altLang="zh-CN" sz="2400" dirty="0"/>
              <a:t>30°N</a:t>
            </a:r>
            <a:r>
              <a:rPr lang="zh-CN" altLang="en-US" sz="2400" dirty="0"/>
              <a:t>附近各地入春时间分布示意图”。完成</a:t>
            </a:r>
            <a:r>
              <a:rPr lang="en-US" altLang="zh-CN" sz="2400" dirty="0"/>
              <a:t>12—13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 smtClean="0"/>
              <a:t>12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地与②地入春时间分别可能是</a:t>
            </a:r>
          </a:p>
          <a:p>
            <a:r>
              <a:rPr lang="en-US" altLang="zh-CN" sz="2400" dirty="0" smtClean="0"/>
              <a:t>A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为</a:t>
            </a:r>
            <a:r>
              <a:rPr lang="en-US" altLang="zh-CN" sz="2400" dirty="0"/>
              <a:t>5</a:t>
            </a:r>
            <a:r>
              <a:rPr lang="zh-CN" altLang="en-US" sz="2400" dirty="0"/>
              <a:t>月</a:t>
            </a:r>
            <a:r>
              <a:rPr lang="en-US" altLang="zh-CN" sz="2400" dirty="0"/>
              <a:t>15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	</a:t>
            </a:r>
            <a:endParaRPr lang="en-US" altLang="zh-CN" sz="2400" dirty="0"/>
          </a:p>
          <a:p>
            <a:r>
              <a:rPr lang="en-US" altLang="zh-CN" sz="2400" dirty="0" smtClean="0"/>
              <a:t>B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18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25</a:t>
            </a:r>
            <a:r>
              <a:rPr lang="zh-CN" altLang="en-US" sz="2400" dirty="0"/>
              <a:t>日</a:t>
            </a:r>
          </a:p>
          <a:p>
            <a:r>
              <a:rPr lang="en-US" altLang="zh-CN" sz="2400" dirty="0" smtClean="0"/>
              <a:t>C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18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	</a:t>
            </a:r>
            <a:endParaRPr lang="en-US" altLang="zh-CN" sz="2400" dirty="0"/>
          </a:p>
          <a:p>
            <a:r>
              <a:rPr lang="en-US" altLang="zh-CN" sz="2400" dirty="0" smtClean="0"/>
              <a:t>D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5</a:t>
            </a:r>
            <a:r>
              <a:rPr lang="zh-CN" altLang="en-US" sz="2400" dirty="0"/>
              <a:t>月</a:t>
            </a:r>
            <a:r>
              <a:rPr lang="en-US" altLang="zh-CN" sz="2400" dirty="0"/>
              <a:t>15</a:t>
            </a:r>
            <a:r>
              <a:rPr lang="zh-CN" altLang="en-US" sz="2400" dirty="0"/>
              <a:t>日</a:t>
            </a:r>
          </a:p>
          <a:p>
            <a:r>
              <a:rPr lang="en-US" altLang="zh-CN" sz="2400" dirty="0" smtClean="0"/>
              <a:t>13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造成</a:t>
            </a:r>
            <a:r>
              <a:rPr lang="zh-CN" altLang="en-US" sz="2400" dirty="0"/>
              <a:t>③、④两地入春时间差异的原因是</a:t>
            </a:r>
          </a:p>
          <a:p>
            <a:r>
              <a:rPr lang="en-US" altLang="zh-CN" sz="2400" dirty="0" smtClean="0"/>
              <a:t>A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③</a:t>
            </a:r>
            <a:r>
              <a:rPr lang="zh-CN" altLang="en-US" sz="2400" dirty="0"/>
              <a:t>地太阳高度较大，获得太阳辐射多	</a:t>
            </a:r>
            <a:endParaRPr lang="en-US" altLang="zh-CN" sz="2400" dirty="0"/>
          </a:p>
          <a:p>
            <a:r>
              <a:rPr lang="en-US" altLang="zh-CN" sz="2400" dirty="0" smtClean="0"/>
              <a:t>B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③</a:t>
            </a:r>
            <a:r>
              <a:rPr lang="zh-CN" altLang="en-US" sz="2400" dirty="0"/>
              <a:t>地大陆性较强，春季气温回升较快</a:t>
            </a:r>
          </a:p>
          <a:p>
            <a:r>
              <a:rPr lang="en-US" altLang="zh-CN" sz="2400" dirty="0" smtClean="0"/>
              <a:t>C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④</a:t>
            </a:r>
            <a:r>
              <a:rPr lang="zh-CN" altLang="en-US" sz="2400" dirty="0"/>
              <a:t>地受海洋调节作用强，春季来得早	</a:t>
            </a:r>
            <a:endParaRPr lang="en-US" altLang="zh-CN" sz="2400" dirty="0"/>
          </a:p>
          <a:p>
            <a:r>
              <a:rPr lang="en-US" altLang="zh-CN" sz="2400" dirty="0" smtClean="0"/>
              <a:t>D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④</a:t>
            </a:r>
            <a:r>
              <a:rPr lang="zh-CN" altLang="en-US" sz="2400" dirty="0"/>
              <a:t>地受冬季风影响较大，春季来得晚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FA7CB93-4D02-4691-9A2D-8C744E544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663" y="1556792"/>
            <a:ext cx="6381017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B9496F5-3895-4878-B506-A586E8E93AEB}"/>
              </a:ext>
            </a:extLst>
          </p:cNvPr>
          <p:cNvSpPr/>
          <p:nvPr/>
        </p:nvSpPr>
        <p:spPr>
          <a:xfrm>
            <a:off x="47328" y="5219145"/>
            <a:ext cx="11953328" cy="16312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13</a:t>
            </a:r>
            <a:r>
              <a:rPr lang="zh-CN" altLang="en-US" sz="2000" dirty="0"/>
              <a:t>．结合图示信息和所学可知，③地入春时间在</a:t>
            </a:r>
            <a:r>
              <a:rPr lang="en-US" altLang="zh-CN" sz="2000" dirty="0"/>
              <a:t>2</a:t>
            </a:r>
            <a:r>
              <a:rPr lang="zh-CN" altLang="en-US" sz="2000" dirty="0"/>
              <a:t>月</a:t>
            </a:r>
            <a:r>
              <a:rPr lang="en-US" altLang="zh-CN" sz="2000" dirty="0"/>
              <a:t>25</a:t>
            </a:r>
            <a:r>
              <a:rPr lang="zh-CN" altLang="en-US" sz="2000" dirty="0"/>
              <a:t>日到</a:t>
            </a:r>
            <a:r>
              <a:rPr lang="en-US" altLang="zh-CN" sz="2000" dirty="0"/>
              <a:t>3</a:t>
            </a:r>
            <a:r>
              <a:rPr lang="zh-CN" altLang="en-US" sz="2000" dirty="0"/>
              <a:t>月</a:t>
            </a:r>
            <a:r>
              <a:rPr lang="en-US" altLang="zh-CN" sz="2000" dirty="0"/>
              <a:t>18</a:t>
            </a:r>
            <a:r>
              <a:rPr lang="zh-CN" altLang="en-US" sz="2000" dirty="0"/>
              <a:t>日之间，②→③→④入春逐渐推迟，所以④地入春时间在</a:t>
            </a:r>
            <a:r>
              <a:rPr lang="en-US" altLang="zh-CN" sz="2000" dirty="0"/>
              <a:t>3</a:t>
            </a:r>
            <a:r>
              <a:rPr lang="zh-CN" altLang="en-US" sz="2000" dirty="0"/>
              <a:t>月</a:t>
            </a:r>
            <a:r>
              <a:rPr lang="en-US" altLang="zh-CN" sz="2000" dirty="0"/>
              <a:t>18</a:t>
            </a:r>
            <a:r>
              <a:rPr lang="zh-CN" altLang="en-US" sz="2000" dirty="0"/>
              <a:t>之后。③④地纬度相同，太阳高度相同，获得太阳辐射差异不大，</a:t>
            </a:r>
            <a:r>
              <a:rPr lang="en-US" altLang="zh-CN" sz="2000" dirty="0"/>
              <a:t>A</a:t>
            </a:r>
            <a:r>
              <a:rPr lang="zh-CN" altLang="en-US" sz="2000" dirty="0"/>
              <a:t>项错误；③地地处陆地内部，大陆性较强，春季陆地比热容小，气温回升较快，入春早，④地位于东部沿海，海水比热容大，春季升温慢，入春迟。</a:t>
            </a:r>
            <a:r>
              <a:rPr lang="en-US" altLang="zh-CN" sz="2000" dirty="0"/>
              <a:t>B</a:t>
            </a:r>
            <a:r>
              <a:rPr lang="zh-CN" altLang="en-US" sz="2000" dirty="0"/>
              <a:t>项正确；④地受海洋调节作用强，升温慢，春季来得晚，</a:t>
            </a:r>
            <a:r>
              <a:rPr lang="en-US" altLang="zh-CN" sz="2000" dirty="0"/>
              <a:t>C</a:t>
            </a:r>
            <a:r>
              <a:rPr lang="zh-CN" altLang="en-US" sz="2000" dirty="0"/>
              <a:t>项错误；③④两地都位于我国第三阶梯，纬度相同，受冬季风影响差异不大，</a:t>
            </a:r>
            <a:r>
              <a:rPr lang="en-US" altLang="zh-CN" sz="2000" dirty="0"/>
              <a:t>D</a:t>
            </a:r>
            <a:r>
              <a:rPr lang="zh-CN" altLang="en-US" sz="2000" dirty="0"/>
              <a:t>项错误。综合分析，</a:t>
            </a:r>
            <a:r>
              <a:rPr lang="en-US" altLang="zh-CN" sz="2000" dirty="0"/>
              <a:t>B</a:t>
            </a:r>
            <a:r>
              <a:rPr lang="zh-CN" altLang="en-US" sz="2000" dirty="0"/>
              <a:t>项正确。</a:t>
            </a:r>
          </a:p>
        </p:txBody>
      </p:sp>
    </p:spTree>
    <p:extLst>
      <p:ext uri="{BB962C8B-B14F-4D97-AF65-F5344CB8AC3E}">
        <p14:creationId xmlns:p14="http://schemas.microsoft.com/office/powerpoint/2010/main" val="2345486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C2CB33B-1C75-49FA-AAE6-E4C41CA9204F}"/>
              </a:ext>
            </a:extLst>
          </p:cNvPr>
          <p:cNvSpPr/>
          <p:nvPr/>
        </p:nvSpPr>
        <p:spPr>
          <a:xfrm>
            <a:off x="233811" y="0"/>
            <a:ext cx="1185388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（湖南省益阳市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2019—2020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学年高三上学期期末考试）下图为江苏省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月平均气温分布图。</a:t>
            </a:r>
            <a:r>
              <a:rPr lang="zh-CN" altLang="en-US" sz="2400" dirty="0"/>
              <a:t>据此完成下面小题。</a:t>
            </a:r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．影响江苏省</a:t>
            </a:r>
            <a:r>
              <a:rPr lang="en-US" altLang="zh-CN" sz="2400" dirty="0"/>
              <a:t>4</a:t>
            </a:r>
            <a:r>
              <a:rPr lang="zh-CN" altLang="en-US" sz="2400" dirty="0"/>
              <a:t>月平均气温分布的主导因素是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．纬度位置	</a:t>
            </a:r>
            <a:r>
              <a:rPr lang="en-US" altLang="zh-CN" sz="2400" dirty="0"/>
              <a:t>B</a:t>
            </a:r>
            <a:r>
              <a:rPr lang="zh-CN" altLang="en-US" sz="2400" dirty="0"/>
              <a:t>．地形格局	</a:t>
            </a:r>
            <a:r>
              <a:rPr lang="en-US" altLang="zh-CN" sz="2400" dirty="0"/>
              <a:t>C</a:t>
            </a:r>
            <a:r>
              <a:rPr lang="zh-CN" altLang="en-US" sz="2400" dirty="0"/>
              <a:t>．海陆位置	</a:t>
            </a:r>
            <a:r>
              <a:rPr lang="en-US" altLang="zh-CN" sz="2400" dirty="0"/>
              <a:t>D</a:t>
            </a:r>
            <a:r>
              <a:rPr lang="zh-CN" altLang="en-US" sz="2400" dirty="0"/>
              <a:t>．洋流流向</a:t>
            </a:r>
          </a:p>
          <a:p>
            <a:r>
              <a:rPr lang="en-US" altLang="zh-CN" sz="2400" dirty="0"/>
              <a:t>5</a:t>
            </a:r>
            <a:r>
              <a:rPr lang="zh-CN" altLang="en-US" sz="2400" dirty="0"/>
              <a:t>．</a:t>
            </a:r>
            <a:r>
              <a:rPr lang="en-US" altLang="zh-CN" sz="2400" dirty="0"/>
              <a:t>17℃</a:t>
            </a:r>
            <a:r>
              <a:rPr lang="zh-CN" altLang="en-US" sz="2400" dirty="0"/>
              <a:t>等温线向东北方向凸出的原因是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．南京位于民江谷地，河谷阻挡冬季风	</a:t>
            </a:r>
            <a:endParaRPr lang="en-US" altLang="zh-CN" sz="2400" dirty="0"/>
          </a:p>
          <a:p>
            <a:r>
              <a:rPr lang="en-US" altLang="zh-CN" sz="2400" dirty="0"/>
              <a:t>B</a:t>
            </a:r>
            <a:r>
              <a:rPr lang="zh-CN" altLang="en-US" sz="2400" dirty="0"/>
              <a:t>．南京距离海洋较近，受海洋影响较大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．南京城市规模大，热岛效应十分显著	</a:t>
            </a:r>
            <a:endParaRPr lang="en-US" altLang="zh-CN" sz="2400" dirty="0"/>
          </a:p>
          <a:p>
            <a:r>
              <a:rPr lang="en-US" altLang="zh-CN" sz="2400" dirty="0"/>
              <a:t>D</a:t>
            </a:r>
            <a:r>
              <a:rPr lang="zh-CN" altLang="en-US" sz="2400" dirty="0"/>
              <a:t>．南京以轻工业为主，生产废热排放少</a:t>
            </a:r>
          </a:p>
          <a:p>
            <a:r>
              <a:rPr lang="en-US" altLang="zh-CN" sz="2400" dirty="0"/>
              <a:t>6</a:t>
            </a:r>
            <a:r>
              <a:rPr lang="zh-CN" altLang="en-US" sz="2400" dirty="0"/>
              <a:t>．推断江苏省</a:t>
            </a:r>
            <a:r>
              <a:rPr lang="en-US" altLang="zh-CN" sz="2400" dirty="0"/>
              <a:t>1</a:t>
            </a:r>
            <a:r>
              <a:rPr lang="zh-CN" altLang="en-US" sz="2400" dirty="0"/>
              <a:t>月等温线的分布特点是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．南北走向	</a:t>
            </a:r>
            <a:r>
              <a:rPr lang="en-US" altLang="zh-CN" sz="2400" dirty="0"/>
              <a:t>B</a:t>
            </a:r>
            <a:r>
              <a:rPr lang="zh-CN" altLang="en-US" sz="2400" dirty="0"/>
              <a:t>．向东凸出	</a:t>
            </a:r>
            <a:r>
              <a:rPr lang="en-US" altLang="zh-CN" sz="2400" dirty="0"/>
              <a:t>C</a:t>
            </a:r>
            <a:r>
              <a:rPr lang="zh-CN" altLang="en-US" sz="2400" dirty="0"/>
              <a:t>．向西凸出	</a:t>
            </a:r>
            <a:r>
              <a:rPr lang="en-US" altLang="zh-CN" sz="2400" dirty="0"/>
              <a:t>D</a:t>
            </a:r>
            <a:r>
              <a:rPr lang="zh-CN" altLang="en-US" sz="2400" dirty="0"/>
              <a:t>．东西走向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1DEB4C-FAE0-4343-9B62-1ED79116F34B}"/>
              </a:ext>
            </a:extLst>
          </p:cNvPr>
          <p:cNvSpPr/>
          <p:nvPr/>
        </p:nvSpPr>
        <p:spPr>
          <a:xfrm>
            <a:off x="64754" y="4164112"/>
            <a:ext cx="12127246" cy="255454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答案</a:t>
            </a:r>
            <a:r>
              <a:rPr lang="en-US" altLang="zh-CN" sz="2000" dirty="0"/>
              <a:t>】4</a:t>
            </a:r>
            <a:r>
              <a:rPr lang="zh-CN" altLang="en-US" sz="2000" dirty="0"/>
              <a:t>．</a:t>
            </a:r>
            <a:r>
              <a:rPr lang="en-US" altLang="zh-CN" sz="2000" dirty="0"/>
              <a:t>C  5</a:t>
            </a:r>
            <a:r>
              <a:rPr lang="zh-CN" altLang="en-US" sz="2000" dirty="0"/>
              <a:t>．</a:t>
            </a:r>
            <a:r>
              <a:rPr lang="en-US" altLang="zh-CN" sz="2000" dirty="0"/>
              <a:t>C  6</a:t>
            </a:r>
            <a:r>
              <a:rPr lang="zh-CN" altLang="en-US" sz="2000" dirty="0"/>
              <a:t>．</a:t>
            </a:r>
            <a:r>
              <a:rPr lang="en-US" altLang="zh-CN" sz="2000" dirty="0"/>
              <a:t>D</a:t>
            </a:r>
          </a:p>
          <a:p>
            <a:r>
              <a:rPr lang="en-US" altLang="zh-CN" sz="2000" dirty="0"/>
              <a:t>4</a:t>
            </a:r>
            <a:r>
              <a:rPr lang="zh-CN" altLang="en-US" sz="2000" dirty="0"/>
              <a:t>．读图可知江苏省</a:t>
            </a:r>
            <a:r>
              <a:rPr lang="en-US" altLang="zh-CN" sz="2000" dirty="0"/>
              <a:t>4</a:t>
            </a:r>
            <a:r>
              <a:rPr lang="zh-CN" altLang="en-US" sz="2000" dirty="0"/>
              <a:t>月的气温几乎是从沿海地带向内陆递减的，即气温是从东向西递减的，可知影响江苏省</a:t>
            </a:r>
            <a:r>
              <a:rPr lang="en-US" altLang="zh-CN" sz="2000" dirty="0"/>
              <a:t>4</a:t>
            </a:r>
            <a:r>
              <a:rPr lang="zh-CN" altLang="en-US" sz="2000" dirty="0"/>
              <a:t>月平均气温分布的主导因素是海陆位置，可知</a:t>
            </a:r>
            <a:r>
              <a:rPr lang="en-US" altLang="zh-CN" sz="2000" dirty="0"/>
              <a:t>ABD</a:t>
            </a:r>
            <a:r>
              <a:rPr lang="zh-CN" altLang="en-US" sz="2000" dirty="0"/>
              <a:t>错误，故</a:t>
            </a:r>
            <a:r>
              <a:rPr lang="en-US" altLang="zh-CN" sz="2000" dirty="0"/>
              <a:t>C</a:t>
            </a:r>
            <a:r>
              <a:rPr lang="zh-CN" altLang="en-US" sz="2000" dirty="0"/>
              <a:t>正确。故选</a:t>
            </a:r>
            <a:r>
              <a:rPr lang="en-US" altLang="zh-CN" sz="2000" dirty="0"/>
              <a:t>C</a:t>
            </a:r>
            <a:r>
              <a:rPr lang="zh-CN" altLang="en-US" sz="2000" dirty="0"/>
              <a:t>。</a:t>
            </a:r>
          </a:p>
          <a:p>
            <a:r>
              <a:rPr lang="en-US" altLang="zh-CN" sz="2000" dirty="0"/>
              <a:t>5</a:t>
            </a:r>
            <a:r>
              <a:rPr lang="zh-CN" altLang="en-US" sz="2000" dirty="0"/>
              <a:t>．由材料信息可知图中的等温线是</a:t>
            </a:r>
            <a:r>
              <a:rPr lang="en-US" altLang="zh-CN" sz="2000" dirty="0"/>
              <a:t>4</a:t>
            </a:r>
            <a:r>
              <a:rPr lang="zh-CN" altLang="en-US" sz="2000" dirty="0"/>
              <a:t>月份的，此时该区域没有冬季风，故</a:t>
            </a:r>
            <a:r>
              <a:rPr lang="en-US" altLang="zh-CN" sz="2000" dirty="0"/>
              <a:t>A</a:t>
            </a:r>
            <a:r>
              <a:rPr lang="zh-CN" altLang="en-US" sz="2000" dirty="0"/>
              <a:t>错误；南京城市规模比较大，生产生活过程中产生的废热比较多，热岛效应较显著，因此南京附近的</a:t>
            </a:r>
            <a:r>
              <a:rPr lang="en-US" altLang="zh-CN" sz="2000" dirty="0"/>
              <a:t>17℃</a:t>
            </a:r>
            <a:r>
              <a:rPr lang="zh-CN" altLang="en-US" sz="2000" dirty="0"/>
              <a:t>等温线向东北方向凸出，可知</a:t>
            </a:r>
            <a:r>
              <a:rPr lang="en-US" altLang="zh-CN" sz="2000" dirty="0"/>
              <a:t>BD</a:t>
            </a:r>
            <a:r>
              <a:rPr lang="zh-CN" altLang="en-US" sz="2000" dirty="0"/>
              <a:t>错误，故</a:t>
            </a:r>
            <a:r>
              <a:rPr lang="en-US" altLang="zh-CN" sz="2000" dirty="0"/>
              <a:t>C</a:t>
            </a:r>
            <a:r>
              <a:rPr lang="zh-CN" altLang="en-US" sz="2000" dirty="0"/>
              <a:t>正确。故选</a:t>
            </a:r>
            <a:r>
              <a:rPr lang="en-US" altLang="zh-CN" sz="2000" dirty="0"/>
              <a:t>C</a:t>
            </a:r>
            <a:r>
              <a:rPr lang="zh-CN" altLang="en-US" sz="2000" dirty="0"/>
              <a:t>。</a:t>
            </a:r>
          </a:p>
          <a:p>
            <a:r>
              <a:rPr lang="en-US" altLang="zh-CN" sz="2000" dirty="0"/>
              <a:t>6</a:t>
            </a:r>
            <a:r>
              <a:rPr lang="zh-CN" altLang="en-US" sz="2000" dirty="0"/>
              <a:t>．冬季我国普遍处于低温的状态，江苏省</a:t>
            </a:r>
            <a:r>
              <a:rPr lang="en-US" altLang="zh-CN" sz="2000" dirty="0"/>
              <a:t>1</a:t>
            </a:r>
            <a:r>
              <a:rPr lang="zh-CN" altLang="en-US" sz="2000" dirty="0"/>
              <a:t>月等温线的分布受到纬度因素即太阳高度的影响比较显著，因此可知江苏省</a:t>
            </a:r>
            <a:r>
              <a:rPr lang="en-US" altLang="zh-CN" sz="2000" dirty="0"/>
              <a:t>1</a:t>
            </a:r>
            <a:r>
              <a:rPr lang="zh-CN" altLang="en-US" sz="2000" dirty="0"/>
              <a:t>月等温线的分布大致是与纬线平行的，即是东西走向的，可知</a:t>
            </a:r>
            <a:r>
              <a:rPr lang="en-US" altLang="zh-CN" sz="2000" dirty="0"/>
              <a:t>ABC</a:t>
            </a:r>
            <a:r>
              <a:rPr lang="zh-CN" altLang="en-US" sz="2000" dirty="0"/>
              <a:t>错误，</a:t>
            </a:r>
            <a:r>
              <a:rPr lang="en-US" altLang="zh-CN" sz="2000" dirty="0"/>
              <a:t>D</a:t>
            </a:r>
            <a:r>
              <a:rPr lang="zh-CN" altLang="en-US" sz="2000" dirty="0"/>
              <a:t>正确。故选</a:t>
            </a:r>
            <a:r>
              <a:rPr lang="en-US" altLang="zh-CN" sz="2000" dirty="0"/>
              <a:t>D</a:t>
            </a:r>
            <a:r>
              <a:rPr lang="zh-CN" altLang="en-US" sz="2000" dirty="0"/>
              <a:t>。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A66663-D7A9-4DAF-869D-032FB2FCE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570" y="692696"/>
            <a:ext cx="4407522" cy="32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3195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1709486-B72F-4E26-91F5-01F201D2963A}"/>
              </a:ext>
            </a:extLst>
          </p:cNvPr>
          <p:cNvSpPr/>
          <p:nvPr/>
        </p:nvSpPr>
        <p:spPr>
          <a:xfrm>
            <a:off x="79061" y="188640"/>
            <a:ext cx="1203507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(2019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年天津高考最后压轴卷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由于日出时间随纬度、经度及季节而变化，因此日最高、最低气温出现时间，在不同地点、不同季节也存在着差异。下图甲为我国某地某年日最高气温各月平均出现时间变化图，图乙为该地该年日最低气温月平均出现时间变化图，其中下图乙与该地多年平均情况更为相符。</a:t>
            </a:r>
            <a:r>
              <a:rPr lang="zh-CN" altLang="en-US" sz="2400" dirty="0"/>
              <a:t>读图完成</a:t>
            </a:r>
            <a:r>
              <a:rPr lang="en-US" altLang="zh-CN" sz="2400" dirty="0"/>
              <a:t>1</a:t>
            </a:r>
            <a:r>
              <a:rPr lang="zh-CN" altLang="en-US" sz="2400" dirty="0"/>
              <a:t>－</a:t>
            </a:r>
            <a:r>
              <a:rPr lang="en-US" altLang="zh-CN" sz="2400" dirty="0"/>
              <a:t>2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/>
              <a:t>1</a:t>
            </a:r>
            <a:r>
              <a:rPr lang="zh-CN" altLang="en-US" sz="2400" dirty="0"/>
              <a:t>．该地日最高、最低气温季节变化特征是</a:t>
            </a:r>
            <a:r>
              <a:rPr lang="en-US" altLang="zh-CN" sz="2400" dirty="0"/>
              <a:t>(</a:t>
            </a:r>
            <a:r>
              <a:rPr lang="zh-CN" altLang="en-US" sz="2400" dirty="0"/>
              <a:t>　　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．冬季日最低气温出现时间较早</a:t>
            </a:r>
          </a:p>
          <a:p>
            <a:r>
              <a:rPr lang="en-US" altLang="zh-CN" sz="2400" dirty="0"/>
              <a:t>B</a:t>
            </a:r>
            <a:r>
              <a:rPr lang="zh-CN" altLang="en-US" sz="2400" dirty="0"/>
              <a:t>．冬季日最高气温出现时间较晚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．夏季日最低气温出现时间较晚</a:t>
            </a:r>
          </a:p>
          <a:p>
            <a:r>
              <a:rPr lang="en-US" altLang="zh-CN" sz="2400" dirty="0"/>
              <a:t>D</a:t>
            </a:r>
            <a:r>
              <a:rPr lang="zh-CN" altLang="en-US" sz="2400" dirty="0"/>
              <a:t>．春季日最高气温出现时间较晚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6B3CB3-7C2D-425D-95C8-0516A47973A1}"/>
              </a:ext>
            </a:extLst>
          </p:cNvPr>
          <p:cNvSpPr/>
          <p:nvPr/>
        </p:nvSpPr>
        <p:spPr>
          <a:xfrm>
            <a:off x="79061" y="3501008"/>
            <a:ext cx="107291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2</a:t>
            </a:r>
            <a:r>
              <a:rPr lang="zh-CN" altLang="en-US" sz="2400" dirty="0"/>
              <a:t>．该地可能位于</a:t>
            </a:r>
            <a:r>
              <a:rPr lang="en-US" altLang="zh-CN" sz="2400" dirty="0"/>
              <a:t>(</a:t>
            </a:r>
            <a:r>
              <a:rPr lang="zh-CN" altLang="en-US" sz="2400" dirty="0"/>
              <a:t>　　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．海南省南部　　　</a:t>
            </a:r>
            <a:r>
              <a:rPr lang="en-US" altLang="zh-CN" sz="2400" dirty="0"/>
              <a:t>B</a:t>
            </a:r>
            <a:r>
              <a:rPr lang="zh-CN" altLang="en-US" sz="2400" dirty="0"/>
              <a:t>．河南省中部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．黑龙江省东部  	  </a:t>
            </a:r>
            <a:r>
              <a:rPr lang="en-US" altLang="zh-CN" sz="2400" dirty="0"/>
              <a:t>D</a:t>
            </a:r>
            <a:r>
              <a:rPr lang="zh-CN" altLang="en-US" sz="2400" dirty="0"/>
              <a:t>．新疆维吾尔自治区北部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46AB2F-075E-4CEB-9B72-983A53D80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269" y="1700808"/>
            <a:ext cx="4403029" cy="479049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3955B3E-D402-4372-94FD-FACCC6526140}"/>
              </a:ext>
            </a:extLst>
          </p:cNvPr>
          <p:cNvSpPr/>
          <p:nvPr/>
        </p:nvSpPr>
        <p:spPr>
          <a:xfrm>
            <a:off x="-24680" y="4725144"/>
            <a:ext cx="6888088" cy="16312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000" dirty="0"/>
              <a:t>解析：读图，该地春季</a:t>
            </a:r>
            <a:r>
              <a:rPr lang="en-US" altLang="zh-CN" sz="2000" dirty="0"/>
              <a:t>(3</a:t>
            </a:r>
            <a:r>
              <a:rPr lang="zh-CN" altLang="en-US" sz="2000" dirty="0"/>
              <a:t>－</a:t>
            </a:r>
            <a:r>
              <a:rPr lang="en-US" altLang="zh-CN" sz="2000" dirty="0"/>
              <a:t>5</a:t>
            </a:r>
            <a:r>
              <a:rPr lang="zh-CN" altLang="en-US" sz="2000" dirty="0"/>
              <a:t>月</a:t>
            </a:r>
            <a:r>
              <a:rPr lang="en-US" altLang="zh-CN" sz="2000" dirty="0"/>
              <a:t>)</a:t>
            </a:r>
            <a:r>
              <a:rPr lang="zh-CN" altLang="en-US" sz="2000" dirty="0"/>
              <a:t>日最高气温出现时间多在</a:t>
            </a:r>
            <a:r>
              <a:rPr lang="en-US" altLang="zh-CN" sz="2000" dirty="0"/>
              <a:t>15</a:t>
            </a:r>
            <a:r>
              <a:rPr lang="zh-CN" altLang="en-US" sz="2000" dirty="0"/>
              <a:t>时以后，出现时间晚，</a:t>
            </a:r>
            <a:r>
              <a:rPr lang="en-US" altLang="zh-CN" sz="2000" dirty="0"/>
              <a:t>D</a:t>
            </a:r>
            <a:r>
              <a:rPr lang="zh-CN" altLang="en-US" sz="2000" dirty="0"/>
              <a:t>项正确；冬季日最低气温出现在早上</a:t>
            </a:r>
            <a:r>
              <a:rPr lang="en-US" altLang="zh-CN" sz="2000" dirty="0"/>
              <a:t>6</a:t>
            </a:r>
            <a:r>
              <a:rPr lang="zh-CN" altLang="en-US" sz="2000" dirty="0"/>
              <a:t>点多，出现时间较晚，</a:t>
            </a:r>
            <a:r>
              <a:rPr lang="en-US" altLang="zh-CN" sz="2000" dirty="0"/>
              <a:t>A</a:t>
            </a:r>
            <a:r>
              <a:rPr lang="zh-CN" altLang="en-US" sz="2000" dirty="0"/>
              <a:t>项错误；冬季日最高气温出现时间大多在</a:t>
            </a:r>
            <a:r>
              <a:rPr lang="en-US" altLang="zh-CN" sz="2000" dirty="0"/>
              <a:t>14</a:t>
            </a:r>
            <a:r>
              <a:rPr lang="zh-CN" altLang="en-US" sz="2000" dirty="0"/>
              <a:t>时以后，出现时间较早，</a:t>
            </a:r>
            <a:r>
              <a:rPr lang="en-US" altLang="zh-CN" sz="2000" dirty="0"/>
              <a:t>B</a:t>
            </a:r>
            <a:r>
              <a:rPr lang="zh-CN" altLang="en-US" sz="2000" dirty="0"/>
              <a:t>项错误；夏季日最低气温出现时间在早上</a:t>
            </a:r>
            <a:r>
              <a:rPr lang="en-US" altLang="zh-CN" sz="2000" dirty="0"/>
              <a:t>5</a:t>
            </a:r>
            <a:r>
              <a:rPr lang="zh-CN" altLang="en-US" sz="2000" dirty="0"/>
              <a:t>点多，出现时间早，</a:t>
            </a:r>
            <a:r>
              <a:rPr lang="en-US" altLang="zh-CN" sz="2000" dirty="0"/>
              <a:t>C</a:t>
            </a:r>
            <a:r>
              <a:rPr lang="zh-CN" altLang="en-US" sz="2000" dirty="0"/>
              <a:t>项错误。故选</a:t>
            </a:r>
            <a:r>
              <a:rPr lang="en-US" altLang="zh-CN" sz="2000" dirty="0"/>
              <a:t>D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28111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1709486-B72F-4E26-91F5-01F201D2963A}"/>
              </a:ext>
            </a:extLst>
          </p:cNvPr>
          <p:cNvSpPr/>
          <p:nvPr/>
        </p:nvSpPr>
        <p:spPr>
          <a:xfrm>
            <a:off x="156928" y="588744"/>
            <a:ext cx="1203507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(2019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年天津高考最后压轴卷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由于日出时间随纬度、经度及季节而变化，因此日最高、最低气温出现时间，在不同地点、不同季节也存在着差异。下图甲为我国某地某年日最高气温各月平均出现时间变化图，图乙为该地该年日最低气温月平均出现时间变化图，其中下图乙与该地多年平均情况更为相符。</a:t>
            </a:r>
            <a:r>
              <a:rPr lang="zh-CN" altLang="en-US" sz="2400" dirty="0"/>
              <a:t>读图完成</a:t>
            </a:r>
            <a:r>
              <a:rPr lang="en-US" altLang="zh-CN" sz="2400" dirty="0"/>
              <a:t>1</a:t>
            </a:r>
            <a:r>
              <a:rPr lang="zh-CN" altLang="en-US" sz="2400" dirty="0"/>
              <a:t>－</a:t>
            </a:r>
            <a:r>
              <a:rPr lang="en-US" altLang="zh-CN" sz="2400" dirty="0"/>
              <a:t>2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/>
              <a:t>1</a:t>
            </a:r>
            <a:r>
              <a:rPr lang="zh-CN" altLang="en-US" sz="2400" dirty="0"/>
              <a:t>．该地日最高、最低气温季节变化特征是</a:t>
            </a:r>
            <a:r>
              <a:rPr lang="en-US" altLang="zh-CN" sz="2400" dirty="0"/>
              <a:t>(</a:t>
            </a:r>
            <a:r>
              <a:rPr lang="zh-CN" altLang="en-US" sz="2400" dirty="0"/>
              <a:t>　　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．冬季日最低气温出现时间较早</a:t>
            </a:r>
          </a:p>
          <a:p>
            <a:r>
              <a:rPr lang="en-US" altLang="zh-CN" sz="2400" dirty="0"/>
              <a:t>B</a:t>
            </a:r>
            <a:r>
              <a:rPr lang="zh-CN" altLang="en-US" sz="2400" dirty="0"/>
              <a:t>．冬季日最高气温出现时间较晚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．夏季日最低气温出现时间较晚</a:t>
            </a:r>
          </a:p>
          <a:p>
            <a:r>
              <a:rPr lang="en-US" altLang="zh-CN" sz="2400" dirty="0"/>
              <a:t>D</a:t>
            </a:r>
            <a:r>
              <a:rPr lang="zh-CN" altLang="en-US" sz="2400" dirty="0"/>
              <a:t>．春季日最高气温出现时间较晚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6B3CB3-7C2D-425D-95C8-0516A47973A1}"/>
              </a:ext>
            </a:extLst>
          </p:cNvPr>
          <p:cNvSpPr/>
          <p:nvPr/>
        </p:nvSpPr>
        <p:spPr>
          <a:xfrm>
            <a:off x="156928" y="3861048"/>
            <a:ext cx="107291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2</a:t>
            </a:r>
            <a:r>
              <a:rPr lang="zh-CN" altLang="en-US" sz="2400" dirty="0"/>
              <a:t>．该地可能位于</a:t>
            </a:r>
            <a:r>
              <a:rPr lang="en-US" altLang="zh-CN" sz="2400" dirty="0"/>
              <a:t>(</a:t>
            </a:r>
            <a:r>
              <a:rPr lang="zh-CN" altLang="en-US" sz="2400" dirty="0"/>
              <a:t>　　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．海南省南部　　　</a:t>
            </a:r>
            <a:r>
              <a:rPr lang="en-US" altLang="zh-CN" sz="2400" dirty="0"/>
              <a:t>B</a:t>
            </a:r>
            <a:r>
              <a:rPr lang="zh-CN" altLang="en-US" sz="2400" dirty="0"/>
              <a:t>．河南省中部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．黑龙江省东部  	  </a:t>
            </a:r>
            <a:r>
              <a:rPr lang="en-US" altLang="zh-CN" sz="2400" dirty="0"/>
              <a:t>D</a:t>
            </a:r>
            <a:r>
              <a:rPr lang="zh-CN" altLang="en-US" sz="2400" dirty="0"/>
              <a:t>．新疆维吾尔自治区北部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46AB2F-075E-4CEB-9B72-983A53D80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647" y="2060848"/>
            <a:ext cx="4403029" cy="479049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41F1EEE-7B99-4A43-AADE-3F914FB23A72}"/>
              </a:ext>
            </a:extLst>
          </p:cNvPr>
          <p:cNvSpPr/>
          <p:nvPr/>
        </p:nvSpPr>
        <p:spPr>
          <a:xfrm>
            <a:off x="32640" y="5018400"/>
            <a:ext cx="7614007" cy="193899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000" dirty="0"/>
              <a:t>解析：据所学知识可知，日最低气温多出现时间在日出前后。同时材料中强调乙图与该地多年平均情况更为相符，读乙图可知，该地春秋二分日的日出北京时间比较接近</a:t>
            </a:r>
            <a:r>
              <a:rPr lang="en-US" altLang="zh-CN" sz="2000" dirty="0"/>
              <a:t>6</a:t>
            </a:r>
            <a:r>
              <a:rPr lang="zh-CN" altLang="en-US" sz="2000" dirty="0"/>
              <a:t>时，由于日出时间随纬度、经度及季节不同，春秋二分日昼夜平分，地方时</a:t>
            </a:r>
            <a:r>
              <a:rPr lang="en-US" altLang="zh-CN" sz="2000" dirty="0"/>
              <a:t>6</a:t>
            </a:r>
            <a:r>
              <a:rPr lang="zh-CN" altLang="en-US" sz="2000" dirty="0"/>
              <a:t>时日出，说明该地与北京经纬度相差不大。结合选项可知，</a:t>
            </a:r>
            <a:r>
              <a:rPr lang="en-US" altLang="zh-CN" sz="2000" dirty="0"/>
              <a:t>B</a:t>
            </a:r>
            <a:r>
              <a:rPr lang="zh-CN" altLang="en-US" sz="2000" dirty="0"/>
              <a:t>项河南省中部最为可能。故选</a:t>
            </a:r>
            <a:r>
              <a:rPr lang="en-US" altLang="zh-CN" sz="2000" dirty="0"/>
              <a:t>B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2131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0052F5A-B08D-4EB4-A6EB-0887AD313077}"/>
              </a:ext>
            </a:extLst>
          </p:cNvPr>
          <p:cNvSpPr/>
          <p:nvPr/>
        </p:nvSpPr>
        <p:spPr>
          <a:xfrm>
            <a:off x="313642" y="546205"/>
            <a:ext cx="1166529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(2019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年浙江省宁波市选考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气温年较差是一年中最高月平均气温与最低月平均气温的差值，下图是美国气温年较差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单位：℃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分布图。</a:t>
            </a:r>
            <a:r>
              <a:rPr lang="zh-CN" altLang="en-US" sz="2400" dirty="0"/>
              <a:t>完成</a:t>
            </a:r>
            <a:r>
              <a:rPr lang="en-US" altLang="zh-CN" sz="2400" dirty="0"/>
              <a:t>3</a:t>
            </a:r>
            <a:r>
              <a:rPr lang="zh-CN" altLang="en-US" sz="2400" dirty="0"/>
              <a:t>－</a:t>
            </a:r>
            <a:r>
              <a:rPr lang="en-US" altLang="zh-CN" sz="2400" dirty="0"/>
              <a:t>4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．导致美国同纬度东西部气温年较差差异的主要因素是</a:t>
            </a:r>
            <a:r>
              <a:rPr lang="en-US" altLang="zh-CN" sz="2400" dirty="0"/>
              <a:t>(</a:t>
            </a:r>
            <a:r>
              <a:rPr lang="zh-CN" altLang="en-US" sz="2400" dirty="0"/>
              <a:t>　　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．大气环流  	</a:t>
            </a:r>
            <a:r>
              <a:rPr lang="en-US" altLang="zh-CN" sz="2400" dirty="0"/>
              <a:t>B</a:t>
            </a:r>
            <a:r>
              <a:rPr lang="zh-CN" altLang="en-US" sz="2400" dirty="0"/>
              <a:t>．地形   </a:t>
            </a:r>
            <a:r>
              <a:rPr lang="en-US" altLang="zh-CN" sz="2400" dirty="0"/>
              <a:t>C</a:t>
            </a:r>
            <a:r>
              <a:rPr lang="zh-CN" altLang="en-US" sz="2400" dirty="0"/>
              <a:t>．植被  	</a:t>
            </a:r>
            <a:r>
              <a:rPr lang="en-US" altLang="zh-CN" sz="2400" dirty="0"/>
              <a:t>D</a:t>
            </a:r>
            <a:r>
              <a:rPr lang="zh-CN" altLang="en-US" sz="2400" dirty="0"/>
              <a:t>．洋流</a:t>
            </a:r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．由图中数据可推测，美国</a:t>
            </a:r>
            <a:r>
              <a:rPr lang="en-US" altLang="zh-CN" sz="2400" dirty="0"/>
              <a:t>(</a:t>
            </a:r>
            <a:r>
              <a:rPr lang="zh-CN" altLang="en-US" sz="2400" dirty="0"/>
              <a:t>　　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．太平洋沿岸地区气候海洋性强于大西洋沿岸</a:t>
            </a:r>
          </a:p>
          <a:p>
            <a:r>
              <a:rPr lang="en-US" altLang="zh-CN" sz="2400" dirty="0"/>
              <a:t>B</a:t>
            </a:r>
            <a:r>
              <a:rPr lang="zh-CN" altLang="en-US" sz="2400" dirty="0"/>
              <a:t>．大西洋沿岸地区河流的结冰期长于内陆地区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．太平洋沿岸地区降水量少于大西洋沿岸地区</a:t>
            </a:r>
          </a:p>
          <a:p>
            <a:r>
              <a:rPr lang="en-US" altLang="zh-CN" sz="2400" dirty="0"/>
              <a:t>D</a:t>
            </a:r>
            <a:r>
              <a:rPr lang="zh-CN" altLang="en-US" sz="2400" dirty="0"/>
              <a:t>．大西洋沿岸地区的森林覆盖率小于内陆地区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9B45AD-481B-4327-B64A-DB74F37D9DF2}"/>
              </a:ext>
            </a:extLst>
          </p:cNvPr>
          <p:cNvSpPr/>
          <p:nvPr/>
        </p:nvSpPr>
        <p:spPr>
          <a:xfrm>
            <a:off x="192932" y="4705718"/>
            <a:ext cx="11809312" cy="132343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000" dirty="0"/>
              <a:t>解析：读图可知，美国西部地区气温年较差较同纬度东部小，是由于西部地区冬季受西风影响，气温较高，而东部受海陆热力性质差异影响，冬季受来自北冰洋地区的寒冷气流影响，降温幅度大，气温较低，进而导致气温年较差较大，影响因素为大气环流，故选</a:t>
            </a:r>
            <a:r>
              <a:rPr lang="en-US" altLang="zh-CN" sz="2000" dirty="0"/>
              <a:t>A</a:t>
            </a:r>
            <a:r>
              <a:rPr lang="zh-CN" altLang="en-US" sz="2000" dirty="0"/>
              <a:t>。</a:t>
            </a:r>
          </a:p>
          <a:p>
            <a:r>
              <a:rPr lang="zh-CN" altLang="en-US" sz="2000" dirty="0"/>
              <a:t>答案：</a:t>
            </a:r>
            <a:r>
              <a:rPr lang="en-US" altLang="zh-CN" sz="2000" dirty="0"/>
              <a:t>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709DCD-888E-4E69-AF0C-2D44079C3E8E}"/>
              </a:ext>
            </a:extLst>
          </p:cNvPr>
          <p:cNvSpPr/>
          <p:nvPr/>
        </p:nvSpPr>
        <p:spPr>
          <a:xfrm>
            <a:off x="192914" y="6125234"/>
            <a:ext cx="11305256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000" dirty="0"/>
              <a:t>解析：读图，结合上题分析，太平洋沿岸地区气温年较差小于大西洋沿岸地区，海洋性较强，故选</a:t>
            </a:r>
            <a:r>
              <a:rPr lang="en-US" altLang="zh-CN" sz="2000" dirty="0"/>
              <a:t>A</a:t>
            </a:r>
            <a:r>
              <a:rPr lang="zh-CN" altLang="en-US" sz="2000" dirty="0"/>
              <a:t>。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B133222-97EE-48F1-AF6D-07B8E0378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862" y="1700808"/>
            <a:ext cx="4626131" cy="286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157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47531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目标升华</a:t>
            </a:r>
            <a:r>
              <a:rPr lang="en-US" altLang="zh-CN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从考点谈复习建议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MINGTITANJIU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D75875-EA8F-455B-AD70-FC433BACFE53}"/>
              </a:ext>
            </a:extLst>
          </p:cNvPr>
          <p:cNvSpPr txBox="1"/>
          <p:nvPr/>
        </p:nvSpPr>
        <p:spPr>
          <a:xfrm>
            <a:off x="397479" y="1244027"/>
            <a:ext cx="11459161" cy="3007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复习建议：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能图解大气的受热过程的各主要环节，掌握大气的两大作用在生产生活中的应用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能结合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气温统计图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等温线图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中分析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影响气温高低的因素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能在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具体情景中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分析气温对地理环境能产生哪些影响。</a:t>
            </a:r>
          </a:p>
        </p:txBody>
      </p:sp>
    </p:spTree>
    <p:extLst>
      <p:ext uri="{BB962C8B-B14F-4D97-AF65-F5344CB8AC3E}">
        <p14:creationId xmlns:p14="http://schemas.microsoft.com/office/powerpoint/2010/main" val="849236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683EDD9A-72BD-48C3-8F59-21C467D06FFD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B0CA34A9-0EDD-4293-B040-DB95A2B67C68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A8DB11F6-F12C-451B-A5B5-98876FF4C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3457048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Impact" panose="020B0806030902050204" pitchFamily="34" charset="0"/>
                <a:cs typeface="宋体" panose="02010600030101010101" pitchFamily="2" charset="-122"/>
              </a:rPr>
              <a:t>强化补清</a:t>
            </a: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DB8049B0-2241-4BCC-873B-CBA0F66D7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QIANGHUABUQIN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C20EDD-EC0D-4FE5-8596-262941F45CD9}"/>
              </a:ext>
            </a:extLst>
          </p:cNvPr>
          <p:cNvSpPr txBox="1"/>
          <p:nvPr/>
        </p:nvSpPr>
        <p:spPr>
          <a:xfrm>
            <a:off x="1899979" y="2893808"/>
            <a:ext cx="8392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预习下一节内容，完成课堂配套练习和自学稿</a:t>
            </a:r>
          </a:p>
        </p:txBody>
      </p:sp>
    </p:spTree>
    <p:extLst>
      <p:ext uri="{BB962C8B-B14F-4D97-AF65-F5344CB8AC3E}">
        <p14:creationId xmlns:p14="http://schemas.microsoft.com/office/powerpoint/2010/main" val="2716713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3_Office 主题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anchor="ctr"/>
      <a:lstStyle>
        <a:defPPr algn="ctr" fontAlgn="auto">
          <a:spcBef>
            <a:spcPts val="0"/>
          </a:spcBef>
          <a:spcAft>
            <a:spcPts val="0"/>
          </a:spcAft>
          <a:buFontTx/>
          <a:buNone/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</a:ln>
      </a:spPr>
      <a:bodyPr>
        <a:spAutoFit/>
      </a:bodyPr>
      <a:lstStyle>
        <a:defPPr>
          <a:lnSpc>
            <a:spcPct val="140000"/>
          </a:lnSpc>
          <a:spcAft>
            <a:spcPts val="0"/>
          </a:spcAft>
          <a:defRPr sz="2800" b="1" kern="100" dirty="0">
            <a:solidFill>
              <a:srgbClr val="C00000"/>
            </a:solidFill>
            <a:latin typeface="Times New Roman" panose="02020603050405020304"/>
            <a:ea typeface="华文细黑" panose="02010600040101010101"/>
            <a:cs typeface="Times New Roman" panose="02020603050405020304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12895</TotalTime>
  <Words>4325</Words>
  <Application>Microsoft Office PowerPoint</Application>
  <PresentationFormat>宽屏</PresentationFormat>
  <Paragraphs>414</Paragraphs>
  <Slides>38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60" baseType="lpstr">
      <vt:lpstr>黑体</vt:lpstr>
      <vt:lpstr>华康俪金黑W8(P)</vt:lpstr>
      <vt:lpstr>华文行楷</vt:lpstr>
      <vt:lpstr>华文细黑</vt:lpstr>
      <vt:lpstr>楷体</vt:lpstr>
      <vt:lpstr>楷体_GB2312</vt:lpstr>
      <vt:lpstr>锐字锐线怒放黑简1.0</vt:lpstr>
      <vt:lpstr>锐字云字库中长宋体1.0</vt:lpstr>
      <vt:lpstr>宋体</vt:lpstr>
      <vt:lpstr>微软雅黑</vt:lpstr>
      <vt:lpstr>Arial</vt:lpstr>
      <vt:lpstr>Arial Black</vt:lpstr>
      <vt:lpstr>Calibri</vt:lpstr>
      <vt:lpstr>Courier New</vt:lpstr>
      <vt:lpstr>Franklin Gothic Book</vt:lpstr>
      <vt:lpstr>Franklin Gothic Medium</vt:lpstr>
      <vt:lpstr>Impact</vt:lpstr>
      <vt:lpstr>Times New Roman</vt:lpstr>
      <vt:lpstr>Verdana</vt:lpstr>
      <vt:lpstr>3_Office 主题</vt:lpstr>
      <vt:lpstr>6_Office 主题</vt:lpstr>
      <vt:lpstr>6_Office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程辰</dc:creator>
  <cp:lastModifiedBy>seewo</cp:lastModifiedBy>
  <cp:revision>1070</cp:revision>
  <dcterms:created xsi:type="dcterms:W3CDTF">2015-01-30T02:19:57Z</dcterms:created>
  <dcterms:modified xsi:type="dcterms:W3CDTF">2020-09-11T06:22:02Z</dcterms:modified>
</cp:coreProperties>
</file>
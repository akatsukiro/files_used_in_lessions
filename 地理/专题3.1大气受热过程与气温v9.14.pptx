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36"/>
  </p:notesMasterIdLst>
  <p:sldIdLst>
    <p:sldId id="1573" r:id="rId3"/>
    <p:sldId id="1592" r:id="rId4"/>
    <p:sldId id="1593" r:id="rId5"/>
    <p:sldId id="1574" r:id="rId6"/>
    <p:sldId id="1457" r:id="rId7"/>
    <p:sldId id="1456" r:id="rId8"/>
    <p:sldId id="1596" r:id="rId9"/>
    <p:sldId id="1599" r:id="rId10"/>
    <p:sldId id="1600" r:id="rId11"/>
    <p:sldId id="1602" r:id="rId12"/>
    <p:sldId id="1568" r:id="rId13"/>
    <p:sldId id="1594" r:id="rId14"/>
    <p:sldId id="1584" r:id="rId15"/>
    <p:sldId id="1605" r:id="rId16"/>
    <p:sldId id="1492" r:id="rId17"/>
    <p:sldId id="1608" r:id="rId18"/>
    <p:sldId id="1541" r:id="rId19"/>
    <p:sldId id="1545" r:id="rId20"/>
    <p:sldId id="1546" r:id="rId21"/>
    <p:sldId id="1547" r:id="rId22"/>
    <p:sldId id="1494" r:id="rId23"/>
    <p:sldId id="1560" r:id="rId24"/>
    <p:sldId id="1606" r:id="rId25"/>
    <p:sldId id="1559" r:id="rId26"/>
    <p:sldId id="1552" r:id="rId27"/>
    <p:sldId id="1582" r:id="rId28"/>
    <p:sldId id="1595" r:id="rId29"/>
    <p:sldId id="1587" r:id="rId30"/>
    <p:sldId id="1607" r:id="rId31"/>
    <p:sldId id="1579" r:id="rId32"/>
    <p:sldId id="1543" r:id="rId33"/>
    <p:sldId id="1542" r:id="rId34"/>
    <p:sldId id="1532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9646"/>
    <a:srgbClr val="99FF66"/>
    <a:srgbClr val="E301D1"/>
    <a:srgbClr val="E56276"/>
    <a:srgbClr val="00FFFF"/>
    <a:srgbClr val="CFE0EA"/>
    <a:srgbClr val="CFE8ED"/>
    <a:srgbClr val="211E16"/>
    <a:srgbClr val="0F0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39" autoAdjust="0"/>
    <p:restoredTop sz="83392" autoAdjust="0"/>
  </p:normalViewPr>
  <p:slideViewPr>
    <p:cSldViewPr>
      <p:cViewPr varScale="1">
        <p:scale>
          <a:sx n="88" d="100"/>
          <a:sy n="88" d="100"/>
        </p:scale>
        <p:origin x="378" y="68"/>
      </p:cViewPr>
      <p:guideLst>
        <p:guide orient="horz" pos="2160"/>
        <p:guide pos="384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18841-1CE2-4F6C-86A6-E301FF001514}" type="datetimeFigureOut">
              <a:rPr lang="zh-CN" altLang="en-US" smtClean="0"/>
              <a:t>2020/9/14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714A-FF30-45AE-8878-FFB1DFF36D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13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26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28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30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9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F3AC0-D1D8-4280-9828-90CF6DB133A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2020/9/14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8B2CA-E6C2-4FFE-A579-BFA6CF67629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思考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判断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98744" y="856388"/>
            <a:ext cx="473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 panose="02020603050405020304"/>
                <a:ea typeface="华文细黑" panose="02010600040101010101" charset="-122"/>
                <a:cs typeface="Times New Roman" panose="02020603050405020304"/>
              </a:rPr>
              <a:t>见题知本　溯源归法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242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方法技巧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 userDrawn="1"/>
        </p:nvSpPr>
        <p:spPr>
          <a:xfrm>
            <a:off x="863988" y="843325"/>
            <a:ext cx="27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拓展延伸</a:t>
            </a: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1AF46-34F2-4B1D-9CD6-BF1F482544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3175" y="4507200"/>
            <a:ext cx="12192000" cy="2350800"/>
          </a:xfrm>
          <a:prstGeom prst="rect">
            <a:avLst/>
          </a:prstGeom>
          <a:solidFill>
            <a:srgbClr val="5B9BD5">
              <a:lumMod val="40000"/>
              <a:lumOff val="60000"/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3175" y="4147200"/>
            <a:ext cx="12192000" cy="2710800"/>
          </a:xfrm>
          <a:prstGeom prst="rect">
            <a:avLst/>
          </a:prstGeom>
          <a:solidFill>
            <a:srgbClr val="5B9BD5">
              <a:lumMod val="40000"/>
              <a:lumOff val="60000"/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076A-7921-4180-AC92-C93799EE296F}" type="datetimeFigureOut">
              <a:rPr lang="zh-CN" altLang="en-US" smtClean="0"/>
              <a:t>2020/9/14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AEFF-6EBF-424D-A4E1-975565762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41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41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41" y="63563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fld id="{5EBCFF31-69BD-4239-9B79-7008355E0D8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2020/9/14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7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2EB0456-1C95-47C4-8B25-10EE7234708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txStyles>
    <p:titleStyle>
      <a:lvl1pPr algn="ctr" defTabSz="1217295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4572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6pPr>
      <a:lvl7pPr marL="9144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7pPr>
      <a:lvl8pPr marL="13716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8pPr>
      <a:lvl9pPr marL="18288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455930" indent="-4559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9330" indent="-3797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27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3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9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13492" y="884131"/>
            <a:ext cx="11176812" cy="621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大气的主要成分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75768" y="1661568"/>
          <a:ext cx="10560792" cy="5151808"/>
        </p:xfrm>
        <a:graphic>
          <a:graphicData uri="http://schemas.openxmlformats.org/drawingml/2006/table">
            <a:tbl>
              <a:tblPr/>
              <a:tblGrid>
                <a:gridCol w="1012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9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9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主要成分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主要作用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976"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干洁空气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氮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生物体内蛋白质的重要组成部分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氧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人类和一切生物维持生命活动必需的物质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二氧化碳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绿色植物进行光合作用的原料；对地面起保温作用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臭氧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吸收紫外线，被誉为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地球生命的保护伞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”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稀有气体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97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水汽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成云致雨的必要条件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97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固体杂质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1982" y="903988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垂直分层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13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  <p:pic>
        <p:nvPicPr>
          <p:cNvPr id="14" name="Picture 2" descr="R21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" y="1863109"/>
            <a:ext cx="6081891" cy="3620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960" y="1988840"/>
            <a:ext cx="5975040" cy="3658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23393" y="762352"/>
          <a:ext cx="10945214" cy="4754880"/>
        </p:xfrm>
        <a:graphic>
          <a:graphicData uri="http://schemas.openxmlformats.org/drawingml/2006/table">
            <a:tbl>
              <a:tblPr/>
              <a:tblGrid>
                <a:gridCol w="1420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57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分层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气温垂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直变化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大气运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动状况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与人类的关系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对流层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随高度增加而降低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对流运动显著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天气现象复杂多变，与人类关系最密切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平流层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随高度增加而升高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水平运动为主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有利于高空飞行，臭氧层为地球生命的保护伞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大气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 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 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80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500 km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有若干电离层，对无线电通信有重要作用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1982" y="903988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垂直分层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19788" y="5263974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基本物理性质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2670" y="5965045"/>
            <a:ext cx="74641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气温、气压、风、湿度（降水）</a:t>
            </a:r>
            <a:endParaRPr lang="zh-CN" altLang="en-US" sz="2400" dirty="0"/>
          </a:p>
        </p:txBody>
      </p:sp>
      <p:sp>
        <p:nvSpPr>
          <p:cNvPr id="10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13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  <p:pic>
        <p:nvPicPr>
          <p:cNvPr id="14" name="Picture 2" descr="R21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77" y="1534011"/>
            <a:ext cx="6628221" cy="385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4058" y="2420910"/>
            <a:ext cx="12187942" cy="1667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36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Tx/>
            </a:pP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专题</a:t>
            </a:r>
            <a:r>
              <a:rPr lang="en-US" altLang="zh-CN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3.1  </a:t>
            </a: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大气受热过程与气温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321944" y="4365104"/>
            <a:ext cx="7548111" cy="114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44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高三地理组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ts val="44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程辰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37219" y="5771973"/>
            <a:ext cx="2317559" cy="566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58" y="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地理一轮</a:t>
            </a:r>
            <a:r>
              <a:rPr lang="zh-CN" altLang="en-US" sz="2400" dirty="0"/>
              <a:t>复习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/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/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/>
          <p:cNvSpPr>
            <a:spLocks noChangeArrowheads="1"/>
          </p:cNvSpPr>
          <p:nvPr/>
        </p:nvSpPr>
        <p:spPr bwMode="auto">
          <a:xfrm>
            <a:off x="982768" y="220113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目标引领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/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MUBIAOYINLING</a:t>
            </a:r>
          </a:p>
        </p:txBody>
      </p:sp>
      <p:sp>
        <p:nvSpPr>
          <p:cNvPr id="7" name="矩形 6"/>
          <p:cNvSpPr/>
          <p:nvPr/>
        </p:nvSpPr>
        <p:spPr>
          <a:xfrm>
            <a:off x="612646" y="1628800"/>
            <a:ext cx="10966708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1.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综合思维：联系大气受热过程示意图及其原理，从要素综合的角度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昼夜温差大小、太阳辐射量大小及气温高低等地理事象的要素。</a:t>
            </a:r>
            <a:endParaRPr lang="zh-CN" altLang="zh-CN" sz="26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2.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人地协调观：结合大气受热过程在实际生活中的应用，能简单辨识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人们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生产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活动和生活习惯与地理环境之间的联系，理解人类对地理环境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施加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的方式及其带来的影响。</a:t>
            </a:r>
            <a:endParaRPr lang="zh-CN" altLang="zh-CN" sz="2600" kern="100" dirty="0">
              <a:solidFill>
                <a:prstClr val="black"/>
              </a:solidFill>
              <a:latin typeface="宋体" panose="02010600030101010101" pitchFamily="2" charset="-122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 bwMode="auto">
          <a:xfrm>
            <a:off x="8631785" y="2303241"/>
            <a:ext cx="2057400" cy="3078163"/>
            <a:chOff x="0" y="0"/>
            <a:chExt cx="1296" cy="1938"/>
          </a:xfrm>
        </p:grpSpPr>
        <p:grpSp>
          <p:nvGrpSpPr>
            <p:cNvPr id="6" name="Group 3"/>
            <p:cNvGrpSpPr/>
            <p:nvPr/>
          </p:nvGrpSpPr>
          <p:grpSpPr bwMode="auto">
            <a:xfrm>
              <a:off x="0" y="0"/>
              <a:ext cx="1296" cy="1920"/>
              <a:chOff x="0" y="0"/>
              <a:chExt cx="1296" cy="1920"/>
            </a:xfrm>
          </p:grpSpPr>
          <p:sp>
            <p:nvSpPr>
              <p:cNvPr id="9" name="AutoShape 4"/>
              <p:cNvSpPr>
                <a:spLocks noChangeArrowheads="1"/>
              </p:cNvSpPr>
              <p:nvPr/>
            </p:nvSpPr>
            <p:spPr bwMode="auto">
              <a:xfrm rot="434151">
                <a:off x="0" y="624"/>
                <a:ext cx="624" cy="769"/>
              </a:xfrm>
              <a:prstGeom prst="leftArrow">
                <a:avLst>
                  <a:gd name="adj1" fmla="val 50000"/>
                  <a:gd name="adj2" fmla="val 25000"/>
                </a:avLst>
              </a:prstGeom>
              <a:solidFill>
                <a:srgbClr val="FF9900"/>
              </a:solidFill>
              <a:ln w="9525" cmpd="sng">
                <a:solidFill>
                  <a:srgbClr val="FF99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utoShape 5"/>
              <p:cNvSpPr>
                <a:spLocks noChangeArrowheads="1"/>
              </p:cNvSpPr>
              <p:nvPr/>
            </p:nvSpPr>
            <p:spPr bwMode="auto">
              <a:xfrm rot="21298094">
                <a:off x="768" y="0"/>
                <a:ext cx="96" cy="864"/>
              </a:xfrm>
              <a:prstGeom prst="upArrow">
                <a:avLst>
                  <a:gd name="adj1" fmla="val 50000"/>
                  <a:gd name="adj2" fmla="val 225000"/>
                </a:avLst>
              </a:prstGeom>
              <a:solidFill>
                <a:srgbClr val="FF9900"/>
              </a:solidFill>
              <a:ln w="9525" cmpd="sng">
                <a:solidFill>
                  <a:srgbClr val="FF99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6"/>
              <p:cNvGrpSpPr/>
              <p:nvPr/>
            </p:nvGrpSpPr>
            <p:grpSpPr bwMode="auto">
              <a:xfrm>
                <a:off x="576" y="864"/>
                <a:ext cx="720" cy="1056"/>
                <a:chOff x="0" y="0"/>
                <a:chExt cx="720" cy="1056"/>
              </a:xfrm>
            </p:grpSpPr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0" y="383"/>
                  <a:ext cx="288" cy="673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Line 8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192" cy="0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Line 9"/>
                <p:cNvSpPr>
                  <a:spLocks noChangeShapeType="1"/>
                </p:cNvSpPr>
                <p:nvPr/>
              </p:nvSpPr>
              <p:spPr bwMode="auto">
                <a:xfrm>
                  <a:off x="288" y="0"/>
                  <a:ext cx="432" cy="1056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48" cy="336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Line 11"/>
                <p:cNvSpPr>
                  <a:spLocks noChangeShapeType="1"/>
                </p:cNvSpPr>
                <p:nvPr/>
              </p:nvSpPr>
              <p:spPr bwMode="auto">
                <a:xfrm>
                  <a:off x="288" y="1054"/>
                  <a:ext cx="432" cy="0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480" y="1200"/>
              <a:ext cx="288" cy="720"/>
            </a:xfrm>
            <a:prstGeom prst="line">
              <a:avLst/>
            </a:prstGeom>
            <a:noFill/>
            <a:ln w="9525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8" name="未知"/>
            <p:cNvSpPr/>
            <p:nvPr/>
          </p:nvSpPr>
          <p:spPr bwMode="auto">
            <a:xfrm>
              <a:off x="504" y="841"/>
              <a:ext cx="792" cy="1097"/>
            </a:xfrm>
            <a:custGeom>
              <a:avLst/>
              <a:gdLst>
                <a:gd name="T0" fmla="*/ 792 w 792"/>
                <a:gd name="T1" fmla="*/ 1055 h 1097"/>
                <a:gd name="T2" fmla="*/ 708 w 792"/>
                <a:gd name="T3" fmla="*/ 815 h 1097"/>
                <a:gd name="T4" fmla="*/ 648 w 792"/>
                <a:gd name="T5" fmla="*/ 683 h 1097"/>
                <a:gd name="T6" fmla="*/ 600 w 792"/>
                <a:gd name="T7" fmla="*/ 587 h 1097"/>
                <a:gd name="T8" fmla="*/ 552 w 792"/>
                <a:gd name="T9" fmla="*/ 503 h 1097"/>
                <a:gd name="T10" fmla="*/ 504 w 792"/>
                <a:gd name="T11" fmla="*/ 359 h 1097"/>
                <a:gd name="T12" fmla="*/ 456 w 792"/>
                <a:gd name="T13" fmla="*/ 275 h 1097"/>
                <a:gd name="T14" fmla="*/ 408 w 792"/>
                <a:gd name="T15" fmla="*/ 179 h 1097"/>
                <a:gd name="T16" fmla="*/ 360 w 792"/>
                <a:gd name="T17" fmla="*/ 35 h 1097"/>
                <a:gd name="T18" fmla="*/ 180 w 792"/>
                <a:gd name="T19" fmla="*/ 23 h 1097"/>
                <a:gd name="T20" fmla="*/ 60 w 792"/>
                <a:gd name="T21" fmla="*/ 275 h 1097"/>
                <a:gd name="T22" fmla="*/ 0 w 792"/>
                <a:gd name="T23" fmla="*/ 383 h 1097"/>
                <a:gd name="T24" fmla="*/ 84 w 792"/>
                <a:gd name="T25" fmla="*/ 587 h 1097"/>
                <a:gd name="T26" fmla="*/ 108 w 792"/>
                <a:gd name="T27" fmla="*/ 707 h 1097"/>
                <a:gd name="T28" fmla="*/ 168 w 792"/>
                <a:gd name="T29" fmla="*/ 851 h 1097"/>
                <a:gd name="T30" fmla="*/ 204 w 792"/>
                <a:gd name="T31" fmla="*/ 935 h 1097"/>
                <a:gd name="T32" fmla="*/ 240 w 792"/>
                <a:gd name="T33" fmla="*/ 1043 h 1097"/>
                <a:gd name="T34" fmla="*/ 252 w 792"/>
                <a:gd name="T35" fmla="*/ 1079 h 1097"/>
                <a:gd name="T36" fmla="*/ 360 w 792"/>
                <a:gd name="T37" fmla="*/ 1091 h 1097"/>
                <a:gd name="T38" fmla="*/ 612 w 792"/>
                <a:gd name="T39" fmla="*/ 1067 h 1097"/>
                <a:gd name="T40" fmla="*/ 708 w 792"/>
                <a:gd name="T41" fmla="*/ 1079 h 1097"/>
                <a:gd name="T42" fmla="*/ 768 w 792"/>
                <a:gd name="T43" fmla="*/ 1091 h 1097"/>
                <a:gd name="T44" fmla="*/ 792 w 792"/>
                <a:gd name="T45" fmla="*/ 1055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92" h="1097">
                  <a:moveTo>
                    <a:pt x="792" y="1055"/>
                  </a:moveTo>
                  <a:cubicBezTo>
                    <a:pt x="767" y="979"/>
                    <a:pt x="744" y="886"/>
                    <a:pt x="708" y="815"/>
                  </a:cubicBezTo>
                  <a:cubicBezTo>
                    <a:pt x="684" y="767"/>
                    <a:pt x="678" y="728"/>
                    <a:pt x="648" y="683"/>
                  </a:cubicBezTo>
                  <a:cubicBezTo>
                    <a:pt x="586" y="590"/>
                    <a:pt x="672" y="719"/>
                    <a:pt x="600" y="587"/>
                  </a:cubicBezTo>
                  <a:cubicBezTo>
                    <a:pt x="595" y="573"/>
                    <a:pt x="558" y="516"/>
                    <a:pt x="552" y="503"/>
                  </a:cubicBezTo>
                  <a:cubicBezTo>
                    <a:pt x="535" y="465"/>
                    <a:pt x="528" y="395"/>
                    <a:pt x="504" y="359"/>
                  </a:cubicBezTo>
                  <a:cubicBezTo>
                    <a:pt x="488" y="335"/>
                    <a:pt x="472" y="299"/>
                    <a:pt x="456" y="275"/>
                  </a:cubicBezTo>
                  <a:cubicBezTo>
                    <a:pt x="434" y="242"/>
                    <a:pt x="430" y="212"/>
                    <a:pt x="408" y="179"/>
                  </a:cubicBezTo>
                  <a:cubicBezTo>
                    <a:pt x="396" y="129"/>
                    <a:pt x="383" y="81"/>
                    <a:pt x="360" y="35"/>
                  </a:cubicBezTo>
                  <a:cubicBezTo>
                    <a:pt x="254" y="0"/>
                    <a:pt x="313" y="8"/>
                    <a:pt x="180" y="23"/>
                  </a:cubicBezTo>
                  <a:cubicBezTo>
                    <a:pt x="103" y="74"/>
                    <a:pt x="88" y="191"/>
                    <a:pt x="60" y="275"/>
                  </a:cubicBezTo>
                  <a:cubicBezTo>
                    <a:pt x="47" y="314"/>
                    <a:pt x="13" y="344"/>
                    <a:pt x="0" y="383"/>
                  </a:cubicBezTo>
                  <a:cubicBezTo>
                    <a:pt x="21" y="468"/>
                    <a:pt x="48" y="515"/>
                    <a:pt x="84" y="587"/>
                  </a:cubicBezTo>
                  <a:cubicBezTo>
                    <a:pt x="88" y="602"/>
                    <a:pt x="99" y="690"/>
                    <a:pt x="108" y="707"/>
                  </a:cubicBezTo>
                  <a:cubicBezTo>
                    <a:pt x="138" y="766"/>
                    <a:pt x="120" y="731"/>
                    <a:pt x="168" y="851"/>
                  </a:cubicBezTo>
                  <a:cubicBezTo>
                    <a:pt x="174" y="864"/>
                    <a:pt x="198" y="922"/>
                    <a:pt x="204" y="935"/>
                  </a:cubicBezTo>
                  <a:cubicBezTo>
                    <a:pt x="204" y="935"/>
                    <a:pt x="234" y="1025"/>
                    <a:pt x="240" y="1043"/>
                  </a:cubicBezTo>
                  <a:cubicBezTo>
                    <a:pt x="244" y="1055"/>
                    <a:pt x="239" y="1078"/>
                    <a:pt x="252" y="1079"/>
                  </a:cubicBezTo>
                  <a:cubicBezTo>
                    <a:pt x="288" y="1083"/>
                    <a:pt x="324" y="1087"/>
                    <a:pt x="360" y="1091"/>
                  </a:cubicBezTo>
                  <a:cubicBezTo>
                    <a:pt x="414" y="1085"/>
                    <a:pt x="567" y="1067"/>
                    <a:pt x="612" y="1067"/>
                  </a:cubicBezTo>
                  <a:cubicBezTo>
                    <a:pt x="644" y="1067"/>
                    <a:pt x="676" y="1074"/>
                    <a:pt x="708" y="1079"/>
                  </a:cubicBezTo>
                  <a:cubicBezTo>
                    <a:pt x="728" y="1082"/>
                    <a:pt x="748" y="1097"/>
                    <a:pt x="768" y="1091"/>
                  </a:cubicBezTo>
                  <a:cubicBezTo>
                    <a:pt x="782" y="1087"/>
                    <a:pt x="784" y="1067"/>
                    <a:pt x="792" y="1055"/>
                  </a:cubicBezTo>
                  <a:close/>
                </a:path>
              </a:pathLst>
            </a:custGeom>
            <a:solidFill>
              <a:srgbClr val="FF9900"/>
            </a:solidFill>
            <a:ln w="9525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4"/>
          <p:cNvGrpSpPr/>
          <p:nvPr/>
        </p:nvGrpSpPr>
        <p:grpSpPr bwMode="auto">
          <a:xfrm>
            <a:off x="2686859" y="484013"/>
            <a:ext cx="8886825" cy="6329363"/>
            <a:chOff x="162" y="-3"/>
            <a:chExt cx="5598" cy="3987"/>
          </a:xfrm>
        </p:grpSpPr>
        <p:sp>
          <p:nvSpPr>
            <p:cNvPr id="18" name="AutoShape 15"/>
            <p:cNvSpPr>
              <a:spLocks noChangeArrowheads="1"/>
            </p:cNvSpPr>
            <p:nvPr/>
          </p:nvSpPr>
          <p:spPr bwMode="auto">
            <a:xfrm>
              <a:off x="759" y="-3"/>
              <a:ext cx="432" cy="432"/>
            </a:xfrm>
            <a:prstGeom prst="star16">
              <a:avLst>
                <a:gd name="adj" fmla="val 37500"/>
              </a:avLst>
            </a:prstGeom>
            <a:solidFill>
              <a:srgbClr val="FF3300"/>
            </a:solidFill>
            <a:ln w="9525" cmpd="sng">
              <a:solidFill>
                <a:srgbClr val="FFFF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V="1">
              <a:off x="162" y="3076"/>
              <a:ext cx="5598" cy="0"/>
            </a:xfrm>
            <a:prstGeom prst="line">
              <a:avLst/>
            </a:prstGeom>
            <a:noFill/>
            <a:ln w="38100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7" descr="宽上对角线"/>
            <p:cNvSpPr>
              <a:spLocks noChangeArrowheads="1"/>
            </p:cNvSpPr>
            <p:nvPr/>
          </p:nvSpPr>
          <p:spPr bwMode="auto">
            <a:xfrm>
              <a:off x="162" y="3072"/>
              <a:ext cx="5598" cy="288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19050" cmpd="sng">
              <a:solidFill>
                <a:srgbClr val="FF99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62" y="1572"/>
              <a:ext cx="5598" cy="12"/>
            </a:xfrm>
            <a:prstGeom prst="line">
              <a:avLst/>
            </a:prstGeom>
            <a:noFill/>
            <a:ln w="38100" cmpd="sng">
              <a:solidFill>
                <a:schemeClr val="folHlink"/>
              </a:solidFill>
              <a:prstDash val="lgDash"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162" y="3360"/>
              <a:ext cx="5598" cy="624"/>
            </a:xfrm>
            <a:prstGeom prst="rect">
              <a:avLst/>
            </a:prstGeom>
            <a:solidFill>
              <a:srgbClr val="FFCB7F"/>
            </a:solidFill>
            <a:ln w="9525" cmpd="sng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4868" y="1209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大气上界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2496" y="3120"/>
              <a:ext cx="864" cy="24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3346997" y="1312641"/>
            <a:ext cx="1293813" cy="16764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3777210" y="1312641"/>
            <a:ext cx="492125" cy="1200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太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阳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  <a:endParaRPr lang="zh-CN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9" name="AutoShape 26"/>
          <p:cNvSpPr>
            <a:spLocks noChangeArrowheads="1"/>
          </p:cNvSpPr>
          <p:nvPr/>
        </p:nvSpPr>
        <p:spPr bwMode="auto">
          <a:xfrm>
            <a:off x="3510510" y="3009679"/>
            <a:ext cx="914400" cy="2362200"/>
          </a:xfrm>
          <a:prstGeom prst="downArrow">
            <a:avLst>
              <a:gd name="adj1" fmla="val 50000"/>
              <a:gd name="adj2" fmla="val 64583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" name="AutoShape 27"/>
          <p:cNvSpPr>
            <a:spLocks noChangeArrowheads="1"/>
          </p:cNvSpPr>
          <p:nvPr/>
        </p:nvSpPr>
        <p:spPr bwMode="auto">
          <a:xfrm rot="2349540">
            <a:off x="4021685" y="3314479"/>
            <a:ext cx="1143000" cy="152400"/>
          </a:xfrm>
          <a:prstGeom prst="rightArrow">
            <a:avLst>
              <a:gd name="adj1" fmla="val 50000"/>
              <a:gd name="adj2" fmla="val 187500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31" name="Group 28"/>
          <p:cNvGrpSpPr/>
          <p:nvPr/>
        </p:nvGrpSpPr>
        <p:grpSpPr bwMode="auto">
          <a:xfrm>
            <a:off x="6331497" y="2303241"/>
            <a:ext cx="1295400" cy="3048000"/>
            <a:chOff x="0" y="0"/>
            <a:chExt cx="480" cy="1824"/>
          </a:xfrm>
        </p:grpSpPr>
        <p:sp>
          <p:nvSpPr>
            <p:cNvPr id="32" name="AutoShape 29"/>
            <p:cNvSpPr>
              <a:spLocks noChangeArrowheads="1"/>
            </p:cNvSpPr>
            <p:nvPr/>
          </p:nvSpPr>
          <p:spPr bwMode="auto">
            <a:xfrm>
              <a:off x="96" y="0"/>
              <a:ext cx="288" cy="864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rgbClr val="FF9900"/>
            </a:solidFill>
            <a:ln w="9525" cmpd="sng">
              <a:solidFill>
                <a:srgbClr val="FF99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33" name="AutoShape 30"/>
            <p:cNvSpPr>
              <a:spLocks noChangeArrowheads="1"/>
            </p:cNvSpPr>
            <p:nvPr/>
          </p:nvSpPr>
          <p:spPr bwMode="auto">
            <a:xfrm>
              <a:off x="0" y="864"/>
              <a:ext cx="480" cy="9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mpd="sng">
              <a:solidFill>
                <a:srgbClr val="FF99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3748635" y="3141441"/>
            <a:ext cx="415498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削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弱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太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阳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  <a:endParaRPr lang="zh-CN" dirty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endParaRPr lang="zh-CN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4927516" y="2361868"/>
            <a:ext cx="1862447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大气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反射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吸收 、散射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削弱作用</a:t>
            </a:r>
            <a:endParaRPr lang="zh-CN" altLang="en-US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" name="Group 33"/>
          <p:cNvGrpSpPr/>
          <p:nvPr/>
        </p:nvGrpSpPr>
        <p:grpSpPr bwMode="auto">
          <a:xfrm>
            <a:off x="3272385" y="5395691"/>
            <a:ext cx="1811338" cy="412749"/>
            <a:chOff x="0" y="0"/>
            <a:chExt cx="1141" cy="288"/>
          </a:xfrm>
        </p:grpSpPr>
        <p:sp>
          <p:nvSpPr>
            <p:cNvPr id="37" name="Rectangle 34"/>
            <p:cNvSpPr>
              <a:spLocks noChangeArrowheads="1"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0" y="0"/>
              <a:ext cx="1141" cy="2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地面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吸收</a:t>
              </a:r>
              <a:r>
                <a:rPr 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增温</a:t>
              </a:r>
              <a:endParaRPr 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 Box 36"/>
          <p:cNvSpPr txBox="1">
            <a:spLocks noChangeArrowheads="1"/>
          </p:cNvSpPr>
          <p:nvPr/>
        </p:nvSpPr>
        <p:spPr bwMode="auto">
          <a:xfrm rot="20423604">
            <a:off x="9781135" y="3839454"/>
            <a:ext cx="493712" cy="15684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地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面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8746085" y="3526112"/>
            <a:ext cx="696912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大气</a:t>
            </a:r>
          </a:p>
          <a:p>
            <a:pPr>
              <a:defRPr/>
            </a:pPr>
            <a:r>
              <a:rPr 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吸收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9157400" y="1860725"/>
            <a:ext cx="173316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射向宇宙空间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6766295" y="3003376"/>
            <a:ext cx="354012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</a:t>
            </a:r>
          </a:p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气</a:t>
            </a:r>
          </a:p>
          <a:p>
            <a:pPr>
              <a:defRPr/>
            </a:pP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2567608" y="6051377"/>
            <a:ext cx="30686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“太阳暖大地”</a:t>
            </a: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8769897" y="6037041"/>
            <a:ext cx="305752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“大地暖大气”</a:t>
            </a: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5569497" y="6037041"/>
            <a:ext cx="30686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“大气还大地”</a:t>
            </a:r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8003211" y="3154141"/>
            <a:ext cx="441325" cy="1323764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气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增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温</a:t>
            </a: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 flipV="1">
            <a:off x="4496347" y="2650904"/>
            <a:ext cx="504825" cy="503237"/>
          </a:xfrm>
          <a:prstGeom prst="line">
            <a:avLst/>
          </a:prstGeom>
          <a:noFill/>
          <a:ln w="57150" cmpd="sng">
            <a:solidFill>
              <a:srgbClr val="E6AF0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1" name="Text Box 49"/>
          <p:cNvSpPr txBox="1">
            <a:spLocks noChangeArrowheads="1"/>
          </p:cNvSpPr>
          <p:nvPr/>
        </p:nvSpPr>
        <p:spPr bwMode="auto">
          <a:xfrm>
            <a:off x="6379493" y="5458046"/>
            <a:ext cx="169386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保持地面温度</a:t>
            </a:r>
          </a:p>
        </p:txBody>
      </p:sp>
      <p:sp>
        <p:nvSpPr>
          <p:cNvPr id="2" name="矩形 1"/>
          <p:cNvSpPr/>
          <p:nvPr/>
        </p:nvSpPr>
        <p:spPr>
          <a:xfrm>
            <a:off x="9452786" y="5435278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地面释放辐射</a:t>
            </a:r>
          </a:p>
        </p:txBody>
      </p:sp>
      <p:sp>
        <p:nvSpPr>
          <p:cNvPr id="53" name="Text Box 38"/>
          <p:cNvSpPr txBox="1">
            <a:spLocks noChangeArrowheads="1"/>
          </p:cNvSpPr>
          <p:nvPr/>
        </p:nvSpPr>
        <p:spPr bwMode="auto">
          <a:xfrm>
            <a:off x="6237232" y="1865026"/>
            <a:ext cx="173316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射向宇宙空间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6278665" y="4746392"/>
            <a:ext cx="147508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latin typeface="+mn-ea"/>
                <a:ea typeface="+mn-ea"/>
                <a:cs typeface="Times New Roman" panose="02020603050405020304" pitchFamily="18" charset="0"/>
              </a:rPr>
              <a:t>大气逆辐射</a:t>
            </a:r>
            <a:endParaRPr lang="zh-CN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2" name="Text Box 32"/>
          <p:cNvSpPr txBox="1">
            <a:spLocks noChangeArrowheads="1"/>
          </p:cNvSpPr>
          <p:nvPr/>
        </p:nvSpPr>
        <p:spPr bwMode="auto">
          <a:xfrm>
            <a:off x="7698576" y="4580574"/>
            <a:ext cx="186244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大气对地面的保温作用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098" y="807851"/>
            <a:ext cx="1460748" cy="623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utoUpdateAnimBg="0"/>
      <p:bldP spid="27" grpId="0" autoUpdateAnimBg="0"/>
      <p:bldP spid="29" grpId="0" animBg="1"/>
      <p:bldP spid="30" grpId="0" animBg="1"/>
      <p:bldP spid="34" grpId="0" bldLvl="0" autoUpdateAnimBg="0"/>
      <p:bldP spid="35" grpId="0" bldLvl="0" autoUpdateAnimBg="0"/>
      <p:bldP spid="39" grpId="0" autoUpdateAnimBg="0"/>
      <p:bldP spid="40" grpId="0" autoUpdateAnimBg="0"/>
      <p:bldP spid="41" grpId="0" autoUpdateAnimBg="0"/>
      <p:bldP spid="42" grpId="0" bldLvl="0" autoUpdateAnimBg="0"/>
      <p:bldP spid="43" grpId="0"/>
      <p:bldP spid="44" grpId="0"/>
      <p:bldP spid="45" grpId="0"/>
      <p:bldP spid="48" grpId="0" animBg="1"/>
      <p:bldP spid="50" grpId="0" animBg="1"/>
      <p:bldP spid="51" grpId="0" autoUpdateAnimBg="0"/>
      <p:bldP spid="2" grpId="0" animBg="1"/>
      <p:bldP spid="53" grpId="0" autoUpdateAnimBg="0"/>
      <p:bldP spid="57" grpId="0" autoUpdateAnimBg="0"/>
      <p:bldP spid="72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3899" y="171621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太阳短波辐射</a:t>
            </a:r>
          </a:p>
        </p:txBody>
      </p:sp>
      <p:sp>
        <p:nvSpPr>
          <p:cNvPr id="4" name="矩形 3"/>
          <p:cNvSpPr/>
          <p:nvPr/>
        </p:nvSpPr>
        <p:spPr>
          <a:xfrm>
            <a:off x="865544" y="25574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大气削弱太阳辐射</a:t>
            </a:r>
          </a:p>
        </p:txBody>
      </p:sp>
      <p:sp>
        <p:nvSpPr>
          <p:cNvPr id="25" name="矩形 24"/>
          <p:cNvSpPr/>
          <p:nvPr/>
        </p:nvSpPr>
        <p:spPr>
          <a:xfrm>
            <a:off x="274676" y="3414939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地面吸收增温（太阳暖大地）</a:t>
            </a:r>
          </a:p>
        </p:txBody>
      </p:sp>
      <p:sp>
        <p:nvSpPr>
          <p:cNvPr id="28" name="矩形 27"/>
          <p:cNvSpPr/>
          <p:nvPr/>
        </p:nvSpPr>
        <p:spPr>
          <a:xfrm>
            <a:off x="843592" y="41889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地面释放长波辐射</a:t>
            </a:r>
          </a:p>
        </p:txBody>
      </p:sp>
      <p:sp>
        <p:nvSpPr>
          <p:cNvPr id="46" name="矩形 45"/>
          <p:cNvSpPr/>
          <p:nvPr/>
        </p:nvSpPr>
        <p:spPr>
          <a:xfrm>
            <a:off x="240987" y="488757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大气吸收增温（大地暖大气）</a:t>
            </a:r>
          </a:p>
        </p:txBody>
      </p:sp>
      <p:sp>
        <p:nvSpPr>
          <p:cNvPr id="52" name="矩形 51"/>
          <p:cNvSpPr/>
          <p:nvPr/>
        </p:nvSpPr>
        <p:spPr>
          <a:xfrm>
            <a:off x="119336" y="561236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大气释放逆辐射（大气还大地）</a:t>
            </a:r>
          </a:p>
        </p:txBody>
      </p:sp>
      <p:sp>
        <p:nvSpPr>
          <p:cNvPr id="54" name="矩形 53"/>
          <p:cNvSpPr/>
          <p:nvPr/>
        </p:nvSpPr>
        <p:spPr>
          <a:xfrm>
            <a:off x="535125" y="637203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地面热量损失得到补偿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1875987" y="2085546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859255" y="2926735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833731" y="3784271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827496" y="4483539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827496" y="5256908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803979" y="5981697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9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006" y="980728"/>
            <a:ext cx="8586650" cy="5877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5" grpId="0"/>
      <p:bldP spid="28" grpId="0"/>
      <p:bldP spid="46" grpId="0"/>
      <p:bldP spid="52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3899" y="171621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太阳短波辐射</a:t>
            </a:r>
          </a:p>
        </p:txBody>
      </p:sp>
      <p:sp>
        <p:nvSpPr>
          <p:cNvPr id="4" name="矩形 3"/>
          <p:cNvSpPr/>
          <p:nvPr/>
        </p:nvSpPr>
        <p:spPr>
          <a:xfrm>
            <a:off x="865544" y="25574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大气削弱太阳辐射</a:t>
            </a:r>
          </a:p>
        </p:txBody>
      </p:sp>
      <p:sp>
        <p:nvSpPr>
          <p:cNvPr id="25" name="矩形 24"/>
          <p:cNvSpPr/>
          <p:nvPr/>
        </p:nvSpPr>
        <p:spPr>
          <a:xfrm>
            <a:off x="274676" y="3414939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地面吸收增温（太阳暖大地）</a:t>
            </a:r>
          </a:p>
        </p:txBody>
      </p:sp>
      <p:sp>
        <p:nvSpPr>
          <p:cNvPr id="28" name="矩形 27"/>
          <p:cNvSpPr/>
          <p:nvPr/>
        </p:nvSpPr>
        <p:spPr>
          <a:xfrm>
            <a:off x="843592" y="41889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地面释放长波辐射</a:t>
            </a:r>
          </a:p>
        </p:txBody>
      </p:sp>
      <p:sp>
        <p:nvSpPr>
          <p:cNvPr id="46" name="矩形 45"/>
          <p:cNvSpPr/>
          <p:nvPr/>
        </p:nvSpPr>
        <p:spPr>
          <a:xfrm>
            <a:off x="240987" y="488757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大气吸收增温（大地暖大气）</a:t>
            </a:r>
          </a:p>
        </p:txBody>
      </p:sp>
      <p:sp>
        <p:nvSpPr>
          <p:cNvPr id="52" name="矩形 51"/>
          <p:cNvSpPr/>
          <p:nvPr/>
        </p:nvSpPr>
        <p:spPr>
          <a:xfrm>
            <a:off x="119336" y="561236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大气释放逆辐射（大气还大地）</a:t>
            </a:r>
          </a:p>
        </p:txBody>
      </p:sp>
      <p:sp>
        <p:nvSpPr>
          <p:cNvPr id="54" name="矩形 53"/>
          <p:cNvSpPr/>
          <p:nvPr/>
        </p:nvSpPr>
        <p:spPr>
          <a:xfrm>
            <a:off x="535125" y="637203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地面热量损失得到补偿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1875987" y="2085546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859255" y="2926735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833731" y="3784271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827496" y="4483539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827496" y="5256908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803979" y="5981697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477308" y="4214640"/>
            <a:ext cx="77393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归纳总结：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受热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的两大过程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地面的增温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：大部分太阳辐射透过大气射到地面，使地面增温。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大气的增温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：地面以地面辐射的形式向大气传递热量。</a:t>
            </a:r>
          </a:p>
        </p:txBody>
      </p:sp>
      <p:sp>
        <p:nvSpPr>
          <p:cNvPr id="19" name="矩形 18"/>
          <p:cNvSpPr/>
          <p:nvPr/>
        </p:nvSpPr>
        <p:spPr>
          <a:xfrm>
            <a:off x="4502719" y="5541595"/>
            <a:ext cx="77293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的两大作用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削弱作用：大气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层中水汽、云层、尘埃等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对太阳辐射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的吸收、反射和散射作用。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保温作用：大气逆辐射对近地面大气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热量的补偿作用。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90" y="51073"/>
            <a:ext cx="7163142" cy="420870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511824" y="5538079"/>
            <a:ext cx="77393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大气热量的两大来源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①太阳是大气最重要的热量来源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②近地面辐射是大气直接的热量来源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9356" y="1507344"/>
            <a:ext cx="115932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 smtClean="0">
                <a:solidFill>
                  <a:prstClr val="black"/>
                </a:solidFill>
              </a:rPr>
              <a:t>辨析</a:t>
            </a:r>
            <a:r>
              <a:rPr lang="en-US" altLang="zh-CN" sz="2400" dirty="0" smtClean="0">
                <a:solidFill>
                  <a:prstClr val="black"/>
                </a:solidFill>
              </a:rPr>
              <a:t>.</a:t>
            </a:r>
            <a:r>
              <a:rPr lang="zh-CN" altLang="en-US" sz="2400" dirty="0">
                <a:solidFill>
                  <a:prstClr val="black"/>
                </a:solidFill>
              </a:rPr>
              <a:t>若该地太阳辐射强，温度是否一定高？</a:t>
            </a:r>
          </a:p>
          <a:p>
            <a:pPr lvl="0"/>
            <a:r>
              <a:rPr lang="zh-CN" altLang="en-US" sz="2400" dirty="0">
                <a:solidFill>
                  <a:prstClr val="black"/>
                </a:solidFill>
                <a:latin typeface="+mn-ea"/>
              </a:rPr>
              <a:t>答</a:t>
            </a:r>
            <a:r>
              <a:rPr lang="zh-CN" altLang="en-US" sz="2400" dirty="0" smtClean="0">
                <a:solidFill>
                  <a:prstClr val="black"/>
                </a:solidFill>
                <a:latin typeface="+mn-ea"/>
              </a:rPr>
              <a:t>：</a:t>
            </a:r>
            <a:endParaRPr lang="en-US" altLang="zh-CN" sz="2400" dirty="0" smtClean="0">
              <a:solidFill>
                <a:prstClr val="black"/>
              </a:solidFill>
              <a:latin typeface="+mn-ea"/>
            </a:endParaRPr>
          </a:p>
          <a:p>
            <a:pPr lvl="0"/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判断：不一定</a:t>
            </a:r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dirty="0" smtClean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理由：该地太阳辐射强只能说明该地大气削弱作用弱，到达该地的太阳辐射多，但是依据大气受热过程可知，太阳辐射要转换为大气的热量（气温），还需要经过地面吸收增温并向外释放长波辐射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大气吸收地面长波辐射增温两个环节，所以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地面吸收太阳辐射能力的强弱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大气吸收地面长波辐射的能力强弱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都会影响大气的受热增温。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99356" y="1066364"/>
            <a:ext cx="11593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）解释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温室气体大量排放对全球气候变暖的影响：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农业实践中的一些现象：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①我国北方地区利用温室大棚生产反季节蔬菜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②深秋农民利用燃烧秸秆制造烟雾预防霜冻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③华北地区早春农民利用地膜覆盖进行农作物种植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某地太阳辐射量多少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178" y="1484775"/>
            <a:ext cx="6564827" cy="122413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1344" y="498884"/>
            <a:ext cx="6868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大作用原理的应用→分析生产、生活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现象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736" y="5169372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①高海拔地区：地势高→空气稀薄→大气对太阳辐射的削弱作用弱→太阳辐射强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9356" y="5631631"/>
            <a:ext cx="12187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②内陆地区：气候干旱→晴天多，阴雨少→大气对太阳辐射的削弱作用弱→太阳辐射强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过程及其应用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99356" y="1052736"/>
            <a:ext cx="11593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）分析昼夜温差大小的影响因素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1344" y="498884"/>
            <a:ext cx="6868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大作用原理的应用→分析生产、生活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现象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过程及其应用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5360" y="1541481"/>
            <a:ext cx="114852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地势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高低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地势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大气稀薄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白天大气的削弱作用和夜晚大气的保温作用都弱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昼夜温差大。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天气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状况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晴朗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的天气条件下，白天大气的削弱作用和夜晚大气的保温作用都弱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昼夜温差大。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垫面性质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垫面的比热容大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增温和降温速度都慢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en-US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。（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海洋的昼夜温差一般小于陆地；反之，昼夜温差大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zh-CN" sz="2400" b="1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9336" y="-99392"/>
            <a:ext cx="1188132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(2017·</a:t>
            </a:r>
            <a:r>
              <a:rPr lang="zh-CN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全国文综</a:t>
            </a:r>
            <a:r>
              <a:rPr lang="en-US" altLang="zh-CN" sz="2000" kern="100" dirty="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Ⅰ</a:t>
            </a: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我国某地为保证葡萄植株安全越冬，采用双层覆膜技术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两层覆膜间留有一定空间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，效果显著。下图中的曲线示意当地寒冷期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(12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月至次年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丰、枯雪年的平均气温日变化和丰、枯雪年的膜内平均温度日变化。据此完成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题。</a:t>
            </a:r>
            <a:endParaRPr lang="zh-CN" altLang="zh-CN" sz="9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9218" name="Picture 2" descr="JS22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1982449"/>
            <a:ext cx="6132004" cy="300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19336" y="1427747"/>
            <a:ext cx="111768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图中表示枯雪年膜内平均温度日变化的曲线是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B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C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D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1791092" y="1793830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lang="zh-CN" altLang="en-US" sz="4500" b="1" dirty="0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</a:rPr>
              <a:t>√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0524" y="2443410"/>
            <a:ext cx="11176812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该地寒冷期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最低气温高于－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16 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℃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B.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气温日变化因积雪状况差异较大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膜内温度日变化因积雪状况差异较大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D.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膜内温度日变化与气温日变化一致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TextBox 19"/>
          <p:cNvSpPr txBox="1"/>
          <p:nvPr/>
        </p:nvSpPr>
        <p:spPr>
          <a:xfrm>
            <a:off x="92542" y="3933056"/>
            <a:ext cx="756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lang="zh-CN" altLang="en-US" sz="3200" b="1" dirty="0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</a:rPr>
              <a:t>√</a:t>
            </a:r>
          </a:p>
        </p:txBody>
      </p:sp>
      <p:sp>
        <p:nvSpPr>
          <p:cNvPr id="2" name="矩形 1"/>
          <p:cNvSpPr/>
          <p:nvPr/>
        </p:nvSpPr>
        <p:spPr>
          <a:xfrm>
            <a:off x="137992" y="4991814"/>
            <a:ext cx="66060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3.</a:t>
            </a:r>
            <a:r>
              <a:rPr lang="zh-CN" altLang="en-US" sz="2000" dirty="0" smtClean="0"/>
              <a:t>该</a:t>
            </a:r>
            <a:r>
              <a:rPr lang="zh-CN" altLang="en-US" sz="2000" dirty="0"/>
              <a:t>地可能</a:t>
            </a:r>
            <a:r>
              <a:rPr lang="zh-CN" altLang="en-US" sz="2000" dirty="0" smtClean="0"/>
              <a:t>位于</a:t>
            </a:r>
            <a:endParaRPr lang="zh-CN" altLang="en-US" sz="2000" dirty="0"/>
          </a:p>
          <a:p>
            <a:r>
              <a:rPr lang="en-US" altLang="zh-CN" sz="2000" dirty="0"/>
              <a:t>A. </a:t>
            </a:r>
            <a:r>
              <a:rPr lang="zh-CN" altLang="en-US" sz="2000" dirty="0"/>
              <a:t>吉林省 </a:t>
            </a:r>
            <a:r>
              <a:rPr lang="zh-CN" altLang="en-US" sz="2000" dirty="0" smtClean="0"/>
              <a:t>  </a:t>
            </a:r>
            <a:r>
              <a:rPr lang="en-US" altLang="zh-CN" sz="2000" dirty="0" smtClean="0"/>
              <a:t>B</a:t>
            </a:r>
            <a:r>
              <a:rPr lang="en-US" altLang="zh-CN" sz="2000" dirty="0"/>
              <a:t>. </a:t>
            </a:r>
            <a:r>
              <a:rPr lang="zh-CN" altLang="en-US" sz="2000" dirty="0" smtClean="0"/>
              <a:t>河北省  </a:t>
            </a:r>
            <a:r>
              <a:rPr lang="en-US" altLang="zh-CN" sz="2000" dirty="0" smtClean="0"/>
              <a:t>C</a:t>
            </a:r>
            <a:r>
              <a:rPr lang="en-US" altLang="zh-CN" sz="2000" dirty="0"/>
              <a:t>. </a:t>
            </a:r>
            <a:r>
              <a:rPr lang="zh-CN" altLang="en-US" sz="2000" dirty="0"/>
              <a:t>山西省 </a:t>
            </a:r>
            <a:r>
              <a:rPr lang="en-US" altLang="zh-CN" sz="2000" dirty="0"/>
              <a:t>D. </a:t>
            </a:r>
            <a:r>
              <a:rPr lang="zh-CN" altLang="en-US" sz="2000" dirty="0"/>
              <a:t>新疆维吾尔自治区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16632"/>
            <a:ext cx="118798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为我国某地一个蔬菜大棚的照片，图</a:t>
            </a:r>
            <a:r>
              <a:rPr lang="en-US" altLang="zh-CN" dirty="0"/>
              <a:t>2</a:t>
            </a:r>
            <a:r>
              <a:rPr lang="zh-CN" altLang="en-US" dirty="0"/>
              <a:t>为地球大气受热过程示意图，图中数字代表某种辐射。</a:t>
            </a:r>
            <a:r>
              <a:rPr lang="zh-CN" altLang="en-US" dirty="0" smtClean="0"/>
              <a:t>回答</a:t>
            </a:r>
            <a:r>
              <a:rPr lang="en-US" altLang="zh-CN" dirty="0" smtClean="0"/>
              <a:t>5-6</a:t>
            </a:r>
            <a:r>
              <a:rPr lang="zh-CN" altLang="en-US" dirty="0" smtClean="0"/>
              <a:t>题</a:t>
            </a:r>
            <a:r>
              <a:rPr lang="zh-CN" altLang="en-US" dirty="0"/>
              <a:t>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112" y="497661"/>
            <a:ext cx="6604244" cy="30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102595" y="3518436"/>
            <a:ext cx="118093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1.</a:t>
            </a:r>
            <a:r>
              <a:rPr lang="zh-CN" altLang="en-US" sz="2000" dirty="0" smtClean="0"/>
              <a:t>照片</a:t>
            </a:r>
            <a:r>
              <a:rPr lang="zh-CN" altLang="en-US" sz="2000" dirty="0"/>
              <a:t>拍摄季节，当地的农民一般会给大棚覆盖黑色尼龙网，而不是我们常见的白色塑料薄膜或者玻璃大棚。照片拍摄的时间以及这样做的目的分别是（　　）</a:t>
            </a:r>
          </a:p>
          <a:p>
            <a:r>
              <a:rPr lang="en-US" altLang="zh-CN" sz="2000" dirty="0"/>
              <a:t>A. 7-8</a:t>
            </a:r>
            <a:r>
              <a:rPr lang="zh-CN" altLang="en-US" sz="2000" dirty="0"/>
              <a:t>月，削弱①以减少农作物水分蒸腾</a:t>
            </a:r>
          </a:p>
          <a:p>
            <a:r>
              <a:rPr lang="en-US" altLang="zh-CN" sz="2000" dirty="0"/>
              <a:t>B. 10-11</a:t>
            </a:r>
            <a:r>
              <a:rPr lang="zh-CN" altLang="en-US" sz="2000" dirty="0"/>
              <a:t>月，阻挡②以防止夜间温度过低</a:t>
            </a:r>
          </a:p>
          <a:p>
            <a:r>
              <a:rPr lang="en-US" altLang="zh-CN" sz="2000" dirty="0"/>
              <a:t>C. 12-</a:t>
            </a:r>
            <a:r>
              <a:rPr lang="zh-CN" altLang="en-US" sz="2000" dirty="0"/>
              <a:t>次年</a:t>
            </a:r>
            <a:r>
              <a:rPr lang="en-US" altLang="zh-CN" sz="2000" dirty="0"/>
              <a:t>1</a:t>
            </a:r>
            <a:r>
              <a:rPr lang="zh-CN" altLang="en-US" sz="2000" dirty="0"/>
              <a:t>月，增加③以提高土壤的温度</a:t>
            </a:r>
          </a:p>
          <a:p>
            <a:r>
              <a:rPr lang="en-US" altLang="zh-CN" sz="2000" dirty="0"/>
              <a:t>D. 6-7</a:t>
            </a:r>
            <a:r>
              <a:rPr lang="zh-CN" altLang="en-US" sz="2000" dirty="0"/>
              <a:t>月，增强④以降低白天大气的温度</a:t>
            </a:r>
          </a:p>
        </p:txBody>
      </p:sp>
      <p:sp>
        <p:nvSpPr>
          <p:cNvPr id="5" name="矩形 4"/>
          <p:cNvSpPr/>
          <p:nvPr/>
        </p:nvSpPr>
        <p:spPr>
          <a:xfrm>
            <a:off x="102595" y="5457428"/>
            <a:ext cx="75482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2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图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中（　　）</a:t>
            </a:r>
          </a:p>
          <a:p>
            <a:r>
              <a:rPr lang="en-US" altLang="zh-CN" sz="2000" dirty="0" smtClean="0"/>
              <a:t>A. ③</a:t>
            </a:r>
            <a:r>
              <a:rPr lang="zh-CN" altLang="en-US" sz="2000" dirty="0" smtClean="0"/>
              <a:t>能量大部分被大气所吸收	</a:t>
            </a:r>
            <a:r>
              <a:rPr lang="en-US" altLang="zh-CN" sz="2000" dirty="0" smtClean="0"/>
              <a:t>B. ④</a:t>
            </a:r>
            <a:r>
              <a:rPr lang="zh-CN" altLang="en-US" sz="2000" dirty="0" smtClean="0"/>
              <a:t>是近地面大气的根本热源</a:t>
            </a:r>
          </a:p>
          <a:p>
            <a:r>
              <a:rPr lang="en-US" altLang="zh-CN" sz="2000" dirty="0" smtClean="0"/>
              <a:t>C. ②</a:t>
            </a:r>
            <a:r>
              <a:rPr lang="zh-CN" altLang="en-US" sz="2000" dirty="0" smtClean="0"/>
              <a:t>只出现在夜晚起保温作用	</a:t>
            </a:r>
            <a:r>
              <a:rPr lang="en-US" altLang="zh-CN" sz="2000" dirty="0" smtClean="0"/>
              <a:t>D. ①</a:t>
            </a:r>
            <a:r>
              <a:rPr lang="zh-CN" altLang="en-US" sz="2000" dirty="0" smtClean="0"/>
              <a:t>表示散失的少量长波辐射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8472264" y="5965259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答案：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D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91944" y="1508106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 charset="-122"/>
                <a:cs typeface="Times New Roman" panose="02020603050405020304"/>
              </a:rPr>
              <a:t>③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161493" y="1124744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 charset="-122"/>
                <a:cs typeface="Times New Roman" panose="02020603050405020304"/>
              </a:rPr>
              <a:t>①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161493" y="1966315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 charset="-122"/>
                <a:cs typeface="Times New Roman" panose="02020603050405020304"/>
              </a:rPr>
              <a:t>②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400256" y="1484784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 charset="-122"/>
                <a:cs typeface="Times New Roman" panose="02020603050405020304"/>
              </a:rPr>
              <a:t>④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352" y="544670"/>
            <a:ext cx="3225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影响气温高低的因素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656" y="1125435"/>
            <a:ext cx="11778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问题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请尝试结合大气受热过程原理分析影响气温高低的因素有哪些？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64" y="1583090"/>
            <a:ext cx="9542648" cy="52039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62" y="950819"/>
            <a:ext cx="10505913" cy="55734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352" y="544670"/>
            <a:ext cx="3225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影响气温高低的因素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999656" y="1116986"/>
            <a:ext cx="8508206" cy="8171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259935" y="1916832"/>
            <a:ext cx="8217240" cy="12241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400715" y="3212976"/>
            <a:ext cx="8076459" cy="23762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855640" y="5820489"/>
            <a:ext cx="9264350" cy="735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4920" y="260648"/>
            <a:ext cx="1202533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</a:t>
            </a:r>
            <a:r>
              <a:rPr lang="zh-CN" altLang="en-US" sz="2400" dirty="0" smtClean="0"/>
              <a:t>完成题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内蒙古高原</a:t>
            </a:r>
            <a:r>
              <a:rPr lang="zh-CN" altLang="en-US" sz="2400" dirty="0"/>
              <a:t>上的呼伦贝尔夏季空调和电风扇使用率也较低，与拉萨相比，呼伦贝尔该特点形成的主要原因是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．海拔较高，大气保温作用弱	</a:t>
            </a:r>
            <a:r>
              <a:rPr lang="en-US" altLang="zh-CN" sz="2400" dirty="0"/>
              <a:t>B</a:t>
            </a:r>
            <a:r>
              <a:rPr lang="zh-CN" altLang="en-US" sz="2400" dirty="0"/>
              <a:t>．云量较少，大气保温作用弱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．纬度较高，太阳高度角小	</a:t>
            </a:r>
            <a:r>
              <a:rPr lang="en-US" altLang="zh-CN" sz="2400" dirty="0"/>
              <a:t>D</a:t>
            </a:r>
            <a:r>
              <a:rPr lang="zh-CN" altLang="en-US" sz="2400" dirty="0"/>
              <a:t>．海洋影响小，夜晚降温快</a:t>
            </a:r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这</a:t>
            </a:r>
            <a:r>
              <a:rPr lang="zh-CN" altLang="en-US" sz="2400" dirty="0"/>
              <a:t>次拉萨顺利入夏的原因最可能是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．西南季风势力强，带来大量暖空气，增温明显</a:t>
            </a:r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．拉萨地处河谷地带，不易散热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．太阳活动强烈</a:t>
            </a:r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．受高气压影响，形成强烈的气流下沉增温和辐射增温</a:t>
            </a:r>
          </a:p>
          <a:p>
            <a:r>
              <a:rPr lang="en-US" altLang="zh-CN" sz="2400" dirty="0" smtClean="0"/>
              <a:t>3.</a:t>
            </a:r>
            <a:r>
              <a:rPr lang="zh-CN" altLang="en-US" sz="2400" dirty="0" smtClean="0"/>
              <a:t>此次</a:t>
            </a:r>
            <a:r>
              <a:rPr lang="zh-CN" altLang="en-US" sz="2400" dirty="0"/>
              <a:t>高温事件产生的影响，下列说法正确的是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．农作物及牧草长势较去年偏好	</a:t>
            </a:r>
            <a:r>
              <a:rPr lang="en-US" altLang="zh-CN" sz="2400" dirty="0"/>
              <a:t>B</a:t>
            </a:r>
            <a:r>
              <a:rPr lang="zh-CN" altLang="en-US" sz="2400" dirty="0"/>
              <a:t>．以后每年春末商家采购大量空调电扇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．高温事件后不久，对流增强，雨季到来	</a:t>
            </a:r>
            <a:r>
              <a:rPr lang="en-US" altLang="zh-CN" sz="2400" dirty="0"/>
              <a:t>D</a:t>
            </a:r>
            <a:r>
              <a:rPr lang="zh-CN" altLang="en-US" sz="2400" dirty="0"/>
              <a:t>．冰川融化，林线上升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4920" y="21972"/>
            <a:ext cx="120253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（湖北省宜昌市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2019—2020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学年高三年级元月调考）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日，拉萨连续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日平均气温超过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22℃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，首次达到了中国气候季节划分的夏季标准，这是当地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1955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据此完成</a:t>
            </a:r>
            <a:r>
              <a:rPr lang="en-US" altLang="zh-CN" sz="2400" dirty="0"/>
              <a:t>12—14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内蒙古高原</a:t>
            </a:r>
            <a:r>
              <a:rPr lang="zh-CN" altLang="en-US" sz="2400" dirty="0"/>
              <a:t>上的呼伦贝尔夏季空调和电风扇使用率也较低，与拉萨相比，呼伦贝尔该特点形成的主要原因是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．海拔较高，大气保温作用弱	</a:t>
            </a:r>
            <a:r>
              <a:rPr lang="en-US" altLang="zh-CN" sz="2400" dirty="0"/>
              <a:t>B</a:t>
            </a:r>
            <a:r>
              <a:rPr lang="zh-CN" altLang="en-US" sz="2400" dirty="0"/>
              <a:t>．云量较少，大气保温作用弱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．纬度较高，太阳高度角小	</a:t>
            </a:r>
            <a:r>
              <a:rPr lang="en-US" altLang="zh-CN" sz="2400" dirty="0"/>
              <a:t>D</a:t>
            </a:r>
            <a:r>
              <a:rPr lang="zh-CN" altLang="en-US" sz="2400" dirty="0"/>
              <a:t>．海洋影响小，夜晚降温快</a:t>
            </a:r>
          </a:p>
        </p:txBody>
      </p:sp>
      <p:sp>
        <p:nvSpPr>
          <p:cNvPr id="4" name="矩形 3"/>
          <p:cNvSpPr/>
          <p:nvPr/>
        </p:nvSpPr>
        <p:spPr>
          <a:xfrm>
            <a:off x="98719" y="3418398"/>
            <a:ext cx="11901937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解析</a:t>
            </a:r>
            <a:r>
              <a:rPr lang="en-US" altLang="zh-CN" sz="2400" dirty="0" smtClean="0"/>
              <a:t>1.</a:t>
            </a:r>
            <a:r>
              <a:rPr lang="zh-CN" altLang="en-US" sz="2400" dirty="0" smtClean="0"/>
              <a:t>内蒙古高原</a:t>
            </a:r>
            <a:r>
              <a:rPr lang="zh-CN" altLang="en-US" sz="2400" dirty="0"/>
              <a:t>上的呼伦贝尔与拉萨相比，呼伦贝尔纬度高，太阳高度角小，获得的太阳辐射量少，夏季气温较低，</a:t>
            </a:r>
            <a:r>
              <a:rPr lang="en-US" altLang="zh-CN" sz="2400" dirty="0"/>
              <a:t>C</a:t>
            </a:r>
            <a:r>
              <a:rPr lang="zh-CN" altLang="en-US" sz="2400" dirty="0"/>
              <a:t>正确。而拉萨位于青藏高原上，海拔高大气稀薄，云量少，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错。呼伦贝尔离海洋更近，受海洋的影响大，</a:t>
            </a:r>
            <a:r>
              <a:rPr lang="en-US" altLang="zh-CN" sz="2400" dirty="0"/>
              <a:t>D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336" y="44624"/>
            <a:ext cx="120253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据此完成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12—14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．这次拉萨顺利入夏的原因最可能是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．西南季风势力强，带来大量暖空气，增温明显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．拉萨地处河谷地带，不易散热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．太阳活动强烈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．受高气压影响，形成强烈的气流下沉增温和辐射增温</a:t>
            </a:r>
          </a:p>
        </p:txBody>
      </p:sp>
      <p:sp>
        <p:nvSpPr>
          <p:cNvPr id="4" name="矩形 3"/>
          <p:cNvSpPr/>
          <p:nvPr/>
        </p:nvSpPr>
        <p:spPr>
          <a:xfrm>
            <a:off x="119336" y="3645024"/>
            <a:ext cx="12025336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解析</a:t>
            </a:r>
            <a:r>
              <a:rPr lang="en-US" altLang="zh-CN" sz="2400" dirty="0" smtClean="0"/>
              <a:t>2.</a:t>
            </a:r>
            <a:r>
              <a:rPr lang="zh-CN" altLang="en-US" sz="2400" dirty="0" smtClean="0"/>
              <a:t>据</a:t>
            </a:r>
            <a:r>
              <a:rPr lang="zh-CN" altLang="en-US" sz="2400" dirty="0"/>
              <a:t>材料可知，拉萨往年夏季较为凉爽，从气候学上划分属于无夏区，突然入夏，说明气候异常，气温突然升高，是受副热带高气压的异常影响，形成强烈的气流下沉使增温和辐射增温，</a:t>
            </a:r>
            <a:r>
              <a:rPr lang="en-US" altLang="zh-CN" sz="2400" dirty="0"/>
              <a:t>D</a:t>
            </a:r>
            <a:r>
              <a:rPr lang="zh-CN" altLang="en-US" sz="2400" dirty="0"/>
              <a:t>正确。西南季风对拉萨气温几乎没有影响，</a:t>
            </a:r>
            <a:r>
              <a:rPr lang="en-US" altLang="zh-CN" sz="2400" dirty="0"/>
              <a:t>A</a:t>
            </a:r>
            <a:r>
              <a:rPr lang="zh-CN" altLang="en-US" sz="2400" dirty="0"/>
              <a:t>错。拉萨地处河谷地带，不易散热，不会导致气温异常，故</a:t>
            </a:r>
            <a:r>
              <a:rPr lang="en-US" altLang="zh-CN" sz="2400" dirty="0"/>
              <a:t>B</a:t>
            </a:r>
            <a:r>
              <a:rPr lang="zh-CN" altLang="en-US" sz="2400" dirty="0"/>
              <a:t>错。太阳活动对气温异常没有影响，</a:t>
            </a:r>
            <a:r>
              <a:rPr lang="en-US" altLang="zh-CN" sz="2400" dirty="0"/>
              <a:t>C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D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336" y="218954"/>
            <a:ext cx="120253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据此完成</a:t>
            </a:r>
            <a:r>
              <a:rPr lang="en-US" altLang="zh-CN" sz="2400" dirty="0"/>
              <a:t>12—14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14</a:t>
            </a:r>
            <a:r>
              <a:rPr lang="zh-CN" altLang="en-US" sz="2400" dirty="0"/>
              <a:t>．此次高温事件产生的影响，下列说法正确的是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．农作物及牧草长势较去年偏好	</a:t>
            </a:r>
            <a:r>
              <a:rPr lang="zh-CN" altLang="en-US" sz="2400" dirty="0" smtClean="0"/>
              <a:t>                  </a:t>
            </a:r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以后</a:t>
            </a:r>
            <a:r>
              <a:rPr lang="zh-CN" altLang="en-US" sz="2400" dirty="0"/>
              <a:t>每年春末商家采购大量空调电扇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．高温事件后不久，对流增强，雨季</a:t>
            </a:r>
            <a:r>
              <a:rPr lang="zh-CN" altLang="en-US" sz="2400" dirty="0" smtClean="0"/>
              <a:t>到来     </a:t>
            </a:r>
            <a:r>
              <a:rPr lang="en-US" altLang="zh-CN" sz="2400" dirty="0" smtClean="0"/>
              <a:t>D.</a:t>
            </a:r>
            <a:r>
              <a:rPr lang="zh-CN" altLang="en-US" sz="2400" dirty="0" smtClean="0"/>
              <a:t>冰川</a:t>
            </a:r>
            <a:r>
              <a:rPr lang="zh-CN" altLang="en-US" sz="2400" dirty="0"/>
              <a:t>融化，林线上升</a:t>
            </a:r>
          </a:p>
        </p:txBody>
      </p:sp>
      <p:sp>
        <p:nvSpPr>
          <p:cNvPr id="4" name="矩形 3"/>
          <p:cNvSpPr/>
          <p:nvPr/>
        </p:nvSpPr>
        <p:spPr>
          <a:xfrm>
            <a:off x="371364" y="3140968"/>
            <a:ext cx="11449272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解析</a:t>
            </a:r>
            <a:r>
              <a:rPr lang="en-US" altLang="zh-CN" sz="2400" dirty="0" smtClean="0"/>
              <a:t>3.</a:t>
            </a:r>
            <a:r>
              <a:rPr lang="zh-CN" altLang="en-US" sz="2400" dirty="0" smtClean="0"/>
              <a:t>拉萨</a:t>
            </a:r>
            <a:r>
              <a:rPr lang="zh-CN" altLang="en-US" sz="2400" dirty="0"/>
              <a:t>在短期内出现气温达到入夏标准的情况属异常现象，不具有普遍性，拉萨仍属于气候季节划分的无夏区。短暂的气温升高，属于气温异常，对农作物及牧草长势会有不利的影响，</a:t>
            </a:r>
            <a:r>
              <a:rPr lang="en-US" altLang="zh-CN" sz="2400" dirty="0"/>
              <a:t>A</a:t>
            </a:r>
            <a:r>
              <a:rPr lang="zh-CN" altLang="en-US" sz="2400" dirty="0"/>
              <a:t>错，不会每年都出现这种异常，</a:t>
            </a:r>
            <a:r>
              <a:rPr lang="en-US" altLang="zh-CN" sz="2400" dirty="0"/>
              <a:t>B</a:t>
            </a:r>
            <a:r>
              <a:rPr lang="zh-CN" altLang="en-US" sz="2400" dirty="0"/>
              <a:t>错。高温会使对流增强，上升流多降水，雨季到来，</a:t>
            </a:r>
            <a:r>
              <a:rPr lang="en-US" altLang="zh-CN" sz="2400" dirty="0"/>
              <a:t>C</a:t>
            </a:r>
            <a:r>
              <a:rPr lang="zh-CN" altLang="en-US" sz="2400" dirty="0"/>
              <a:t>正确。短暂气温升高，不会使林线上升，</a:t>
            </a:r>
            <a:r>
              <a:rPr lang="en-US" altLang="zh-CN" sz="2400" dirty="0"/>
              <a:t>D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9336" y="502745"/>
            <a:ext cx="26068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气温的时空特征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2666" y="964410"/>
            <a:ext cx="37417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）气温的时间变化特征</a:t>
            </a:r>
          </a:p>
        </p:txBody>
      </p:sp>
      <p:sp>
        <p:nvSpPr>
          <p:cNvPr id="6" name="矩形 5"/>
          <p:cNvSpPr/>
          <p:nvPr/>
        </p:nvSpPr>
        <p:spPr>
          <a:xfrm>
            <a:off x="84084" y="1426075"/>
            <a:ext cx="121079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问题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：结合</a:t>
            </a:r>
            <a:r>
              <a:rPr lang="zh-CN" altLang="en-US" sz="2000" dirty="0"/>
              <a:t>大气受热</a:t>
            </a:r>
            <a:r>
              <a:rPr lang="zh-CN" altLang="en-US" sz="2000" dirty="0" smtClean="0"/>
              <a:t>过程原理判断</a:t>
            </a:r>
            <a:r>
              <a:rPr lang="zh-CN" altLang="en-US" sz="2000" u="sng" dirty="0" smtClean="0">
                <a:solidFill>
                  <a:srgbClr val="FF0000"/>
                </a:solidFill>
              </a:rPr>
              <a:t>一天中</a:t>
            </a:r>
            <a:r>
              <a:rPr lang="zh-CN" altLang="en-US" sz="2000" u="sng" dirty="0">
                <a:solidFill>
                  <a:srgbClr val="FF0000"/>
                </a:solidFill>
              </a:rPr>
              <a:t>太阳辐射最强、气温最高、</a:t>
            </a:r>
            <a:r>
              <a:rPr lang="zh-CN" altLang="en-US" sz="2000" u="sng" dirty="0" smtClean="0">
                <a:solidFill>
                  <a:srgbClr val="FF0000"/>
                </a:solidFill>
              </a:rPr>
              <a:t>最低</a:t>
            </a:r>
            <a:r>
              <a:rPr lang="zh-CN" altLang="en-US" sz="2000" dirty="0" smtClean="0"/>
              <a:t>出现的时间</a:t>
            </a:r>
            <a:r>
              <a:rPr lang="zh-CN" altLang="en-US" sz="2000" dirty="0"/>
              <a:t>，并分析</a:t>
            </a:r>
            <a:r>
              <a:rPr lang="zh-CN" altLang="en-US" sz="2000" dirty="0" smtClean="0"/>
              <a:t>原因？</a:t>
            </a: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89983" y="1826185"/>
            <a:ext cx="121079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问题</a:t>
            </a:r>
            <a:r>
              <a:rPr lang="en-US" altLang="zh-CN" sz="2000" dirty="0"/>
              <a:t>2</a:t>
            </a:r>
            <a:r>
              <a:rPr lang="zh-CN" altLang="en-US" sz="2000" dirty="0" smtClean="0"/>
              <a:t>：根据上题判断的结果，能否进一步分析一年中，</a:t>
            </a:r>
            <a:r>
              <a:rPr lang="zh-CN" altLang="en-US" sz="2000" dirty="0" smtClean="0">
                <a:solidFill>
                  <a:srgbClr val="FF0000"/>
                </a:solidFill>
              </a:rPr>
              <a:t>北半球太阳辐射最强的月份</a:t>
            </a:r>
            <a:r>
              <a:rPr lang="zh-CN" altLang="en-US" sz="2000" dirty="0" smtClean="0"/>
              <a:t>、陆地、海洋气温</a:t>
            </a:r>
            <a:r>
              <a:rPr lang="zh-CN" altLang="en-US" sz="2000" dirty="0" smtClean="0">
                <a:solidFill>
                  <a:srgbClr val="FF0000"/>
                </a:solidFill>
              </a:rPr>
              <a:t>最高</a:t>
            </a:r>
            <a:r>
              <a:rPr lang="zh-CN" altLang="en-US" sz="2000" dirty="0" smtClean="0"/>
              <a:t>、</a:t>
            </a:r>
            <a:r>
              <a:rPr lang="zh-CN" altLang="en-US" sz="2000" dirty="0" smtClean="0">
                <a:solidFill>
                  <a:srgbClr val="FF0000"/>
                </a:solidFill>
              </a:rPr>
              <a:t>最低</a:t>
            </a:r>
            <a:r>
              <a:rPr lang="zh-CN" altLang="en-US" sz="2000" dirty="0" smtClean="0"/>
              <a:t>的月份？</a:t>
            </a:r>
            <a:endParaRPr lang="zh-CN" altLang="en-US" sz="2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24" y="2548880"/>
            <a:ext cx="5711380" cy="42644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2548880"/>
            <a:ext cx="5748808" cy="401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3352" y="563196"/>
            <a:ext cx="11881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的垂直分布与逆温现象</a:t>
            </a:r>
          </a:p>
          <a:p>
            <a:pPr algn="just"/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①常规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对流层气温在垂直方向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上，海拔每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 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，温度下降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0.6℃</a:t>
            </a:r>
          </a:p>
          <a:p>
            <a:pPr algn="just"/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②逆温：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条件下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一定高度范围内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气温随高度增加而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上升。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（上热下冷）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u=2733091871,422985281&amp;fm=26&amp;gp=0"/>
          <p:cNvPicPr>
            <a:picLocks noChangeAspect="1"/>
          </p:cNvPicPr>
          <p:nvPr/>
        </p:nvPicPr>
        <p:blipFill rotWithShape="1">
          <a:blip r:embed="rId2"/>
          <a:srcRect b="14286"/>
          <a:stretch>
            <a:fillRect/>
          </a:stretch>
        </p:blipFill>
        <p:spPr>
          <a:xfrm>
            <a:off x="1327058" y="2428508"/>
            <a:ext cx="9541060" cy="279250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500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3352" y="1865184"/>
            <a:ext cx="7964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问题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请问在下面的几幅图中，哪几幅图反映了逆温现象？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9336" y="1226369"/>
            <a:ext cx="11881319" cy="371479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35360" y="620688"/>
            <a:ext cx="29706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逆温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的类型及成因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1500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07368" y="1818000"/>
            <a:ext cx="11377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逆温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的影响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空气的对流上升运动被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抑制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7504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0682" y="882077"/>
            <a:ext cx="121079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问题：对流层出现逆温后，此时空气的对流运动被抑制，那么可能对人们的生产生活产生什么影响呢？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826341" y="311958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有利方面</a:t>
            </a:r>
          </a:p>
        </p:txBody>
      </p:sp>
      <p:sp>
        <p:nvSpPr>
          <p:cNvPr id="5" name="矩形 4"/>
          <p:cNvSpPr/>
          <p:nvPr/>
        </p:nvSpPr>
        <p:spPr>
          <a:xfrm>
            <a:off x="2850729" y="504747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不利方面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2682325" y="3330102"/>
            <a:ext cx="218248" cy="194373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左大括号 10"/>
          <p:cNvSpPr/>
          <p:nvPr/>
        </p:nvSpPr>
        <p:spPr>
          <a:xfrm>
            <a:off x="4127132" y="2711278"/>
            <a:ext cx="413839" cy="12815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" name="矩形 9"/>
          <p:cNvSpPr/>
          <p:nvPr/>
        </p:nvSpPr>
        <p:spPr>
          <a:xfrm>
            <a:off x="4540971" y="2463279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抑制沙尘暴</a:t>
            </a:r>
          </a:p>
        </p:txBody>
      </p:sp>
      <p:sp>
        <p:nvSpPr>
          <p:cNvPr id="13" name="矩形 12"/>
          <p:cNvSpPr/>
          <p:nvPr/>
        </p:nvSpPr>
        <p:spPr>
          <a:xfrm>
            <a:off x="4544791" y="3759423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在高空利于飞机飞行</a:t>
            </a:r>
          </a:p>
        </p:txBody>
      </p:sp>
      <p:sp>
        <p:nvSpPr>
          <p:cNvPr id="14" name="矩形 13"/>
          <p:cNvSpPr/>
          <p:nvPr/>
        </p:nvSpPr>
        <p:spPr>
          <a:xfrm>
            <a:off x="4595927" y="4407495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大气结构稳定，加重大气污染</a:t>
            </a:r>
          </a:p>
        </p:txBody>
      </p:sp>
      <p:sp>
        <p:nvSpPr>
          <p:cNvPr id="15" name="左大括号 14"/>
          <p:cNvSpPr/>
          <p:nvPr/>
        </p:nvSpPr>
        <p:spPr>
          <a:xfrm>
            <a:off x="4182088" y="4606749"/>
            <a:ext cx="413839" cy="12815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矩形 15"/>
          <p:cNvSpPr/>
          <p:nvPr/>
        </p:nvSpPr>
        <p:spPr>
          <a:xfrm>
            <a:off x="4626541" y="5631631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易产生大雾，减少降水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1" grpId="0" animBg="1"/>
      <p:bldP spid="10" grpId="0"/>
      <p:bldP spid="13" grpId="0"/>
      <p:bldP spid="14" grpId="0"/>
      <p:bldP spid="15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344" y="77723"/>
            <a:ext cx="117373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浙江） 近年来，雾霾天气在我国频繁出现，空气质量问题已引起全社会高度关注。如图是气温垂直分布的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种情形。</a:t>
            </a:r>
            <a:r>
              <a:rPr lang="zh-CN" altLang="en-US" sz="2400" dirty="0"/>
              <a:t>读图完成问题。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 smtClean="0"/>
              <a:t>图</a:t>
            </a:r>
            <a:r>
              <a:rPr lang="zh-CN" altLang="en-US" sz="2400" dirty="0"/>
              <a:t>中最有利于雾霾大气污染物扩散的情形是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 ①           </a:t>
            </a:r>
            <a:r>
              <a:rPr lang="en-US" altLang="zh-CN" sz="2400" dirty="0"/>
              <a:t>B</a:t>
            </a:r>
            <a:r>
              <a:rPr lang="zh-CN" altLang="en-US" sz="2400" dirty="0"/>
              <a:t>．②              </a:t>
            </a:r>
            <a:r>
              <a:rPr lang="en-US" altLang="zh-CN" sz="2400" dirty="0"/>
              <a:t>C</a:t>
            </a:r>
            <a:r>
              <a:rPr lang="zh-CN" altLang="en-US" sz="2400" dirty="0"/>
              <a:t>．③             </a:t>
            </a:r>
            <a:r>
              <a:rPr lang="en-US" altLang="zh-CN" sz="2400" dirty="0"/>
              <a:t>D</a:t>
            </a:r>
            <a:r>
              <a:rPr lang="zh-CN" altLang="en-US" sz="2400" dirty="0"/>
              <a:t>．④</a:t>
            </a:r>
          </a:p>
        </p:txBody>
      </p:sp>
      <p:pic>
        <p:nvPicPr>
          <p:cNvPr id="3" name="图片 2" descr="沃圣高考名师团队(客服QQ:1185941688，微信:sxmxms369)，主要推出高考预测押题密卷，高考仿真模拟，历年高考真题独家解析，高考真题专项分类，高中课外辅导讲义系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741" y="836712"/>
            <a:ext cx="7183693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335360" y="4398203"/>
            <a:ext cx="1137726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en-US" altLang="zh-CN" sz="2400" dirty="0"/>
              <a:t>【</a:t>
            </a:r>
            <a:r>
              <a:rPr lang="zh-CN" altLang="en-US" sz="2400" dirty="0"/>
              <a:t>解析</a:t>
            </a:r>
            <a:r>
              <a:rPr lang="en-US" altLang="zh-CN" sz="2400" dirty="0"/>
              <a:t>】</a:t>
            </a:r>
            <a:r>
              <a:rPr lang="zh-CN" altLang="en-US" sz="2400" dirty="0"/>
              <a:t>雾霾天气一般在静风或无风、大气比较稳定的情况下容易产生，图①中气温随海拔升高而降低，此种情况下空气对流运动显著，雾霾最容易扩散。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35812" y="332656"/>
            <a:ext cx="11176812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四川文综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雾是悬浮在近地面空气中的大量微小水滴或冰晶。下图为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中国年平均雾日空间分布图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据材料回答</a:t>
            </a:r>
            <a:r>
              <a:rPr lang="en-US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题。</a:t>
            </a:r>
            <a:endParaRPr lang="zh-CN" altLang="zh-CN" sz="1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194" name="Picture 2" descr="JS220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158" y="1478179"/>
            <a:ext cx="5371842" cy="412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07594" y="1512568"/>
            <a:ext cx="1117681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下列地区中，年平均雾日最少的是</a:t>
            </a:r>
            <a:endParaRPr lang="zh-CN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福建沿海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	</a:t>
            </a:r>
            <a:r>
              <a:rPr lang="en-US" altLang="zh-CN" sz="24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          B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黄海沿岸</a:t>
            </a:r>
            <a:endParaRPr lang="zh-CN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准噶尔盆地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	D.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柴达木盆地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94492" y="3260591"/>
            <a:ext cx="632566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与四川盆地内秋、冬季节多雾直接相关的是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秦岭阻挡冷空气南下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气流受地形阻挡抬升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受暖湿的东南季风影响显著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晴朗的夜间地面辐射冷却强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6" y="16586"/>
            <a:ext cx="12191999" cy="475252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2450668" y="16586"/>
            <a:ext cx="7416824" cy="1216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098740" y="1384738"/>
            <a:ext cx="7776864" cy="12884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098740" y="2824896"/>
            <a:ext cx="4032448" cy="7920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522676" y="3768677"/>
            <a:ext cx="9696398" cy="10004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 charset="-122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JS22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895" y="1124744"/>
            <a:ext cx="5663941" cy="498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9"/>
          <p:cNvSpPr txBox="1"/>
          <p:nvPr/>
        </p:nvSpPr>
        <p:spPr>
          <a:xfrm>
            <a:off x="119336" y="1023843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lang="zh-CN" altLang="en-US" sz="4500" b="1" dirty="0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</a:rPr>
              <a:t>√</a:t>
            </a:r>
          </a:p>
        </p:txBody>
      </p:sp>
      <p:sp>
        <p:nvSpPr>
          <p:cNvPr id="2" name="矩形 1"/>
          <p:cNvSpPr/>
          <p:nvPr/>
        </p:nvSpPr>
        <p:spPr>
          <a:xfrm>
            <a:off x="335360" y="77430"/>
            <a:ext cx="116652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(</a:t>
            </a:r>
            <a:r>
              <a:rPr lang="zh-CN" altLang="en-US" sz="2400" dirty="0"/>
              <a:t>山东文综</a:t>
            </a:r>
            <a:r>
              <a:rPr lang="en-US" altLang="zh-CN" sz="2400" dirty="0"/>
              <a:t>)</a:t>
            </a:r>
            <a:r>
              <a:rPr lang="zh-CN" altLang="en-US" sz="2400" dirty="0"/>
              <a:t>下图为北半球中纬度某地某日</a:t>
            </a:r>
            <a:r>
              <a:rPr lang="en-US" altLang="zh-CN" sz="2400" dirty="0"/>
              <a:t>5</a:t>
            </a:r>
            <a:r>
              <a:rPr lang="zh-CN" altLang="en-US" sz="2400" dirty="0"/>
              <a:t>次观测到的“近地面气温垂直分布示意图”。当日天气晴朗，日出时间为</a:t>
            </a:r>
            <a:r>
              <a:rPr lang="en-US" altLang="zh-CN" sz="2400" dirty="0"/>
              <a:t>5</a:t>
            </a:r>
            <a:r>
              <a:rPr lang="zh-CN" altLang="en-US" sz="2400" dirty="0"/>
              <a:t>时。读图回答下题。</a:t>
            </a:r>
          </a:p>
          <a:p>
            <a:r>
              <a:rPr lang="en-US" altLang="zh-CN" sz="2400" dirty="0"/>
              <a:t>5.</a:t>
            </a:r>
            <a:r>
              <a:rPr lang="zh-CN" altLang="en-US" sz="2400" dirty="0"/>
              <a:t>由图中信息可分析出</a:t>
            </a:r>
          </a:p>
          <a:p>
            <a:r>
              <a:rPr lang="en-US" altLang="zh-CN" sz="2400" dirty="0"/>
              <a:t>A.5</a:t>
            </a:r>
            <a:r>
              <a:rPr lang="zh-CN" altLang="en-US" sz="2400" dirty="0"/>
              <a:t>时、</a:t>
            </a:r>
            <a:r>
              <a:rPr lang="en-US" altLang="zh-CN" sz="2400" dirty="0"/>
              <a:t>20</a:t>
            </a:r>
            <a:r>
              <a:rPr lang="zh-CN" altLang="en-US" sz="2400" dirty="0"/>
              <a:t>时大气较稳定</a:t>
            </a:r>
          </a:p>
          <a:p>
            <a:r>
              <a:rPr lang="en-US" altLang="zh-CN" sz="2400" dirty="0"/>
              <a:t>B.12</a:t>
            </a:r>
            <a:r>
              <a:rPr lang="zh-CN" altLang="en-US" sz="2400" dirty="0"/>
              <a:t>时、</a:t>
            </a:r>
            <a:r>
              <a:rPr lang="en-US" altLang="zh-CN" sz="2400" dirty="0"/>
              <a:t>15</a:t>
            </a:r>
            <a:r>
              <a:rPr lang="zh-CN" altLang="en-US" sz="2400" dirty="0"/>
              <a:t>时出现逆温现象</a:t>
            </a:r>
          </a:p>
          <a:p>
            <a:r>
              <a:rPr lang="en-US" altLang="zh-CN" sz="2400" dirty="0"/>
              <a:t>C.</a:t>
            </a:r>
            <a:r>
              <a:rPr lang="zh-CN" altLang="en-US" sz="2400" dirty="0"/>
              <a:t>大气热量直接来自太阳辐射</a:t>
            </a:r>
          </a:p>
          <a:p>
            <a:r>
              <a:rPr lang="en-US" altLang="zh-CN" sz="2400" dirty="0"/>
              <a:t>D.</a:t>
            </a:r>
            <a:r>
              <a:rPr lang="zh-CN" altLang="en-US" sz="2400" dirty="0"/>
              <a:t>气温日较差自下而上增大</a:t>
            </a:r>
          </a:p>
        </p:txBody>
      </p:sp>
      <p:sp>
        <p:nvSpPr>
          <p:cNvPr id="3" name="矩形 2"/>
          <p:cNvSpPr/>
          <p:nvPr/>
        </p:nvSpPr>
        <p:spPr>
          <a:xfrm>
            <a:off x="47328" y="3284984"/>
            <a:ext cx="60502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　对流层气温垂直分布规律是随高度的升高而降低，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气温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下高上低的大气结构有利于对流的发生，若气温随高度升高而升高，或气温的变化垂直递减率小于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℃/km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，则很大几率出现逆温现象，不利于大气的对流，大气较稳定。读图可知，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时出现逆温，大气稳定，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时逆温消失。大气热量主要来自地面辐射；逆温自下而上逐渐消失，也说明这一问题。气温日较差的大小可以通过观察各气温曲线之间的气温差判断，由图可知，下部明显大于上部。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3352" y="116632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的水平分布特征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1705" t="3467" b="3217"/>
          <a:stretch>
            <a:fillRect/>
          </a:stretch>
        </p:blipFill>
        <p:spPr>
          <a:xfrm>
            <a:off x="0" y="1661795"/>
            <a:ext cx="6816725" cy="50628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63352" y="663079"/>
            <a:ext cx="6553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问题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下图为全球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月份等温线分布，试描述其分布特征？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6819265" y="1771015"/>
            <a:ext cx="5336540" cy="47078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FF0000"/>
                </a:solidFill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</a:rPr>
              <a:t>全球：</a:t>
            </a:r>
            <a:r>
              <a:rPr lang="zh-CN" altLang="en-US" sz="2000" b="1" dirty="0"/>
              <a:t>气温由低纬度向高纬度递减。也就是纬度越高，气温越低。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原因：纬度位置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</a:rPr>
              <a:t>海陆间：</a:t>
            </a:r>
            <a:r>
              <a:rPr lang="zh-CN" altLang="en-US" sz="2000" b="1" dirty="0"/>
              <a:t>同纬度地带，夏季气温陆地高于海洋，冬季气温海洋高于陆地。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原因：海陆热力性质差异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b="1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</a:rPr>
              <a:t>3.</a:t>
            </a:r>
            <a:r>
              <a:rPr lang="zh-CN" altLang="en-US" sz="2000" b="1" dirty="0">
                <a:solidFill>
                  <a:srgbClr val="FF0000"/>
                </a:solidFill>
              </a:rPr>
              <a:t>内陆地区：</a:t>
            </a:r>
            <a:r>
              <a:rPr lang="zh-CN" altLang="en-US" sz="2000" b="1" dirty="0"/>
              <a:t>地势（海拔）高的地区气温低，地势（海拔）低的地区气温高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原因：地势高低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b="1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</a:rPr>
              <a:t>4.</a:t>
            </a:r>
            <a:r>
              <a:rPr lang="zh-CN" altLang="en-US" sz="2000" b="1" dirty="0">
                <a:solidFill>
                  <a:srgbClr val="FF0000"/>
                </a:solidFill>
              </a:rPr>
              <a:t>沿海地区：</a:t>
            </a:r>
            <a:r>
              <a:rPr lang="zh-CN" altLang="en-US" sz="2000" b="1" dirty="0"/>
              <a:t>暖流流经海区海水温度较高，寒流流经海区海水温度较低。</a:t>
            </a:r>
            <a:endParaRPr lang="en-US" altLang="zh-CN" sz="2000" b="1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原因：洋流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463804" y="44624"/>
            <a:ext cx="11176812" cy="95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山东文综</a:t>
            </a: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气温的日变化一般表现为最高值出现在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时左右，最低值出现在日出前后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示意某区域某日某时刻的等温线分布。读图，回答下题。</a:t>
            </a:r>
            <a:endParaRPr lang="zh-CN" altLang="zh-CN" sz="9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7170" name="Picture 2" descr="R21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648571"/>
            <a:ext cx="4088412" cy="363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551384" y="1008032"/>
            <a:ext cx="70324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下列时刻中，最有可能出现该等温线分布状况的是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A.6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B.9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C.12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D.14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1343472" y="1488152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lang="zh-CN" altLang="en-US" sz="4500" b="1" dirty="0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</a:rPr>
              <a:t>√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1344" y="2348880"/>
            <a:ext cx="1117681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(1)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审题：你从上述材料中获取和解读到哪些地理信息？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日最高温出现在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时左右，最低温出现在日出前后；由</a:t>
            </a: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等温线</a:t>
            </a:r>
            <a:endParaRPr lang="en-US" altLang="zh-CN" sz="2000" kern="100" dirty="0" smtClean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平直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分布可知，同纬度陆地与海洋气温相同。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(2)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破题：你在解答上题时调用了哪些地理知识？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由大气受热原理可知，近地面大气的热量来自地球表面，海洋与陆地热力性质不同，所以陆地气温与海洋气温变化过程不同，海洋气温变化滞后于陆地气温变化</a:t>
            </a: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13856" y="5013176"/>
            <a:ext cx="1117681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3)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解题：解答上题如何辨别选项？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6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时和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时出现陆地最低气温和最高气温，海洋气温升降幅度小，极值与陆地不同。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12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时太阳辐射强，陆地增温超过海洋，不会相等。日出前后，海洋温度比陆地温度高，日出后海洋和陆地开始升温，陆地升温快，海洋升温慢，大约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9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时左右可能出现陆地和海洋温度相等。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336" y="116632"/>
            <a:ext cx="118093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黑龙江省顶级名校</a:t>
            </a:r>
            <a:r>
              <a:rPr lang="en-US" altLang="zh-CN" sz="2400" dirty="0"/>
              <a:t>2019—2020</a:t>
            </a:r>
            <a:r>
              <a:rPr lang="zh-CN" altLang="en-US" sz="2400" dirty="0"/>
              <a:t>学年高三上学期期中</a:t>
            </a:r>
            <a:r>
              <a:rPr lang="en-US" altLang="zh-CN" sz="2400" dirty="0"/>
              <a:t>】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气象学上，若连续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天的日平均气温一年中的第一次（北半球）均≥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10℃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，则以第一天作为春季的开始日。读“我国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30°N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附近各地入春时间分布示意图”。</a:t>
            </a:r>
            <a:r>
              <a:rPr lang="zh-CN" altLang="en-US" sz="2400" dirty="0"/>
              <a:t>完成</a:t>
            </a:r>
            <a:r>
              <a:rPr lang="en-US" altLang="zh-CN" sz="2400" dirty="0"/>
              <a:t>12—13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地与②地入春时间分别可能是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．①为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．①为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．①为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．①为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造成</a:t>
            </a:r>
            <a:r>
              <a:rPr lang="zh-CN" altLang="en-US" sz="2400" dirty="0"/>
              <a:t>③、④两地入春时间差异的原因是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．③地太阳高度较大，获得太阳辐射多	</a:t>
            </a:r>
            <a:endParaRPr lang="en-US" altLang="zh-CN" sz="2400" dirty="0"/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．③地大陆性较强，春季气温回升较快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．④地受海洋调节作用强，春季来得早	</a:t>
            </a:r>
            <a:endParaRPr lang="en-US" altLang="zh-CN" sz="2400" dirty="0"/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．④地受冬季风影响较大，春季来得晚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1268760"/>
            <a:ext cx="6312024" cy="185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120307" y="5417929"/>
            <a:ext cx="11996670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【</a:t>
            </a:r>
            <a:r>
              <a:rPr lang="zh-CN" altLang="en-US" sz="2000" dirty="0"/>
              <a:t>解析</a:t>
            </a:r>
            <a:r>
              <a:rPr lang="en-US" altLang="zh-CN" sz="2000" dirty="0"/>
              <a:t>】</a:t>
            </a:r>
            <a:r>
              <a:rPr lang="en-US" altLang="zh-CN" sz="2000" dirty="0" smtClean="0"/>
              <a:t>1.</a:t>
            </a:r>
            <a:r>
              <a:rPr lang="zh-CN" altLang="en-US" sz="2000" dirty="0" smtClean="0"/>
              <a:t>由</a:t>
            </a:r>
            <a:r>
              <a:rPr lang="zh-CN" altLang="en-US" sz="2000" dirty="0"/>
              <a:t>图中经纬度定位可知①、②分别为青藏高原和四川盆地。受地形影响，①海拔高气温较低，入春迟；②地位于四川盆地，北部有高大山脉阻挡冷空气，气温较高，入春早。结合图中所示的同纬度其他地区的入春时间可知，①入春时间应迟于川西高原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日，②地则早于</a:t>
            </a:r>
            <a:r>
              <a:rPr lang="en-US" altLang="zh-CN" sz="2000" dirty="0"/>
              <a:t>2</a:t>
            </a:r>
            <a:r>
              <a:rPr lang="zh-CN" altLang="en-US" sz="2000" dirty="0"/>
              <a:t>月</a:t>
            </a:r>
            <a:r>
              <a:rPr lang="en-US" altLang="zh-CN" sz="2000" dirty="0"/>
              <a:t>25</a:t>
            </a:r>
            <a:r>
              <a:rPr lang="zh-CN" altLang="en-US" sz="2000" dirty="0"/>
              <a:t>日。故本题正确答案为</a:t>
            </a:r>
            <a:r>
              <a:rPr lang="en-US" altLang="zh-CN" sz="2000" dirty="0"/>
              <a:t>A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344" y="407561"/>
            <a:ext cx="118093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黑龙江省顶级名校</a:t>
            </a:r>
            <a:r>
              <a:rPr lang="en-US" altLang="zh-CN" sz="2400" dirty="0"/>
              <a:t>2019—2020</a:t>
            </a:r>
            <a:r>
              <a:rPr lang="zh-CN" altLang="en-US" sz="2400" dirty="0"/>
              <a:t>学年高三上学期期中</a:t>
            </a:r>
            <a:r>
              <a:rPr lang="en-US" altLang="zh-CN" sz="2400" dirty="0"/>
              <a:t>】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气象学上，若连续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天的日平均气温一年中的第一次（北半球）均≥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，则以第一天作为春季的开始日。</a:t>
            </a:r>
            <a:r>
              <a:rPr lang="zh-CN" altLang="en-US" sz="2400" dirty="0"/>
              <a:t>读“我国</a:t>
            </a:r>
            <a:r>
              <a:rPr lang="en-US" altLang="zh-CN" sz="2400" dirty="0"/>
              <a:t>30°N</a:t>
            </a:r>
            <a:r>
              <a:rPr lang="zh-CN" altLang="en-US" sz="2400" dirty="0"/>
              <a:t>附近各地入春时间分布示意图”。完成</a:t>
            </a:r>
            <a:r>
              <a:rPr lang="en-US" altLang="zh-CN" sz="2400" dirty="0"/>
              <a:t>12—13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地与②地入春时间分别可能是</a:t>
            </a:r>
          </a:p>
          <a:p>
            <a:r>
              <a:rPr lang="en-US" altLang="zh-CN" sz="2400" dirty="0" smtClean="0"/>
              <a:t>A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C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造成</a:t>
            </a:r>
            <a:r>
              <a:rPr lang="zh-CN" altLang="en-US" sz="2400" dirty="0"/>
              <a:t>③、④两地入春时间差异的原因是</a:t>
            </a:r>
          </a:p>
          <a:p>
            <a:r>
              <a:rPr lang="en-US" altLang="zh-CN" sz="2400" dirty="0" smtClean="0"/>
              <a:t>A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③</a:t>
            </a:r>
            <a:r>
              <a:rPr lang="zh-CN" altLang="en-US" sz="2400" dirty="0"/>
              <a:t>地太阳高度较大，获得太阳辐射多	</a:t>
            </a:r>
            <a:endParaRPr lang="en-US" altLang="zh-CN" sz="2400" dirty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③</a:t>
            </a:r>
            <a:r>
              <a:rPr lang="zh-CN" altLang="en-US" sz="2400" dirty="0"/>
              <a:t>地大陆性较强，春季气温回升较快</a:t>
            </a:r>
          </a:p>
          <a:p>
            <a:r>
              <a:rPr lang="en-US" altLang="zh-CN" sz="2400" dirty="0" smtClean="0"/>
              <a:t>C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④</a:t>
            </a:r>
            <a:r>
              <a:rPr lang="zh-CN" altLang="en-US" sz="2400" dirty="0"/>
              <a:t>地受海洋调节作用强，春季来得早	</a:t>
            </a:r>
            <a:endParaRPr lang="en-US" altLang="zh-CN" sz="2400" dirty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④</a:t>
            </a:r>
            <a:r>
              <a:rPr lang="zh-CN" altLang="en-US" sz="2400" dirty="0"/>
              <a:t>地受冬季风影响较大，春季来得晚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63" y="1556792"/>
            <a:ext cx="6381017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47328" y="5219145"/>
            <a:ext cx="12144672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解析</a:t>
            </a:r>
            <a:r>
              <a:rPr lang="en-US" altLang="zh-CN" sz="2000" dirty="0" smtClean="0"/>
              <a:t>2.</a:t>
            </a:r>
            <a:r>
              <a:rPr lang="zh-CN" altLang="en-US" sz="2000" dirty="0" smtClean="0"/>
              <a:t>结合</a:t>
            </a:r>
            <a:r>
              <a:rPr lang="zh-CN" altLang="en-US" sz="2000" dirty="0"/>
              <a:t>图示信息和所学可知，③地入春时间在</a:t>
            </a:r>
            <a:r>
              <a:rPr lang="en-US" altLang="zh-CN" sz="2000" dirty="0"/>
              <a:t>2</a:t>
            </a:r>
            <a:r>
              <a:rPr lang="zh-CN" altLang="en-US" sz="2000" dirty="0"/>
              <a:t>月</a:t>
            </a:r>
            <a:r>
              <a:rPr lang="en-US" altLang="zh-CN" sz="2000" dirty="0"/>
              <a:t>25</a:t>
            </a:r>
            <a:r>
              <a:rPr lang="zh-CN" altLang="en-US" sz="2000" dirty="0"/>
              <a:t>日到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日之间，②→③→④入春逐渐推迟，所以④地入春时间在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之后。③④地纬度相同，太阳高度相同，获得太阳辐射差异不大，</a:t>
            </a:r>
            <a:r>
              <a:rPr lang="en-US" altLang="zh-CN" sz="2000" dirty="0"/>
              <a:t>A</a:t>
            </a:r>
            <a:r>
              <a:rPr lang="zh-CN" altLang="en-US" sz="2000" dirty="0"/>
              <a:t>项错误；③地地处陆地内部，大陆性较强，春季陆地比热容小，气温回升较快，入春早，④地位于东部沿海，海水比热容大，春季升温慢，入春迟。</a:t>
            </a:r>
            <a:r>
              <a:rPr lang="en-US" altLang="zh-CN" sz="2000" dirty="0"/>
              <a:t>B</a:t>
            </a:r>
            <a:r>
              <a:rPr lang="zh-CN" altLang="en-US" sz="2000" dirty="0"/>
              <a:t>项正确；④地受海洋调节作用强，升温慢，春季来得晚，</a:t>
            </a:r>
            <a:r>
              <a:rPr lang="en-US" altLang="zh-CN" sz="2000" dirty="0"/>
              <a:t>C</a:t>
            </a:r>
            <a:r>
              <a:rPr lang="zh-CN" altLang="en-US" sz="2000" dirty="0"/>
              <a:t>项错误；③④两地都位于我国第三阶梯，纬度相同，受冬季风影响差异不大，</a:t>
            </a:r>
            <a:r>
              <a:rPr lang="en-US" altLang="zh-CN" sz="2000" dirty="0"/>
              <a:t>D</a:t>
            </a:r>
            <a:r>
              <a:rPr lang="zh-CN" altLang="en-US" sz="2000" dirty="0"/>
              <a:t>项错误。综合分析，</a:t>
            </a:r>
            <a:r>
              <a:rPr lang="en-US" altLang="zh-CN" sz="2000" dirty="0"/>
              <a:t>B</a:t>
            </a:r>
            <a:r>
              <a:rPr lang="zh-CN" altLang="en-US" sz="2000" dirty="0"/>
              <a:t>项正确。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3811" y="0"/>
            <a:ext cx="1185388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（湖南省益阳市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学年高三上学期期末考试）下图为江苏省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月平均气温分布图。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据此完成下面小题。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影响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江苏省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月平均气温分布的主导因素是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．纬度位置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．地形格局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．海陆位置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．洋流流向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等温线向东北方向凸出的原因是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．南京位于民江谷地，河谷阻挡冬季风	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．南京距离海洋较近，受海洋影响较大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．南京城市规模大，热岛效应十分显著	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．南京以轻工业为主，生产废热排放少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推断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江苏省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月等温线的分布特点是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．南北走向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．向东凸出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．向西凸出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．东西走向</a:t>
            </a:r>
          </a:p>
        </p:txBody>
      </p:sp>
      <p:sp>
        <p:nvSpPr>
          <p:cNvPr id="3" name="矩形 2"/>
          <p:cNvSpPr/>
          <p:nvPr/>
        </p:nvSpPr>
        <p:spPr>
          <a:xfrm>
            <a:off x="64754" y="4164112"/>
            <a:ext cx="12127246" cy="25545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答案</a:t>
            </a:r>
            <a:r>
              <a:rPr lang="en-US" altLang="zh-CN" sz="2000" dirty="0" smtClean="0"/>
              <a:t>】1.C  2.C  3.D</a:t>
            </a:r>
            <a:endParaRPr lang="en-US" altLang="zh-CN" sz="2000" dirty="0"/>
          </a:p>
          <a:p>
            <a:r>
              <a:rPr lang="en-US" altLang="zh-CN" sz="2000" dirty="0" smtClean="0"/>
              <a:t>1.</a:t>
            </a:r>
            <a:r>
              <a:rPr lang="zh-CN" altLang="en-US" sz="2000" dirty="0" smtClean="0"/>
              <a:t>读</a:t>
            </a:r>
            <a:r>
              <a:rPr lang="zh-CN" altLang="en-US" sz="2000" dirty="0"/>
              <a:t>图可知江苏省</a:t>
            </a:r>
            <a:r>
              <a:rPr lang="en-US" altLang="zh-CN" sz="2000" dirty="0"/>
              <a:t>4</a:t>
            </a:r>
            <a:r>
              <a:rPr lang="zh-CN" altLang="en-US" sz="2000" dirty="0"/>
              <a:t>月的气温几乎是从沿海地带向内陆递减的，即气温是从东向西递减的，可知影响江苏省</a:t>
            </a:r>
            <a:r>
              <a:rPr lang="en-US" altLang="zh-CN" sz="2000" dirty="0"/>
              <a:t>4</a:t>
            </a:r>
            <a:r>
              <a:rPr lang="zh-CN" altLang="en-US" sz="2000" dirty="0"/>
              <a:t>月平均气温分布的主导因素是海陆位置，可知</a:t>
            </a:r>
            <a:r>
              <a:rPr lang="en-US" altLang="zh-CN" sz="2000" dirty="0"/>
              <a:t>ABD</a:t>
            </a:r>
            <a:r>
              <a:rPr lang="zh-CN" altLang="en-US" sz="2000" dirty="0"/>
              <a:t>错误，故</a:t>
            </a:r>
            <a:r>
              <a:rPr lang="en-US" altLang="zh-CN" sz="2000" dirty="0"/>
              <a:t>C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C</a:t>
            </a:r>
            <a:r>
              <a:rPr lang="zh-CN" altLang="en-US" sz="2000" dirty="0"/>
              <a:t>。</a:t>
            </a:r>
          </a:p>
          <a:p>
            <a:r>
              <a:rPr lang="en-US" altLang="zh-CN" sz="2000" dirty="0" smtClean="0"/>
              <a:t>2.</a:t>
            </a:r>
            <a:r>
              <a:rPr lang="zh-CN" altLang="en-US" sz="2000" dirty="0" smtClean="0"/>
              <a:t>由</a:t>
            </a:r>
            <a:r>
              <a:rPr lang="zh-CN" altLang="en-US" sz="2000" dirty="0"/>
              <a:t>材料信息可知图中的等温线是</a:t>
            </a:r>
            <a:r>
              <a:rPr lang="en-US" altLang="zh-CN" sz="2000" dirty="0"/>
              <a:t>4</a:t>
            </a:r>
            <a:r>
              <a:rPr lang="zh-CN" altLang="en-US" sz="2000" dirty="0"/>
              <a:t>月份的，此时该区域没有冬季风，故</a:t>
            </a:r>
            <a:r>
              <a:rPr lang="en-US" altLang="zh-CN" sz="2000" dirty="0"/>
              <a:t>A</a:t>
            </a:r>
            <a:r>
              <a:rPr lang="zh-CN" altLang="en-US" sz="2000" dirty="0"/>
              <a:t>错误；南京城市规模比较大，生产生活过程中产生的废热比较多，热岛效应较显著，因此南京附近的</a:t>
            </a:r>
            <a:r>
              <a:rPr lang="en-US" altLang="zh-CN" sz="2000" dirty="0"/>
              <a:t>17℃</a:t>
            </a:r>
            <a:r>
              <a:rPr lang="zh-CN" altLang="en-US" sz="2000" dirty="0"/>
              <a:t>等温线向东北方向凸出，可知</a:t>
            </a:r>
            <a:r>
              <a:rPr lang="en-US" altLang="zh-CN" sz="2000" dirty="0"/>
              <a:t>BD</a:t>
            </a:r>
            <a:r>
              <a:rPr lang="zh-CN" altLang="en-US" sz="2000" dirty="0"/>
              <a:t>错误，故</a:t>
            </a:r>
            <a:r>
              <a:rPr lang="en-US" altLang="zh-CN" sz="2000" dirty="0"/>
              <a:t>C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C</a:t>
            </a:r>
            <a:r>
              <a:rPr lang="zh-CN" altLang="en-US" sz="2000" dirty="0"/>
              <a:t>。</a:t>
            </a:r>
          </a:p>
          <a:p>
            <a:r>
              <a:rPr lang="en-US" altLang="zh-CN" sz="2000" dirty="0" smtClean="0"/>
              <a:t>3.</a:t>
            </a:r>
            <a:r>
              <a:rPr lang="zh-CN" altLang="en-US" sz="2000" dirty="0" smtClean="0"/>
              <a:t>冬季</a:t>
            </a:r>
            <a:r>
              <a:rPr lang="zh-CN" altLang="en-US" sz="2000" dirty="0"/>
              <a:t>我国普遍处于低温的状态，江苏省</a:t>
            </a:r>
            <a:r>
              <a:rPr lang="en-US" altLang="zh-CN" sz="2000" dirty="0"/>
              <a:t>1</a:t>
            </a:r>
            <a:r>
              <a:rPr lang="zh-CN" altLang="en-US" sz="2000" dirty="0"/>
              <a:t>月等温线的分布受到纬度因素即太阳高度的影响比较显著，因此可知江苏省</a:t>
            </a:r>
            <a:r>
              <a:rPr lang="en-US" altLang="zh-CN" sz="2000" dirty="0"/>
              <a:t>1</a:t>
            </a:r>
            <a:r>
              <a:rPr lang="zh-CN" altLang="en-US" sz="2000" dirty="0"/>
              <a:t>月等温线的分布大致是与纬线平行的，即是东西走向的，可知</a:t>
            </a:r>
            <a:r>
              <a:rPr lang="en-US" altLang="zh-CN" sz="2000" dirty="0"/>
              <a:t>ABC</a:t>
            </a:r>
            <a:r>
              <a:rPr lang="zh-CN" altLang="en-US" sz="2000" dirty="0"/>
              <a:t>错误，</a:t>
            </a:r>
            <a:r>
              <a:rPr lang="en-US" altLang="zh-CN" sz="2000" dirty="0"/>
              <a:t>D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D</a:t>
            </a:r>
            <a:r>
              <a:rPr lang="zh-CN" altLang="en-US" sz="2000" dirty="0"/>
              <a:t>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570" y="692696"/>
            <a:ext cx="4407522" cy="32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3_Office 主题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buFontTx/>
          <a:buNone/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</a:ln>
      </a:spPr>
      <a:bodyPr>
        <a:spAutoFit/>
      </a:bodyPr>
      <a:lstStyle>
        <a:defPPr>
          <a:lnSpc>
            <a:spcPct val="140000"/>
          </a:lnSpc>
          <a:spcAft>
            <a:spcPts val="0"/>
          </a:spcAft>
          <a:defRPr sz="2800" b="1" kern="100" dirty="0">
            <a:solidFill>
              <a:srgbClr val="C00000"/>
            </a:solidFill>
            <a:latin typeface="Times New Roman" panose="02020603050405020304"/>
            <a:ea typeface="华文细黑" panose="02010600040101010101" charset="-122"/>
            <a:cs typeface="Times New Roman" panose="02020603050405020304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3411</Words>
  <Application>Microsoft Office PowerPoint</Application>
  <PresentationFormat>宽屏</PresentationFormat>
  <Paragraphs>349</Paragraphs>
  <Slides>33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黑体</vt:lpstr>
      <vt:lpstr>华康俪金黑W8(P)</vt:lpstr>
      <vt:lpstr>华文行楷</vt:lpstr>
      <vt:lpstr>华文细黑</vt:lpstr>
      <vt:lpstr>楷体</vt:lpstr>
      <vt:lpstr>楷体_GB2312</vt:lpstr>
      <vt:lpstr>宋体</vt:lpstr>
      <vt:lpstr>微软雅黑</vt:lpstr>
      <vt:lpstr>Arial</vt:lpstr>
      <vt:lpstr>Arial Black</vt:lpstr>
      <vt:lpstr>Calibri</vt:lpstr>
      <vt:lpstr>Courier New</vt:lpstr>
      <vt:lpstr>Franklin Gothic Book</vt:lpstr>
      <vt:lpstr>Franklin Gothic Medium</vt:lpstr>
      <vt:lpstr>Times New Roman</vt:lpstr>
      <vt:lpstr>3_Office 主题</vt:lpstr>
      <vt:lpstr>6_Office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程辰</dc:creator>
  <cp:lastModifiedBy>程辰</cp:lastModifiedBy>
  <cp:revision>1126</cp:revision>
  <dcterms:created xsi:type="dcterms:W3CDTF">2015-01-30T02:19:00Z</dcterms:created>
  <dcterms:modified xsi:type="dcterms:W3CDTF">2020-09-13T23:54:15Z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
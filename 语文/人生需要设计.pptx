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3" r:id="rId6"/>
    <p:sldId id="264" r:id="rId7"/>
    <p:sldId id="266" r:id="rId8"/>
    <p:sldId id="261" r:id="rId9"/>
    <p:sldId id="262" r:id="rId10"/>
    <p:sldId id="271" r:id="rId11"/>
    <p:sldId id="272" r:id="rId12"/>
    <p:sldId id="273" r:id="rId13"/>
    <p:sldId id="274" r:id="rId14"/>
    <p:sldId id="267" r:id="rId15"/>
    <p:sldId id="275" r:id="rId16"/>
    <p:sldId id="269" r:id="rId17"/>
    <p:sldId id="270" r:id="rId1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12AA-79D4-4F7E-B696-32DF48FE5508}" type="datetimeFigureOut">
              <a:rPr lang="zh-CN" altLang="en-US" smtClean="0"/>
              <a:pPr/>
              <a:t>2020/8/14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72202-656B-49B8-A5D6-44DDAA83FC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12AA-79D4-4F7E-B696-32DF48FE5508}" type="datetimeFigureOut">
              <a:rPr lang="zh-CN" altLang="en-US" smtClean="0"/>
              <a:pPr/>
              <a:t>2020/8/14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72202-656B-49B8-A5D6-44DDAA83FC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12AA-79D4-4F7E-B696-32DF48FE5508}" type="datetimeFigureOut">
              <a:rPr lang="zh-CN" altLang="en-US" smtClean="0"/>
              <a:pPr/>
              <a:t>2020/8/14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72202-656B-49B8-A5D6-44DDAA83FC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12AA-79D4-4F7E-B696-32DF48FE5508}" type="datetimeFigureOut">
              <a:rPr lang="zh-CN" altLang="en-US" smtClean="0"/>
              <a:pPr/>
              <a:t>2020/8/14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72202-656B-49B8-A5D6-44DDAA83FC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12AA-79D4-4F7E-B696-32DF48FE5508}" type="datetimeFigureOut">
              <a:rPr lang="zh-CN" altLang="en-US" smtClean="0"/>
              <a:pPr/>
              <a:t>2020/8/14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72202-656B-49B8-A5D6-44DDAA83FC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12AA-79D4-4F7E-B696-32DF48FE5508}" type="datetimeFigureOut">
              <a:rPr lang="zh-CN" altLang="en-US" smtClean="0"/>
              <a:pPr/>
              <a:t>2020/8/14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72202-656B-49B8-A5D6-44DDAA83FC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12AA-79D4-4F7E-B696-32DF48FE5508}" type="datetimeFigureOut">
              <a:rPr lang="zh-CN" altLang="en-US" smtClean="0"/>
              <a:pPr/>
              <a:t>2020/8/14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72202-656B-49B8-A5D6-44DDAA83FC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12AA-79D4-4F7E-B696-32DF48FE5508}" type="datetimeFigureOut">
              <a:rPr lang="zh-CN" altLang="en-US" smtClean="0"/>
              <a:pPr/>
              <a:t>2020/8/14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72202-656B-49B8-A5D6-44DDAA83FC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12AA-79D4-4F7E-B696-32DF48FE5508}" type="datetimeFigureOut">
              <a:rPr lang="zh-CN" altLang="en-US" smtClean="0"/>
              <a:pPr/>
              <a:t>2020/8/14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72202-656B-49B8-A5D6-44DDAA83FC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12AA-79D4-4F7E-B696-32DF48FE5508}" type="datetimeFigureOut">
              <a:rPr lang="zh-CN" altLang="en-US" smtClean="0"/>
              <a:pPr/>
              <a:t>2020/8/14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72202-656B-49B8-A5D6-44DDAA83FC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D12AA-79D4-4F7E-B696-32DF48FE5508}" type="datetimeFigureOut">
              <a:rPr lang="zh-CN" altLang="en-US" smtClean="0"/>
              <a:pPr/>
              <a:t>2020/8/14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72202-656B-49B8-A5D6-44DDAA83FC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7D12AA-79D4-4F7E-B696-32DF48FE5508}" type="datetimeFigureOut">
              <a:rPr lang="zh-CN" altLang="en-US" smtClean="0"/>
              <a:pPr/>
              <a:t>2020/8/14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F72202-656B-49B8-A5D6-44DDAA83FC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58" y="285728"/>
            <a:ext cx="8229600" cy="5840435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zh-CN" altLang="en-US" sz="3300" b="1" dirty="0" smtClean="0">
                <a:latin typeface="华文楷体" pitchFamily="2" charset="-122"/>
                <a:ea typeface="华文楷体" pitchFamily="2" charset="-122"/>
              </a:rPr>
              <a:t>作文训练题一</a:t>
            </a:r>
            <a:endParaRPr lang="zh-CN" altLang="en-US" sz="3300" b="1" dirty="0">
              <a:latin typeface="华文楷体" pitchFamily="2" charset="-122"/>
              <a:ea typeface="华文楷体" pitchFamily="2" charset="-122"/>
            </a:endParaRPr>
          </a:p>
          <a:p>
            <a:pPr>
              <a:buNone/>
            </a:pP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阅读下面的材料，根据要求写作。</a:t>
            </a:r>
          </a:p>
          <a:p>
            <a:pPr>
              <a:buNone/>
            </a:pP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          有人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认为，精彩的人生需要设计，我们应该先想好自己要过怎样的人生，并以此确定自己前进的道路，即对自己未来的发展作出一种预见性的设计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;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也有人认为，对于人生，与其执着于设计自己的未来，不如努力让自己拥有更多种可能，因为人生的精彩之处就在于不确定性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。对此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，你怎么看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?</a:t>
            </a:r>
            <a:endParaRPr lang="zh-CN" altLang="en-US" b="1" dirty="0">
              <a:latin typeface="华文楷体" pitchFamily="2" charset="-122"/>
              <a:ea typeface="华文楷体" pitchFamily="2" charset="-122"/>
            </a:endParaRPr>
          </a:p>
          <a:p>
            <a:pPr>
              <a:buNone/>
            </a:pP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         请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结合材料内容，面向本校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(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统称为“致远中学”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)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同学写一篇演讲稿，就“人生是否需要设计”这一话题，谈谈你的认识与思考。</a:t>
            </a:r>
          </a:p>
          <a:p>
            <a:pPr>
              <a:buNone/>
            </a:pP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        要求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: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自拟标题，自选角度，确定立意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;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不要套作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,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不得抄袭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;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不得泄露个人信息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;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不少于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800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字。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14290"/>
            <a:ext cx="8229600" cy="591187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altLang="zh-CN" b="1" dirty="0">
                <a:latin typeface="华文楷体" pitchFamily="2" charset="-122"/>
                <a:ea typeface="华文楷体" pitchFamily="2" charset="-122"/>
              </a:rPr>
              <a:t>【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思路点拨</a:t>
            </a:r>
            <a:r>
              <a:rPr lang="en-US" altLang="zh-CN" b="1" dirty="0">
                <a:latin typeface="华文楷体" pitchFamily="2" charset="-122"/>
                <a:ea typeface="华文楷体" pitchFamily="2" charset="-122"/>
              </a:rPr>
              <a:t>】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1.</a:t>
            </a:r>
            <a:r>
              <a:rPr lang="zh-CN" alt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认识题型：材料</a:t>
            </a:r>
            <a:r>
              <a:rPr 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+</a:t>
            </a:r>
            <a:r>
              <a:rPr lang="zh-CN" alt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情境</a:t>
            </a:r>
            <a:r>
              <a:rPr 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+</a:t>
            </a:r>
            <a:r>
              <a:rPr lang="zh-CN" alt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任务驱动</a:t>
            </a:r>
          </a:p>
          <a:p>
            <a:pPr>
              <a:buNone/>
            </a:pP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 （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1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）材料：</a:t>
            </a:r>
            <a:r>
              <a:rPr lang="zh-CN" alt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材料提出两种观点，且观点针锋相对，正方和反方式的存在。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一是人生需要设计，“对自己未来的发展作出一种预见性的设计”；一是人生不需要设计，“因为人生的精彩之处就在于不确定性”。</a:t>
            </a:r>
          </a:p>
          <a:p>
            <a:pPr>
              <a:buNone/>
            </a:pP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（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2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）情境：面向本校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(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统称为“致远中学”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)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同学写一篇演讲稿。</a:t>
            </a:r>
          </a:p>
          <a:p>
            <a:pPr>
              <a:buNone/>
            </a:pP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（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3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）任务：“人生是否需要设计”主题演讲。</a:t>
            </a:r>
          </a:p>
          <a:p>
            <a:pPr>
              <a:buNone/>
            </a:pP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小提醒：题目中的“致远中学”，可以在文中以适当的方式展现出来，</a:t>
            </a:r>
            <a:r>
              <a:rPr lang="zh-CN" alt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演讲稿的文体特征要明显，结尾不要加姓名和日期，这一点有别书信。</a:t>
            </a:r>
          </a:p>
          <a:p>
            <a:endParaRPr lang="zh-CN" altLang="en-US" b="1" dirty="0">
              <a:latin typeface="华文楷体" pitchFamily="2" charset="-122"/>
              <a:ea typeface="华文楷体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85728"/>
            <a:ext cx="8229600" cy="5840435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2.</a:t>
            </a:r>
            <a:r>
              <a:rPr lang="zh-CN" alt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确定立意：选取最顺手的立意</a:t>
            </a:r>
          </a:p>
          <a:p>
            <a:pPr>
              <a:buNone/>
            </a:pP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我们先来看看命题人给出的立意参考：</a:t>
            </a:r>
          </a:p>
          <a:p>
            <a:pPr>
              <a:buNone/>
            </a:pP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    ①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精彩的人生需要设计；②人生不需要设计；③人生既需要设计，更应该享受即兴发挥；等等。</a:t>
            </a:r>
          </a:p>
          <a:p>
            <a:pPr>
              <a:buNone/>
            </a:pP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评价：①②是正反，犹如有人爱有人恨，个性分明；③是中庸。但是从写作的入笔行文难易度角度来讲，①是最容易写的，理由可以说得充分一些。②要想写好难找理由。③有思辩色彩，话题不集中，控制不好就会走偏。</a:t>
            </a:r>
          </a:p>
          <a:p>
            <a:pPr>
              <a:buNone/>
            </a:pP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写第②种观点的同学，作文十之有九说理站不住脚。实践证明剑走偏锋，没有非常之武功是自取灭亡。第②种观点可以写，但那条路不是常人能走。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71480"/>
            <a:ext cx="8229600" cy="5554683"/>
          </a:xfrm>
        </p:spPr>
        <p:txBody>
          <a:bodyPr/>
          <a:lstStyle/>
          <a:p>
            <a:r>
              <a:rPr lang="en-US" altLang="zh-CN" b="1" dirty="0">
                <a:latin typeface="华文楷体" pitchFamily="2" charset="-122"/>
                <a:ea typeface="华文楷体" pitchFamily="2" charset="-122"/>
              </a:rPr>
              <a:t>【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例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1</a:t>
            </a:r>
            <a:r>
              <a:rPr lang="en-US" altLang="zh-CN" b="1" dirty="0">
                <a:latin typeface="华文楷体" pitchFamily="2" charset="-122"/>
                <a:ea typeface="华文楷体" pitchFamily="2" charset="-122"/>
              </a:rPr>
              <a:t>】……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马云没有执著于设计自己的未来，他退过不断的努力，让自己拥有更多的可能，最终走向了成功。他的人生多么精彩啊！未来的不确定性使他对生活更具挑战性（应该“敢于挑战生活”），使他的人生更加精彩。精彩的人生怎么可以挑战呢？</a:t>
            </a:r>
          </a:p>
          <a:p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20" y="285728"/>
            <a:ext cx="8329642" cy="5715040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b="1" dirty="0">
                <a:latin typeface="华文楷体" pitchFamily="2" charset="-122"/>
                <a:ea typeface="华文楷体" pitchFamily="2" charset="-122"/>
              </a:rPr>
              <a:t>【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例</a:t>
            </a:r>
            <a:r>
              <a:rPr lang="en-US" b="1" dirty="0">
                <a:latin typeface="华文楷体" pitchFamily="2" charset="-122"/>
                <a:ea typeface="华文楷体" pitchFamily="2" charset="-122"/>
              </a:rPr>
              <a:t>2</a:t>
            </a:r>
            <a:r>
              <a:rPr lang="en-US" altLang="zh-CN" b="1" dirty="0">
                <a:latin typeface="华文楷体" pitchFamily="2" charset="-122"/>
                <a:ea typeface="华文楷体" pitchFamily="2" charset="-122"/>
              </a:rPr>
              <a:t>】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再者，就算人生真的可以设计，可是我们应该去设计吗？为自己设计一个天衣无缝、精妙绝伦的人生真的有必要吗？著名哲学学康德说过：“人一刻也无法离开当下，也不应该如此。（此处应当多写了一个“不”字）”尊重眼前的这一秒，把此刻的一件事做到极致，做到至善至美，这不是我们应该追求的人生态度吗？我曾见过许多人，他们沉迷于在脑海中为自己设计出所谓的努力，然后便 心满意足于自己的“愤发图强”，好像他们真的做了什么大事似的。毫无疑问，他们的努力永远是将来式，他们将生活的重心与希望放在遥不可及的未来，而对当下熟视无睹，毫无敬意，可以推测的是，他们的生活必然无比空虚与无趣。这也说明了设计人生不过是一件自讨苦吃的傻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857232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3.</a:t>
            </a:r>
            <a:r>
              <a:rPr lang="zh-CN" altLang="en-US" b="1" dirty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紧扣主题：你怎样理解“设计”</a:t>
            </a:r>
          </a:p>
          <a:p>
            <a:pPr>
              <a:buNone/>
            </a:pPr>
            <a:r>
              <a:rPr lang="zh-CN" altLang="en-US" dirty="0" smtClean="0">
                <a:latin typeface="华文楷体" pitchFamily="2" charset="-122"/>
                <a:ea typeface="华文楷体" pitchFamily="2" charset="-122"/>
              </a:rPr>
              <a:t>        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话题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中心词是“设计”。对这一概念的内涵要充分理解，并深入思考。百度设计，得出的解释是：设计是把一种设想通过合理的规划、周密的计划、通过各种方式表达出来的过程。</a:t>
            </a:r>
          </a:p>
          <a:p>
            <a:pPr>
              <a:buNone/>
            </a:pP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        设计</a:t>
            </a:r>
            <a:r>
              <a:rPr lang="zh-CN" altLang="en-US" b="1" dirty="0">
                <a:latin typeface="华文楷体" pitchFamily="2" charset="-122"/>
                <a:ea typeface="华文楷体" pitchFamily="2" charset="-122"/>
              </a:rPr>
              <a:t>就是规划和计划，要做到合理和周密。从广义上来说，人生设计就是对未来人生发展方向作预见性的设定，就是理想追求。从狭义上来说，人生设计师是对自己有的生做合理而周密的规划安排。“我想要什么？我如何去做？”这就是设计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58" y="428604"/>
            <a:ext cx="8229600" cy="5929354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zh-CN" altLang="en-US" sz="3600" b="1" dirty="0">
                <a:latin typeface="华文楷体" pitchFamily="2" charset="-122"/>
                <a:ea typeface="华文楷体" pitchFamily="2" charset="-122"/>
              </a:rPr>
              <a:t>比如</a:t>
            </a:r>
            <a:r>
              <a:rPr lang="en-US" sz="3600" b="1" dirty="0">
                <a:latin typeface="华文楷体" pitchFamily="2" charset="-122"/>
                <a:ea typeface="华文楷体" pitchFamily="2" charset="-122"/>
              </a:rPr>
              <a:t>2020</a:t>
            </a:r>
            <a:r>
              <a:rPr lang="zh-CN" altLang="en-US" sz="3600" b="1" dirty="0">
                <a:latin typeface="华文楷体" pitchFamily="2" charset="-122"/>
                <a:ea typeface="华文楷体" pitchFamily="2" charset="-122"/>
              </a:rPr>
              <a:t>年全国</a:t>
            </a:r>
            <a:r>
              <a:rPr lang="en-US" altLang="zh-CN" sz="3600" b="1" dirty="0">
                <a:latin typeface="华文楷体" pitchFamily="2" charset="-122"/>
                <a:ea typeface="华文楷体" pitchFamily="2" charset="-122"/>
              </a:rPr>
              <a:t>Ⅲ</a:t>
            </a:r>
            <a:r>
              <a:rPr lang="zh-CN" altLang="en-US" sz="3600" b="1" dirty="0">
                <a:latin typeface="华文楷体" pitchFamily="2" charset="-122"/>
                <a:ea typeface="华文楷体" pitchFamily="2" charset="-122"/>
              </a:rPr>
              <a:t>卷作文题目：</a:t>
            </a:r>
          </a:p>
          <a:p>
            <a:pPr>
              <a:buNone/>
            </a:pPr>
            <a:r>
              <a:rPr lang="zh-CN" altLang="en-US" sz="3600" b="1" dirty="0" smtClean="0">
                <a:latin typeface="华文楷体" pitchFamily="2" charset="-122"/>
                <a:ea typeface="华文楷体" pitchFamily="2" charset="-122"/>
              </a:rPr>
              <a:t>         人们</a:t>
            </a:r>
            <a:r>
              <a:rPr lang="zh-CN" altLang="en-US" sz="3600" b="1" dirty="0">
                <a:latin typeface="华文楷体" pitchFamily="2" charset="-122"/>
                <a:ea typeface="华文楷体" pitchFamily="2" charset="-122"/>
              </a:rPr>
              <a:t>用眼睛看他人、看世界，却无法直接看到完整的自己。所以，在人生的旅程中，我们需要寻找各种“镜子”、不断绘制“自画像”来审视自我，尝试回答“我是怎样的人”“我想过怎样的生活”“我能做些什么”“如何生活得更有意义”等重要的问题。</a:t>
            </a:r>
          </a:p>
          <a:p>
            <a:pPr>
              <a:buNone/>
            </a:pPr>
            <a:r>
              <a:rPr lang="zh-CN" altLang="en-US" sz="3600" b="1" dirty="0" smtClean="0">
                <a:latin typeface="华文楷体" pitchFamily="2" charset="-122"/>
                <a:ea typeface="华文楷体" pitchFamily="2" charset="-122"/>
              </a:rPr>
              <a:t>         毕业</a:t>
            </a:r>
            <a:r>
              <a:rPr lang="zh-CN" altLang="en-US" sz="3600" b="1" dirty="0">
                <a:latin typeface="华文楷体" pitchFamily="2" charset="-122"/>
                <a:ea typeface="华文楷体" pitchFamily="2" charset="-122"/>
              </a:rPr>
              <a:t>前，学校请你给即将入学的高一新生写一封信，主题是“如何为自己画好像”，与他们分享自己的感悟与思考。</a:t>
            </a:r>
          </a:p>
          <a:p>
            <a:pPr>
              <a:buNone/>
            </a:pPr>
            <a:r>
              <a:rPr lang="zh-CN" altLang="en-US" sz="3600" b="1" dirty="0" smtClean="0">
                <a:latin typeface="华文楷体" pitchFamily="2" charset="-122"/>
                <a:ea typeface="华文楷体" pitchFamily="2" charset="-122"/>
              </a:rPr>
              <a:t>         要求</a:t>
            </a:r>
            <a:r>
              <a:rPr lang="zh-CN" altLang="en-US" sz="3600" b="1" dirty="0">
                <a:latin typeface="华文楷体" pitchFamily="2" charset="-122"/>
                <a:ea typeface="华文楷体" pitchFamily="2" charset="-122"/>
              </a:rPr>
              <a:t>：结合材料，选好角度，确定立意，自拟标题；不要套作，不得抄袭；不得泄露个人信息；不少于</a:t>
            </a:r>
            <a:r>
              <a:rPr lang="en-US" sz="3600" b="1" dirty="0">
                <a:latin typeface="华文楷体" pitchFamily="2" charset="-122"/>
                <a:ea typeface="华文楷体" pitchFamily="2" charset="-122"/>
              </a:rPr>
              <a:t>800</a:t>
            </a:r>
            <a:r>
              <a:rPr lang="zh-CN" altLang="en-US" sz="3600" b="1" dirty="0">
                <a:latin typeface="华文楷体" pitchFamily="2" charset="-122"/>
                <a:ea typeface="华文楷体" pitchFamily="2" charset="-122"/>
              </a:rPr>
              <a:t>字。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85728"/>
            <a:ext cx="8229600" cy="5840435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altLang="zh-CN" sz="3600" b="1" dirty="0"/>
              <a:t>【</a:t>
            </a:r>
            <a:r>
              <a:rPr lang="zh-CN" altLang="en-US" sz="3600" b="1" dirty="0"/>
              <a:t>精彩标题</a:t>
            </a:r>
            <a:r>
              <a:rPr lang="en-US" altLang="zh-CN" sz="3600" b="1" dirty="0"/>
              <a:t>】</a:t>
            </a:r>
            <a:r>
              <a:rPr lang="zh-CN" altLang="en-US" sz="3600" b="1" dirty="0"/>
              <a:t>（标题取意“人生需要的设计”）</a:t>
            </a:r>
          </a:p>
          <a:p>
            <a:pPr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含设计中心词的：</a:t>
            </a:r>
          </a:p>
          <a:p>
            <a:pPr>
              <a:buNone/>
            </a:pPr>
            <a:r>
              <a:rPr lang="en-US" altLang="zh-CN" b="1" dirty="0" smtClean="0"/>
              <a:t>1</a:t>
            </a:r>
            <a:r>
              <a:rPr lang="zh-CN" altLang="en-US" b="1" dirty="0" smtClean="0"/>
              <a:t>、人生</a:t>
            </a:r>
            <a:r>
              <a:rPr lang="zh-CN" altLang="en-US" b="1" dirty="0"/>
              <a:t>因设计而</a:t>
            </a:r>
            <a:r>
              <a:rPr lang="zh-CN" altLang="en-US" b="1" dirty="0" smtClean="0"/>
              <a:t>精彩</a:t>
            </a:r>
            <a:endParaRPr lang="en-US" altLang="zh-CN" b="1" dirty="0"/>
          </a:p>
          <a:p>
            <a:pPr>
              <a:buNone/>
            </a:pPr>
            <a:r>
              <a:rPr lang="en-US" altLang="zh-CN" b="1" dirty="0" smtClean="0"/>
              <a:t>2</a:t>
            </a:r>
            <a:r>
              <a:rPr lang="zh-CN" altLang="en-US" b="1" dirty="0" smtClean="0"/>
              <a:t>、精彩</a:t>
            </a:r>
            <a:r>
              <a:rPr lang="zh-CN" altLang="en-US" b="1" dirty="0"/>
              <a:t>人生也需彩排</a:t>
            </a:r>
          </a:p>
          <a:p>
            <a:pPr>
              <a:buNone/>
            </a:pPr>
            <a:r>
              <a:rPr lang="en-US" altLang="zh-CN" b="1" dirty="0" smtClean="0"/>
              <a:t>3</a:t>
            </a:r>
            <a:r>
              <a:rPr lang="zh-CN" altLang="en-US" b="1" dirty="0" smtClean="0"/>
              <a:t>、顶层</a:t>
            </a:r>
            <a:r>
              <a:rPr lang="zh-CN" altLang="en-US" b="1" dirty="0"/>
              <a:t>设计 演绎精彩</a:t>
            </a:r>
          </a:p>
          <a:p>
            <a:pPr>
              <a:buNone/>
            </a:pPr>
            <a:r>
              <a:rPr lang="en-US" altLang="zh-CN" b="1" dirty="0" smtClean="0"/>
              <a:t>4</a:t>
            </a:r>
            <a:r>
              <a:rPr lang="zh-CN" altLang="en-US" b="1" dirty="0" smtClean="0"/>
              <a:t>、精彩</a:t>
            </a:r>
            <a:r>
              <a:rPr lang="zh-CN" altLang="en-US" b="1" dirty="0"/>
              <a:t>人生路 设计展宏图</a:t>
            </a:r>
          </a:p>
          <a:p>
            <a:pPr>
              <a:buNone/>
            </a:pPr>
            <a:r>
              <a:rPr lang="en-US" altLang="zh-CN" b="1" dirty="0" smtClean="0"/>
              <a:t>5</a:t>
            </a:r>
            <a:r>
              <a:rPr lang="zh-CN" altLang="en-US" b="1" dirty="0" smtClean="0"/>
              <a:t>、格局</a:t>
            </a:r>
            <a:r>
              <a:rPr lang="zh-CN" altLang="en-US" b="1" dirty="0"/>
              <a:t>源于设计 精彩源于追求</a:t>
            </a:r>
          </a:p>
          <a:p>
            <a:pPr>
              <a:buNone/>
            </a:pPr>
            <a:r>
              <a:rPr lang="en-US" b="1" dirty="0"/>
              <a:t> </a:t>
            </a:r>
            <a:endParaRPr lang="zh-CN" altLang="en-US" b="1" dirty="0"/>
          </a:p>
          <a:p>
            <a:pPr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暗含设计中心词的：</a:t>
            </a:r>
          </a:p>
          <a:p>
            <a:pPr>
              <a:buNone/>
            </a:pPr>
            <a:r>
              <a:rPr lang="en-US" altLang="zh-CN" b="1" dirty="0" smtClean="0"/>
              <a:t>1</a:t>
            </a:r>
            <a:r>
              <a:rPr lang="zh-CN" altLang="en-US" b="1" dirty="0" smtClean="0"/>
              <a:t>、心</a:t>
            </a:r>
            <a:r>
              <a:rPr lang="zh-CN" altLang="en-US" b="1" dirty="0"/>
              <a:t>有期待 春风十里</a:t>
            </a:r>
            <a:r>
              <a:rPr lang="en-US" b="1" dirty="0"/>
              <a:t>  </a:t>
            </a:r>
            <a:endParaRPr lang="zh-CN" altLang="en-US" b="1" dirty="0"/>
          </a:p>
          <a:p>
            <a:pPr>
              <a:buNone/>
            </a:pPr>
            <a:r>
              <a:rPr lang="en-US" altLang="zh-CN" b="1" dirty="0" smtClean="0"/>
              <a:t>2</a:t>
            </a:r>
            <a:r>
              <a:rPr lang="zh-CN" altLang="en-US" b="1" dirty="0" smtClean="0"/>
              <a:t>、登高</a:t>
            </a:r>
            <a:r>
              <a:rPr lang="zh-CN" altLang="en-US" b="1" dirty="0"/>
              <a:t>望远 人生揽胜</a:t>
            </a:r>
          </a:p>
          <a:p>
            <a:pPr>
              <a:buNone/>
            </a:pPr>
            <a:r>
              <a:rPr lang="en-US" altLang="zh-CN" b="1" dirty="0" smtClean="0"/>
              <a:t>3</a:t>
            </a:r>
            <a:r>
              <a:rPr lang="zh-CN" altLang="en-US" b="1" dirty="0" smtClean="0"/>
              <a:t>、脚下</a:t>
            </a:r>
            <a:r>
              <a:rPr lang="zh-CN" altLang="en-US" b="1" dirty="0"/>
              <a:t>有路 眼里有远方</a:t>
            </a:r>
          </a:p>
          <a:p>
            <a:pPr>
              <a:buNone/>
            </a:pPr>
            <a:r>
              <a:rPr lang="en-US" altLang="zh-CN" b="1" dirty="0" smtClean="0"/>
              <a:t>4</a:t>
            </a:r>
            <a:r>
              <a:rPr lang="zh-CN" altLang="en-US" b="1" dirty="0" smtClean="0"/>
              <a:t>、最</a:t>
            </a:r>
            <a:r>
              <a:rPr lang="zh-CN" altLang="en-US" b="1" dirty="0"/>
              <a:t>美丽的风景：诗和远方</a:t>
            </a:r>
          </a:p>
          <a:p>
            <a:pPr>
              <a:buNone/>
            </a:pPr>
            <a:r>
              <a:rPr lang="en-US" altLang="zh-CN" b="1" dirty="0" smtClean="0"/>
              <a:t>5</a:t>
            </a:r>
            <a:r>
              <a:rPr lang="zh-CN" altLang="en-US" b="1" dirty="0" smtClean="0"/>
              <a:t>、欲穷千里目 </a:t>
            </a:r>
            <a:r>
              <a:rPr lang="zh-CN" altLang="en-US" b="1" dirty="0"/>
              <a:t>更上一层楼</a:t>
            </a:r>
          </a:p>
          <a:p>
            <a:pPr>
              <a:buNone/>
            </a:pPr>
            <a:r>
              <a:rPr lang="en-US" altLang="zh-CN" b="1" dirty="0" smtClean="0"/>
              <a:t>6</a:t>
            </a:r>
            <a:r>
              <a:rPr lang="zh-CN" altLang="en-US" b="1" dirty="0" smtClean="0"/>
              <a:t>、斥</a:t>
            </a:r>
            <a:r>
              <a:rPr lang="zh-CN" altLang="en-US" b="1" dirty="0"/>
              <a:t>鷃翱翔蓬蒿鲲鹏展翅万里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57166"/>
            <a:ext cx="8229600" cy="5768997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altLang="zh-CN" b="1" dirty="0"/>
              <a:t>【</a:t>
            </a:r>
            <a:r>
              <a:rPr lang="zh-CN" altLang="en-US" b="1" dirty="0"/>
              <a:t>常见失误</a:t>
            </a:r>
            <a:r>
              <a:rPr lang="en-US" altLang="zh-CN" b="1" dirty="0"/>
              <a:t>】</a:t>
            </a:r>
          </a:p>
          <a:p>
            <a:pPr>
              <a:buNone/>
            </a:pPr>
            <a:r>
              <a:rPr lang="zh-CN" altLang="en-US" b="1" dirty="0" smtClean="0"/>
              <a:t>     在</a:t>
            </a:r>
            <a:r>
              <a:rPr lang="zh-CN" altLang="en-US" b="1" dirty="0"/>
              <a:t>阅卷过程中，我们发现学生出现以下普遍性失误：</a:t>
            </a:r>
          </a:p>
          <a:p>
            <a:pPr>
              <a:buNone/>
            </a:pPr>
            <a:r>
              <a:rPr lang="zh-CN" altLang="en-US" b="1" dirty="0"/>
              <a:t>①标题不能点题</a:t>
            </a:r>
            <a:r>
              <a:rPr lang="zh-CN" altLang="en-US" b="1" dirty="0" smtClean="0"/>
              <a:t>；</a:t>
            </a:r>
            <a:endParaRPr lang="en-US" altLang="zh-CN" b="1" dirty="0" smtClean="0"/>
          </a:p>
          <a:p>
            <a:pPr>
              <a:buNone/>
            </a:pPr>
            <a:r>
              <a:rPr lang="zh-CN" altLang="en-US" b="1" dirty="0" smtClean="0"/>
              <a:t>②</a:t>
            </a:r>
            <a:r>
              <a:rPr lang="zh-CN" altLang="en-US" b="1" dirty="0"/>
              <a:t>构思不合理，并列的观点有重复交叉</a:t>
            </a:r>
            <a:r>
              <a:rPr lang="zh-CN" altLang="en-US" b="1" dirty="0" smtClean="0"/>
              <a:t>；</a:t>
            </a:r>
            <a:endParaRPr lang="en-US" altLang="zh-CN" b="1" dirty="0" smtClean="0"/>
          </a:p>
          <a:p>
            <a:pPr>
              <a:buNone/>
            </a:pPr>
            <a:r>
              <a:rPr lang="zh-CN" altLang="en-US" b="1" dirty="0" smtClean="0"/>
              <a:t>③</a:t>
            </a:r>
            <a:r>
              <a:rPr lang="zh-CN" altLang="en-US" b="1" dirty="0"/>
              <a:t>严重缺乏写作素材，全篇空洞说理</a:t>
            </a:r>
            <a:r>
              <a:rPr lang="zh-CN" altLang="en-US" b="1" dirty="0" smtClean="0"/>
              <a:t>；</a:t>
            </a:r>
            <a:endParaRPr lang="en-US" altLang="zh-CN" b="1" dirty="0" smtClean="0"/>
          </a:p>
          <a:p>
            <a:pPr>
              <a:buNone/>
            </a:pPr>
            <a:r>
              <a:rPr lang="zh-CN" altLang="en-US" b="1" dirty="0" smtClean="0"/>
              <a:t>④</a:t>
            </a:r>
            <a:r>
              <a:rPr lang="zh-CN" altLang="en-US" b="1" dirty="0"/>
              <a:t>对设计的理解不到位，简单地理解为理想目标追求，甚至偷换概念性</a:t>
            </a:r>
            <a:r>
              <a:rPr lang="zh-CN" altLang="en-US" b="1" dirty="0" smtClean="0"/>
              <a:t>；</a:t>
            </a:r>
            <a:endParaRPr lang="en-US" altLang="zh-CN" b="1" dirty="0" smtClean="0"/>
          </a:p>
          <a:p>
            <a:pPr>
              <a:buNone/>
            </a:pPr>
            <a:r>
              <a:rPr lang="zh-CN" altLang="en-US" b="1" dirty="0" smtClean="0"/>
              <a:t>⑤</a:t>
            </a:r>
            <a:r>
              <a:rPr lang="zh-CN" altLang="en-US" b="1" dirty="0"/>
              <a:t>没有深入思考设计规划在人生过程中职业选择、调整适应、时代关联</a:t>
            </a:r>
            <a:r>
              <a:rPr lang="zh-CN" altLang="en-US" b="1" dirty="0" smtClean="0"/>
              <a:t>；</a:t>
            </a:r>
            <a:endParaRPr lang="en-US" altLang="zh-CN" b="1" dirty="0" smtClean="0"/>
          </a:p>
          <a:p>
            <a:pPr>
              <a:buNone/>
            </a:pPr>
            <a:r>
              <a:rPr lang="zh-CN" altLang="en-US" b="1" dirty="0" smtClean="0"/>
              <a:t>⑥</a:t>
            </a:r>
            <a:r>
              <a:rPr lang="zh-CN" altLang="en-US" b="1" dirty="0"/>
              <a:t>没有辩证分析，为了认同一个道理，而单方面全盘否定另一个观点。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85728"/>
            <a:ext cx="8229600" cy="5840435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sz="2800" b="1" dirty="0" smtClean="0">
                <a:latin typeface="华文楷体" pitchFamily="2" charset="-122"/>
                <a:ea typeface="华文楷体" pitchFamily="2" charset="-122"/>
              </a:rPr>
              <a:t>【</a:t>
            </a:r>
            <a:r>
              <a:rPr lang="zh-CN" altLang="en-US" sz="2800" b="1" dirty="0" smtClean="0">
                <a:latin typeface="华文楷体" pitchFamily="2" charset="-122"/>
                <a:ea typeface="华文楷体" pitchFamily="2" charset="-122"/>
              </a:rPr>
              <a:t>写作素材</a:t>
            </a:r>
            <a:r>
              <a:rPr lang="en-US" altLang="zh-CN" sz="2800" b="1" dirty="0" smtClean="0">
                <a:latin typeface="华文楷体" pitchFamily="2" charset="-122"/>
                <a:ea typeface="华文楷体" pitchFamily="2" charset="-122"/>
              </a:rPr>
              <a:t>】</a:t>
            </a:r>
          </a:p>
          <a:p>
            <a:r>
              <a:rPr lang="zh-CN" altLang="en-US" sz="2800" b="1" dirty="0" smtClean="0">
                <a:latin typeface="华文楷体" pitchFamily="2" charset="-122"/>
                <a:ea typeface="华文楷体" pitchFamily="2" charset="-122"/>
              </a:rPr>
              <a:t>☆诸葛亮一步三算，料敌之先知；周瑜运筹帷幄，火烧赤壁，谈笑间樯橹灰飞烟灭</a:t>
            </a:r>
            <a:r>
              <a:rPr lang="en-US" altLang="zh-CN" sz="2800" b="1" dirty="0" smtClean="0">
                <a:latin typeface="华文楷体" pitchFamily="2" charset="-122"/>
                <a:ea typeface="华文楷体" pitchFamily="2" charset="-122"/>
              </a:rPr>
              <a:t>……</a:t>
            </a:r>
            <a:r>
              <a:rPr lang="zh-CN" altLang="en-US" sz="2800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能成大业者，胸中皆有</a:t>
            </a:r>
            <a:r>
              <a:rPr lang="zh-CN" altLang="en-US" sz="2800" b="1" u="sng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设计</a:t>
            </a:r>
            <a:r>
              <a:rPr lang="zh-CN" altLang="en-US" sz="2800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与规划</a:t>
            </a:r>
            <a:r>
              <a:rPr lang="zh-CN" altLang="en-US" sz="2800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。</a:t>
            </a:r>
            <a:endParaRPr lang="zh-CN" altLang="en-US" sz="2800" b="1" dirty="0" smtClean="0">
              <a:solidFill>
                <a:srgbClr val="FF0000"/>
              </a:solidFill>
              <a:latin typeface="华文楷体" pitchFamily="2" charset="-122"/>
              <a:ea typeface="华文楷体" pitchFamily="2" charset="-122"/>
            </a:endParaRPr>
          </a:p>
          <a:p>
            <a:r>
              <a:rPr lang="zh-CN" altLang="en-US" sz="2800" b="1" dirty="0" smtClean="0">
                <a:latin typeface="华文楷体" pitchFamily="2" charset="-122"/>
                <a:ea typeface="华文楷体" pitchFamily="2" charset="-122"/>
              </a:rPr>
              <a:t>☆李白“安能摧眉折腰事权贵，使我不得开心颜”，洒脱拒绝入侍，从此纵情山水，乐得个逍遥快活；陶渊明不为五斗米折腰，“采菊东篱下，悠然见南山”，也有一番闲适自得</a:t>
            </a:r>
            <a:r>
              <a:rPr lang="zh-CN" altLang="en-US" sz="2800" b="1" dirty="0" smtClean="0">
                <a:latin typeface="华文楷体" pitchFamily="2" charset="-122"/>
                <a:ea typeface="华文楷体" pitchFamily="2" charset="-122"/>
              </a:rPr>
              <a:t>。听从</a:t>
            </a:r>
            <a:r>
              <a:rPr lang="zh-CN" altLang="en-US" sz="2800" b="1" dirty="0" smtClean="0">
                <a:latin typeface="华文楷体" pitchFamily="2" charset="-122"/>
                <a:ea typeface="华文楷体" pitchFamily="2" charset="-122"/>
              </a:rPr>
              <a:t>内心自我的呼唤，照自己的想法去活，</a:t>
            </a:r>
            <a:r>
              <a:rPr lang="zh-CN" altLang="en-US" sz="2800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这种最本真的人生</a:t>
            </a:r>
            <a:r>
              <a:rPr lang="zh-CN" altLang="en-US" sz="2800" b="1" u="sng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设计，</a:t>
            </a:r>
            <a:r>
              <a:rPr lang="zh-CN" altLang="en-US" sz="2800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成就了多少文人墨客的精彩诗篇。（后一句为老师所加。注意举例后要结合论点进行论述。）</a:t>
            </a:r>
          </a:p>
          <a:p>
            <a:r>
              <a:rPr lang="zh-CN" altLang="en-US" sz="2800" b="1" dirty="0" smtClean="0">
                <a:latin typeface="华文楷体" pitchFamily="2" charset="-122"/>
                <a:ea typeface="华文楷体" pitchFamily="2" charset="-122"/>
              </a:rPr>
              <a:t>☆鲲鹏本是巨鸟，但为何还要“抟扶摇而上者九万里”，因为他心中还有更广阔的南冥，那里才是他的“大海星辰”，这就是激动人心的鲲鹏之志。“我要飞得更高！”还要飞得更远！</a:t>
            </a:r>
            <a:r>
              <a:rPr lang="zh-CN" altLang="en-US" sz="2800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大格局下的人生</a:t>
            </a:r>
            <a:r>
              <a:rPr lang="zh-CN" altLang="en-US" sz="2800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规划与设计，</a:t>
            </a:r>
            <a:r>
              <a:rPr lang="zh-CN" altLang="en-US" sz="2800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其成就总是让世人艳羡。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85728"/>
            <a:ext cx="8229600" cy="5840435"/>
          </a:xfrm>
        </p:spPr>
        <p:txBody>
          <a:bodyPr>
            <a:normAutofit fontScale="85000" lnSpcReduction="10000"/>
          </a:bodyPr>
          <a:lstStyle/>
          <a:p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☆奋斗的动力来自成长的思考。当我们把眼光放远到社会、时代和世界全局，当我们思维的触角延伸到未来的职业生涯规划，当我们想一想未来的自己、家人还有社会和国家，我们眼界高一分，天地就能广阔一片，精神也为之一振，烦恼就一扫而光，信心和动力自然滚滚而来。</a:t>
            </a:r>
          </a:p>
          <a:p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☆马云最初是一名中学英语教师，任正非原是一名土木工程师，部队转业到地方工厂成为一名上班族。中国现在很多叱咤商界的大佬级别人物，当年都练过地摊。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如果没有经历过千万次的磨练、</a:t>
            </a:r>
            <a:r>
              <a:rPr lang="zh-CN" altLang="en-US" b="1" u="sng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设计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和修整，马云和任正非还是人群中那普通的一个；如果没有经历过放眼世界、着眼未来的企业规划，今天的支付宝就不会走向全球，今天的华为</a:t>
            </a:r>
            <a:r>
              <a:rPr 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5G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就不会独领风骚，今年的中国制造就不会在世界这么响亮。</a:t>
            </a:r>
          </a:p>
          <a:p>
            <a:endParaRPr lang="zh-CN" altLang="en-US" dirty="0">
              <a:latin typeface="华文楷体" pitchFamily="2" charset="-122"/>
              <a:ea typeface="华文楷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357166"/>
            <a:ext cx="8229600" cy="5768997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☆</a:t>
            </a:r>
            <a:r>
              <a:rPr lang="en-US" b="1" dirty="0" smtClean="0">
                <a:latin typeface="华文楷体" pitchFamily="2" charset="-122"/>
                <a:ea typeface="华文楷体" pitchFamily="2" charset="-122"/>
              </a:rPr>
              <a:t>86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岁的他，穿着跨栏背心编程的镜头上了央视。这个不起眼的小老头，用一辈子的隐姓埋名和不服输的劲头，给中国的尖端武器装上了“眼睛”，让我们的武器做到了指哪儿打哪儿。（我国激光陀螺研究领域泰斗、工程院院士、已故国防科技大学教授高伯龙）</a:t>
            </a:r>
          </a:p>
          <a:p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追梦“北斗”卫星导航十九年，攻克卫星导航关键技术</a:t>
            </a:r>
            <a:r>
              <a:rPr lang="en-US" b="1" dirty="0" smtClean="0">
                <a:latin typeface="华文楷体" pitchFamily="2" charset="-122"/>
                <a:ea typeface="华文楷体" pitchFamily="2" charset="-122"/>
              </a:rPr>
              <a:t>20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多项。功成名就的她，放弃部队相对轻松的安排，奔走于大江南北，到“北斗”最大的用户</a:t>
            </a:r>
            <a:r>
              <a:rPr lang="en-US" altLang="zh-CN" b="1" dirty="0" smtClean="0">
                <a:latin typeface="华文楷体" pitchFamily="2" charset="-122"/>
                <a:ea typeface="华文楷体" pitchFamily="2" charset="-122"/>
              </a:rPr>
              <a:t>——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交通运输行业做推广应用。（“北斗”重要奠基人、交通运输信息化专家王淑芳）</a:t>
            </a:r>
          </a:p>
          <a:p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素材运用：一辈子只做一件事情，一辈子甘愿隐姓埋名，高伯龙有的人生设计，简单而深沉，彰显了科学家的时代担当、人格魅力和爱国情怀。“功成不必在我，功成必定有我。”王淑芳的后半生设计彰显了淡泊名利、科技报国的志向追求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。</a:t>
            </a:r>
            <a:endParaRPr lang="zh-CN" altLang="en-US" b="1" dirty="0" smtClean="0">
              <a:solidFill>
                <a:srgbClr val="FF0000"/>
              </a:solidFill>
              <a:latin typeface="华文楷体" pitchFamily="2" charset="-122"/>
              <a:ea typeface="华文楷体" pitchFamily="2" charset="-122"/>
            </a:endParaRPr>
          </a:p>
          <a:p>
            <a:endParaRPr lang="zh-CN" altLang="en-US" dirty="0">
              <a:latin typeface="华文楷体" pitchFamily="2" charset="-122"/>
              <a:ea typeface="华文楷体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500042"/>
            <a:ext cx="8229600" cy="5626121"/>
          </a:xfrm>
        </p:spPr>
        <p:txBody>
          <a:bodyPr/>
          <a:lstStyle/>
          <a:p>
            <a:r>
              <a:rPr lang="zh-CN" altLang="en-US" b="1" dirty="0" smtClean="0"/>
              <a:t>☆ 美国作家西蒙：“对于一只盲目航行的船来说，所有的风都是逆风。”</a:t>
            </a:r>
          </a:p>
          <a:p>
            <a:r>
              <a:rPr lang="zh-CN" altLang="en-US" b="1" dirty="0" smtClean="0"/>
              <a:t>☆</a:t>
            </a:r>
            <a:r>
              <a:rPr lang="zh-CN" altLang="en-US" b="1" dirty="0" smtClean="0">
                <a:solidFill>
                  <a:srgbClr val="FF0000"/>
                </a:solidFill>
              </a:rPr>
              <a:t>华为的成功，得益于任正非的设计</a:t>
            </a:r>
            <a:r>
              <a:rPr lang="en-US" b="1" dirty="0" smtClean="0">
                <a:solidFill>
                  <a:srgbClr val="FF0000"/>
                </a:solidFill>
              </a:rPr>
              <a:t>;</a:t>
            </a:r>
            <a:r>
              <a:rPr lang="zh-CN" altLang="en-US" b="1" dirty="0" smtClean="0">
                <a:solidFill>
                  <a:srgbClr val="FF0000"/>
                </a:solidFill>
              </a:rPr>
              <a:t>中国经济的“三步走”是设计；邓小平是我国改革开放的总设计师；中国</a:t>
            </a:r>
            <a:r>
              <a:rPr lang="en-US" b="1" dirty="0" smtClean="0">
                <a:solidFill>
                  <a:srgbClr val="FF0000"/>
                </a:solidFill>
              </a:rPr>
              <a:t>2020</a:t>
            </a:r>
            <a:r>
              <a:rPr lang="zh-CN" altLang="en-US" b="1" dirty="0" smtClean="0">
                <a:solidFill>
                  <a:srgbClr val="FF0000"/>
                </a:solidFill>
              </a:rPr>
              <a:t>年脱贫攻坚奔小康，</a:t>
            </a:r>
            <a:r>
              <a:rPr lang="en-US" b="1" dirty="0" smtClean="0">
                <a:solidFill>
                  <a:srgbClr val="FF0000"/>
                </a:solidFill>
              </a:rPr>
              <a:t>2035</a:t>
            </a:r>
            <a:r>
              <a:rPr lang="zh-CN" altLang="en-US" b="1" dirty="0" smtClean="0">
                <a:solidFill>
                  <a:srgbClr val="FF0000"/>
                </a:solidFill>
              </a:rPr>
              <a:t>年全面实现现代化，“一带一路”构建人类命运共同体，国家的顶层设计，更显示出我们中国人的集体</a:t>
            </a:r>
            <a:r>
              <a:rPr lang="zh-CN" altLang="en-US" b="1" dirty="0" smtClean="0">
                <a:solidFill>
                  <a:srgbClr val="FF0000"/>
                </a:solidFill>
              </a:rPr>
              <a:t>智慧。</a:t>
            </a:r>
            <a:endParaRPr lang="zh-CN" altLang="en-US" b="1" dirty="0" smtClean="0">
              <a:solidFill>
                <a:srgbClr val="FF0000"/>
              </a:solidFill>
            </a:endParaRPr>
          </a:p>
          <a:p>
            <a:endParaRPr lang="zh-CN" altLang="en-US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人生因设计而精彩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4282" y="1428736"/>
            <a:ext cx="8643998" cy="469742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亲爱的同学们：</a:t>
            </a:r>
            <a:endParaRPr lang="en-US" altLang="zh-CN" b="1" dirty="0" smtClean="0">
              <a:latin typeface="华文楷体" pitchFamily="2" charset="-122"/>
              <a:ea typeface="华文楷体" pitchFamily="2" charset="-122"/>
            </a:endParaRPr>
          </a:p>
          <a:p>
            <a:pPr>
              <a:buNone/>
            </a:pP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         大家好！人们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常说：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人生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不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需要设计。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其实，这是一个谬论，是一个错误的观点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。不错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，人的一生从出生到死亡，生命不能“逆生长”，人生也是无法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“倒放”。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正因为如此，人生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需要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设计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，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特别是精彩的人生更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需要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设计</a:t>
            </a:r>
            <a:r>
              <a:rPr lang="zh-CN" altLang="en-US" b="1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。故我今天演讲的主题是：人生因设计而精彩。</a:t>
            </a:r>
            <a:r>
              <a:rPr lang="zh-CN" altLang="en-US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/>
            </a:r>
            <a:br>
              <a:rPr lang="zh-CN" altLang="en-US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</a:br>
            <a:r>
              <a:rPr lang="zh-CN" altLang="en-US" dirty="0" smtClean="0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   </a:t>
            </a:r>
            <a:endParaRPr lang="zh-CN" altLang="en-US" dirty="0">
              <a:solidFill>
                <a:srgbClr val="FF0000"/>
              </a:solidFill>
              <a:latin typeface="华文楷体" pitchFamily="2" charset="-122"/>
              <a:ea typeface="华文楷体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714356"/>
            <a:ext cx="8229600" cy="5411807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zh-CN" altLang="en-US" b="1" dirty="0" smtClean="0"/>
              <a:t>           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何为设计？设计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就是规划和计划，要做到合理和周密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。人人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都有设计，人人都需要设计。人无远虑，必有近忧。过一天和尚，撞一天钟，得过且过，是不行的。人对自己的思考，不只是当下的，更重要的是明天未来。哲理中就有一个“我是谁”的命题，涉及灵魂三问：“我是谁？”“我从哪里来？”“我到哪里去？”第三问就是问“未来”。这灵魂三问，是一个人处于社会中自我认识、自我定位、自我鞭策、自我超越的重要内省过程，具有普世价值。</a:t>
            </a:r>
          </a:p>
          <a:p>
            <a:endParaRPr lang="zh-CN" altLang="en-US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85728"/>
            <a:ext cx="8229600" cy="6357982"/>
          </a:xfrm>
        </p:spPr>
        <p:txBody>
          <a:bodyPr>
            <a:normAutofit fontScale="77500" lnSpcReduction="20000"/>
          </a:bodyPr>
          <a:lstStyle/>
          <a:p>
            <a:r>
              <a:rPr lang="zh-CN" altLang="en-US" b="1" dirty="0" smtClean="0"/>
              <a:t> 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       诸葛亮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辅佐刘备成就了三分天下，书写了一段历史。殊不知，他取得这些成就是经过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精心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设计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的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。从年少时起，他便立下鸿鹄之志，并为实现自己的志向专心向学，像海绵一样吸收各种知识，做好知识储备，同时，与良友为伴，或赏花读月，陶冶情操，或唇枪舌剑，言论天下，用现代的话说就是密切关注时事，探讨分析时政，沙盘推演，正是因为有了这些精心的准备，精心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的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设计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，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诸葛亮才会赢得刘备的“三顾茅庐”、才会有“隆中对”、才会有羽扇纶巾便三分天下的伟业。</a:t>
            </a:r>
            <a:br>
              <a:rPr lang="zh-CN" altLang="en-US" b="1" dirty="0" smtClean="0">
                <a:latin typeface="华文楷体" pitchFamily="2" charset="-122"/>
                <a:ea typeface="华文楷体" pitchFamily="2" charset="-122"/>
              </a:rPr>
            </a:b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    人的一生充满了太多的未知和不确定性，即使是我们心中自以为明确的目标或理想，其实也只是我们在自己的心中为自己画的一个“饼子”。要怎样才能将这个“画饼”变成一个实实在在的“饼子”？在制作这个“饼子”的过程中，又会经历那些艰难困苦和突发事件，我们谁也无法预知。正因为是这样，我们需要在正式登台制作“饼子”之前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精心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设计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，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找出不足和差距，为制作“饼子”做好充分的准备。</a:t>
            </a:r>
            <a:br>
              <a:rPr lang="zh-CN" altLang="en-US" b="1" dirty="0" smtClean="0">
                <a:latin typeface="华文楷体" pitchFamily="2" charset="-122"/>
                <a:ea typeface="华文楷体" pitchFamily="2" charset="-122"/>
              </a:rPr>
            </a:b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    人生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需要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设计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，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而精彩的人生更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需要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设计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。</a:t>
            </a:r>
            <a:endParaRPr lang="zh-CN" altLang="en-US" b="1" dirty="0" smtClean="0">
              <a:latin typeface="华文楷体" pitchFamily="2" charset="-122"/>
              <a:ea typeface="华文楷体" pitchFamily="2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4282" y="357166"/>
            <a:ext cx="8472518" cy="5768997"/>
          </a:xfrm>
        </p:spPr>
        <p:txBody>
          <a:bodyPr>
            <a:normAutofit lnSpcReduction="10000"/>
          </a:bodyPr>
          <a:lstStyle/>
          <a:p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       人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的一生充满了太多的未知和不确定性，即使是我们心中自以为明确的目标或理想，其实也只是我们在自己的心中为自己画的一个“饼子”。要怎样才能将这个“画饼”变成一个实实在在的“饼子”？在制作这个“饼子”的过程中，又会经历那些艰难困苦和突发事件，我们谁也无法预知。正因为是这样，我们需要在正式登台制作“饼子”之前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精心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设计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，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找出不足和差距，为制作“饼子”做好充分的准备。</a:t>
            </a:r>
            <a:br>
              <a:rPr lang="zh-CN" altLang="en-US" b="1" dirty="0" smtClean="0">
                <a:latin typeface="华文楷体" pitchFamily="2" charset="-122"/>
                <a:ea typeface="华文楷体" pitchFamily="2" charset="-122"/>
              </a:rPr>
            </a:b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    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  人生需要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设计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，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而精彩的人生</a:t>
            </a:r>
            <a:r>
              <a:rPr lang="zh-CN" altLang="en-US" b="1" dirty="0" smtClean="0">
                <a:latin typeface="华文楷体" pitchFamily="2" charset="-122"/>
                <a:ea typeface="华文楷体" pitchFamily="2" charset="-122"/>
              </a:rPr>
              <a:t>更因设计而熠熠生辉。</a:t>
            </a:r>
            <a:endParaRPr lang="zh-CN" altLang="en-US" dirty="0">
              <a:latin typeface="华文楷体" pitchFamily="2" charset="-122"/>
              <a:ea typeface="华文楷体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2180</Words>
  <Application>Microsoft Office PowerPoint</Application>
  <PresentationFormat>全屏显示(4:3)</PresentationFormat>
  <Paragraphs>65</Paragraphs>
  <Slides>17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18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人生因设计而精彩</vt:lpstr>
      <vt:lpstr>幻灯片 15</vt:lpstr>
      <vt:lpstr>幻灯片 16</vt:lpstr>
      <vt:lpstr>幻灯片 17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甘琴慧</dc:creator>
  <cp:lastModifiedBy>甘琴慧</cp:lastModifiedBy>
  <cp:revision>25</cp:revision>
  <dcterms:created xsi:type="dcterms:W3CDTF">2020-08-14T00:32:36Z</dcterms:created>
  <dcterms:modified xsi:type="dcterms:W3CDTF">2020-08-14T14:01:53Z</dcterms:modified>
</cp:coreProperties>
</file>
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780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F307-C67C-4339-B949-E4D544F75993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BCE5-8FB4-4914-AB2D-929FF8D50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E034F307-C67C-4339-B949-E4D544F75993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BCE5-8FB4-4914-AB2D-929FF8D50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F307-C67C-4339-B949-E4D544F75993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BCE5-8FB4-4914-AB2D-929FF8D50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F307-C67C-4339-B949-E4D544F75993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BCE5-8FB4-4914-AB2D-929FF8D50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F307-C67C-4339-B949-E4D544F75993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BCE5-8FB4-4914-AB2D-929FF8D50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F307-C67C-4339-B949-E4D544F75993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BCE5-8FB4-4914-AB2D-929FF8D50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F307-C67C-4339-B949-E4D544F75993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BCE5-8FB4-4914-AB2D-929FF8D50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F307-C67C-4339-B949-E4D544F75993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BCE5-8FB4-4914-AB2D-929FF8D50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F307-C67C-4339-B949-E4D544F75993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BCE5-8FB4-4914-AB2D-929FF8D50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F307-C67C-4339-B949-E4D544F75993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BCE5-8FB4-4914-AB2D-929FF8D5097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F307-C67C-4339-B949-E4D544F75993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BCE5-8FB4-4914-AB2D-929FF8D5097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E034F307-C67C-4339-B949-E4D544F75993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AC2CBCE5-8FB4-4914-AB2D-929FF8D5097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600" b="1" dirty="0" smtClean="0">
                <a:latin typeface="华文楷体" pitchFamily="2" charset="-122"/>
                <a:ea typeface="华文楷体" pitchFamily="2" charset="-122"/>
              </a:rPr>
              <a:t>南京市期初测试</a:t>
            </a:r>
            <a:endParaRPr lang="zh-CN" altLang="en-US" sz="6600" b="1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285728"/>
            <a:ext cx="8229600" cy="468632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．下列关于文章内容的理解和分析，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不正确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的一项是（ ▲ ）（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3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A. 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翻译如同月下老人，它帮助读者和作者进行对话，在两者之间搭建起一座理解的桥梁。</a:t>
            </a:r>
          </a:p>
          <a:p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B. 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面对前代的文学作品，如果缺少了翻译的牵线搭桥，后代读者必然会感到难以理解。</a:t>
            </a:r>
          </a:p>
          <a:p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C. 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对译者而言，原文一方面制约并限定翻译的行为，另一方面也是检验翻译优劣的标准。</a:t>
            </a:r>
          </a:p>
          <a:p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D. 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只有对文言有精深的理解且能熟练地运用白话文，才有可能较好地传达原文的精神。</a:t>
            </a:r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42976" y="5214950"/>
            <a:ext cx="6500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答案：</a:t>
            </a:r>
            <a:r>
              <a:rPr lang="en-US" altLang="zh-CN" sz="2800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B(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原文第二段有“大概”两字）</a:t>
            </a:r>
            <a:endParaRPr lang="zh-CN" altLang="en-US" sz="2800" b="1" dirty="0">
              <a:solidFill>
                <a:srgbClr val="FF0000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285728"/>
            <a:ext cx="8229600" cy="468632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．下列有关</a:t>
            </a:r>
            <a:r>
              <a:rPr lang="zh-CN" altLang="en-US" b="1" u="sng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古文今译的表述与文章不符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的一项是（ ▲ ）（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3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A. 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翻译者掌握运用古文与今文的水平有差异，个人能力有局限，这会影响到翻译的水平。</a:t>
            </a:r>
          </a:p>
          <a:p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B. 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古今文化具有时代差异性，翻译者可以间接地体验历史，却没法完全重构历史的真实。</a:t>
            </a:r>
          </a:p>
          <a:p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C. 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古今语言的时代差异，使我们不易去追踪和复述古人创造的文学范本的用意与内容。</a:t>
            </a:r>
          </a:p>
          <a:p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D. 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文言文特有的节奏、韵律、气脉、风味，这在白话文中只能通过模仿的手段加以复现。</a:t>
            </a:r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5786" y="5214950"/>
            <a:ext cx="7500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答案：</a:t>
            </a:r>
            <a:r>
              <a:rPr lang="en-US" altLang="zh-CN" sz="2400" dirty="0" smtClean="0"/>
              <a:t>D</a:t>
            </a:r>
            <a:r>
              <a:rPr lang="zh-CN" altLang="en-US" sz="2400" dirty="0" smtClean="0"/>
              <a:t>原文第三段“还有文言文特有的节奏、韵律、气脉、风味在白话中</a:t>
            </a:r>
            <a:r>
              <a:rPr lang="zh-CN" altLang="en-US" sz="2400" dirty="0" smtClean="0">
                <a:solidFill>
                  <a:srgbClr val="FF0000"/>
                </a:solidFill>
              </a:rPr>
              <a:t>无法复现</a:t>
            </a:r>
            <a:r>
              <a:rPr lang="zh-CN" altLang="en-US" sz="2400" dirty="0" smtClean="0"/>
              <a:t>，翻译者不得不另辟蹊径</a:t>
            </a:r>
            <a:r>
              <a:rPr lang="zh-CN" altLang="en-US" sz="2400" dirty="0" smtClean="0"/>
              <a:t>去模仿</a:t>
            </a:r>
            <a:r>
              <a:rPr lang="zh-CN" altLang="en-US" sz="2400" dirty="0" smtClean="0"/>
              <a:t>”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4857784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3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．下列对原文论证的相关分析，不正确的一项是（ ▲ ）（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3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A. 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文章第一段将古文翻译与外文翻译相联系，进行对比论证，突出其不同的特点，强调古文翻译可以穿越时间，拉近古人今人距离。</a:t>
            </a:r>
          </a:p>
          <a:p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B. 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文章第二段用举例论证的方法，以司马迁改写殷周档案和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20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世纪前期用白话文改写文言文等例，说明古文今译的现象早已有之。</a:t>
            </a:r>
          </a:p>
          <a:p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C. 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文章第三段使用比喻论证，将翻译者的译文喻为镜子，说明翻译没法达到和原文严丝合缝的效果，拙劣的翻译甚至可能发生变形。</a:t>
            </a:r>
          </a:p>
          <a:p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D. 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文章第三段引用刘禹锡</a:t>
            </a:r>
            <a:r>
              <a:rPr lang="en-US" altLang="zh-CN" b="1" dirty="0" smtClean="0">
                <a:latin typeface="华文楷体" pitchFamily="2" charset="-122"/>
                <a:ea typeface="华文楷体" pitchFamily="2" charset="-122"/>
              </a:rPr>
              <a:t>《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送僧方及南谒柳员外</a:t>
            </a:r>
            <a:r>
              <a:rPr lang="en-US" altLang="zh-CN" b="1" dirty="0" smtClean="0">
                <a:latin typeface="华文楷体" pitchFamily="2" charset="-122"/>
                <a:ea typeface="华文楷体" pitchFamily="2" charset="-122"/>
              </a:rPr>
              <a:t>》“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勿谓翻译徒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,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不为文雅雄”两句，为翻译工作者辩护，译经之僧也可兼为文章高手。</a:t>
            </a:r>
          </a:p>
          <a:p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 </a:t>
            </a:r>
            <a:endParaRPr lang="zh-CN" altLang="en-US" b="1" dirty="0" smtClean="0">
              <a:latin typeface="华文楷体" pitchFamily="2" charset="-122"/>
              <a:ea typeface="华文楷体" pitchFamily="2" charset="-122"/>
            </a:endParaRPr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14414" y="5072074"/>
            <a:ext cx="5857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</a:rPr>
              <a:t>答案：</a:t>
            </a:r>
            <a:r>
              <a:rPr lang="en-US" altLang="zh-CN" sz="2800" dirty="0" smtClean="0">
                <a:solidFill>
                  <a:srgbClr val="FF0000"/>
                </a:solidFill>
              </a:rPr>
              <a:t>A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43372" y="571480"/>
            <a:ext cx="4686304" cy="5429288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有位五斗先生，用爱好喝酒的方式游戏人间，凡有人用酒请他，无论身份高低贵贱，他都前往，而且必定喝醉，喝醉了，就不择地方倒地便睡，酒醒后又起来继续喝酒。他经常一喝就是五斗，因此以“五斗”作为自己的称号。先生无思无虑，很少说话，不知道人世间有仁义冷暖。他忽儿离开，忽儿回来，行为动静自然，符合天地法则，所以万事万物不能缠绕住他的心。</a:t>
            </a:r>
            <a:endParaRPr lang="zh-CN" altLang="en-US" b="1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642918"/>
            <a:ext cx="328614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有五斗先生者，以酒德游于人间。有以酒请者，无贵贱皆往，往必醉，醉则不择地斯寝矣。醒则复起饮也。常一饮五斗，因以为号焉。先生绝思虑，寡言语，不知天下之有仁义厚薄也。忽焉而去，倏然而来。其动也天，其静也地，故万物不能萦心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2" y="857232"/>
            <a:ext cx="3429024" cy="5429288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他曾经说：“天下事物大概能够看得清楚。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人生如何能够保养？嵇康便撰写了</a:t>
            </a:r>
            <a:r>
              <a:rPr lang="en-US" altLang="zh-CN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《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养生论</a:t>
            </a:r>
            <a:r>
              <a:rPr lang="en-US" altLang="zh-CN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》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；道路为什么会穷尽呢？阮籍于是悲恸哭泣。所以，故作胡涂，是圣人的行事态度。”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于是，他一直实践自己的心意，最后不知去向。</a:t>
            </a:r>
          </a:p>
          <a:p>
            <a:r>
              <a:rPr lang="en-US" dirty="0" smtClean="0"/>
              <a:t> 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928662" y="1214422"/>
            <a:ext cx="3143272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楷体" pitchFamily="2" charset="-122"/>
                <a:ea typeface="华文楷体" pitchFamily="2" charset="-122"/>
                <a:cs typeface="楷体" pitchFamily="49" charset="-122"/>
              </a:rPr>
              <a:t>尝言曰：“天下大抵可见矣。</a:t>
            </a:r>
            <a:r>
              <a:rPr kumimoji="0" lang="zh-CN" sz="3200" b="1" i="0" u="sng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楷体" pitchFamily="2" charset="-122"/>
                <a:ea typeface="华文楷体" pitchFamily="2" charset="-122"/>
                <a:cs typeface="楷体" pitchFamily="49" charset="-122"/>
              </a:rPr>
              <a:t>生何足养而嵇康著论途何为穷而阮籍恸哭故昏昏默然圣人之所居也</a:t>
            </a:r>
            <a:r>
              <a:rPr kumimoji="0" lang="zh-CN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楷体" pitchFamily="2" charset="-122"/>
                <a:ea typeface="华文楷体" pitchFamily="2" charset="-122"/>
                <a:cs typeface="楷体" pitchFamily="49" charset="-122"/>
              </a:rPr>
              <a:t>。”</a:t>
            </a:r>
            <a:r>
              <a:rPr kumimoji="0" lang="zh-CN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楷体" pitchFamily="2" charset="-122"/>
                <a:ea typeface="华文楷体" pitchFamily="2" charset="-122"/>
                <a:cs typeface="楷体" pitchFamily="49" charset="-122"/>
              </a:rPr>
              <a:t>遂行其志，不知所如。</a:t>
            </a:r>
            <a:endParaRPr kumimoji="0" lang="zh-CN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楷体" pitchFamily="2" charset="-122"/>
              <a:ea typeface="华文楷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500042"/>
            <a:ext cx="4400552" cy="5857916"/>
          </a:xfrm>
        </p:spPr>
        <p:txBody>
          <a:bodyPr>
            <a:normAutofit/>
          </a:bodyPr>
          <a:lstStyle/>
          <a:p>
            <a:r>
              <a:rPr lang="zh-CN" altLang="en-US" sz="2400" b="1" dirty="0" smtClean="0">
                <a:latin typeface="华文楷体" pitchFamily="2" charset="-122"/>
                <a:ea typeface="华文楷体" pitchFamily="2" charset="-122"/>
              </a:rPr>
              <a:t>或曰：“子无病而多蓄药，不饮而多酿酒，劳己以为人，何也？”余笑曰：“病者得药，吾为之体轻；饮者困于酒，吾为之酣适，盖专以自为也。”东皋子待诏门下省，日给酒三升，其弟静问曰：“待诏乐乎？”曰：“待诏何所乐，但美酝三升，殊可恋耳！”今岭南法不禁酒，余既得自酿，月用米一斛，得酒六斗。</a:t>
            </a:r>
            <a:endParaRPr lang="zh-CN" altLang="en-US" sz="2400" b="1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43438" y="428604"/>
            <a:ext cx="414340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楷体" pitchFamily="2" charset="-122"/>
                <a:ea typeface="华文楷体" pitchFamily="2" charset="-122"/>
              </a:rPr>
              <a:t>有人问我：“你没病却储存好多的药，不善喝酒却酿造好多的酒，辛劳自己而为别人，你为的什么？”我笑着说：“得病的人如果得到了药，我就为他们感到身体轻松；饮酒的人酣饮在酒中，我就为他们感到酣畅而舒服，这大概就是专门为自己满足的。”</a:t>
            </a:r>
            <a:r>
              <a:rPr lang="en-US" sz="2000" b="1" dirty="0">
                <a:latin typeface="华文楷体" pitchFamily="2" charset="-122"/>
                <a:ea typeface="华文楷体" pitchFamily="2" charset="-122"/>
              </a:rPr>
              <a:t>   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</a:rPr>
              <a:t>东皋子为官在门下省任职，以待皇帝召唤，每天给他酒三升，他的弟弟东静问他：“每天等待皇帝诏谕你快乐吗？</a:t>
            </a:r>
            <a:r>
              <a:rPr lang="zh-CN" altLang="en-US" sz="2000" b="1" dirty="0" smtClean="0">
                <a:latin typeface="华文楷体" pitchFamily="2" charset="-122"/>
                <a:ea typeface="华文楷体" pitchFamily="2" charset="-122"/>
              </a:rPr>
              <a:t>”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</a:rPr>
              <a:t>东皋子回答说：“等待诏谕有什么快乐，不过每天三升美酒，是非常令人留恋的。”现在，在岭南地区没有实行禁酒法令，我就可以自己酿酒，每月用米大概五斗，酿出酒六斗。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714356"/>
            <a:ext cx="4186238" cy="4686320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而南雄、广、惠、循、梅五太守，间复以酒遗余，余略计其所获，殆过于东皋子矣。然东皋子自谓“五斗先生”，则日给三升，救口不暇，安能及客乎？若余者，乃日有二升五合入野人道士腹中矣。</a:t>
            </a:r>
            <a:r>
              <a:rPr lang="zh-CN" altLang="en-US" b="1" u="sng" dirty="0" smtClean="0">
                <a:latin typeface="华文楷体" pitchFamily="2" charset="-122"/>
                <a:ea typeface="华文楷体" pitchFamily="2" charset="-122"/>
              </a:rPr>
              <a:t>东皋子好养性服食，预刻死日自为墓志，余盖友其人于千载，则庶几焉。</a:t>
            </a:r>
            <a:endParaRPr lang="zh-CN" altLang="en-US" b="1" dirty="0" smtClean="0">
              <a:latin typeface="华文楷体" pitchFamily="2" charset="-122"/>
              <a:ea typeface="华文楷体" pitchFamily="2" charset="-122"/>
            </a:endParaRPr>
          </a:p>
          <a:p>
            <a:endParaRPr lang="zh-CN" altLang="en-US" dirty="0"/>
          </a:p>
        </p:txBody>
      </p:sp>
      <p:sp>
        <p:nvSpPr>
          <p:cNvPr id="20481" name="Rectangle 1"/>
          <p:cNvSpPr>
            <a:spLocks noChangeArrowheads="1"/>
          </p:cNvSpPr>
          <p:nvPr/>
        </p:nvSpPr>
        <p:spPr bwMode="auto">
          <a:xfrm>
            <a:off x="4786314" y="571481"/>
            <a:ext cx="4000528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而加上南雄、广州、惠州、循州、梅州五个州的知州陆续送给我的酒，粗略计算大概已经超过了东皋子。但是东皋子自称是“五斗先生”，实际每天只给三升，应付自己喝都不够，哪能够顾及到给客人饮用呢？像我这样的人，每天至少要有两升半的酒喝到了在野人士和道士的肚子里。</a:t>
            </a:r>
            <a:r>
              <a:rPr kumimoji="0" lang="zh-CN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东皋子喜好修身养性，服食丹药，他预计自己的死期，为自己写了墓志，我能够在千年之后和他做朋友，那也是有幸啊。</a:t>
            </a:r>
            <a:endParaRPr kumimoji="0" lang="zh-CN" sz="4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楷体" pitchFamily="2" charset="-122"/>
              <a:ea typeface="华文楷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57166"/>
            <a:ext cx="3686172" cy="6500834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余饮酒终日，不过五合，天下之不能饮，无在余下者。然喜人饮酒，见客举杯徐引，则余胸中为之浩浩焉，落落焉，酣适之味，乃过于客。闲居未尝一日无客，客至未尝不置酒，天下之好饮，亦无在吾上者。常以谓人之至乐，莫若身无病而心无忧，我则无是二者矣。</a:t>
            </a:r>
            <a:r>
              <a:rPr lang="zh-CN" altLang="en-US" b="1" u="sng" dirty="0" smtClean="0">
                <a:latin typeface="华文楷体" pitchFamily="2" charset="-122"/>
                <a:ea typeface="华文楷体" pitchFamily="2" charset="-122"/>
              </a:rPr>
              <a:t>然人之有是者接于余前，则余安得全其乐乎？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故所至当蓄善药，有求者则与之，而尤喜酿酒以饮客。</a:t>
            </a:r>
            <a:endParaRPr lang="zh-CN" altLang="en-US" b="1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0" y="285728"/>
            <a:ext cx="42862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楷体" pitchFamily="2" charset="-122"/>
                <a:ea typeface="华文楷体" pitchFamily="2" charset="-122"/>
              </a:rPr>
              <a:t>我每天喝酒，不超过五合（半升），天下不能饮酒的人中，没有在我之下的。然而，喜欢看别人饮酒，看见客人举杯开怀畅饮，我的心中为他们感到痛快淋漓，坦荡豁达，酣畅惬意的滋味，甚至超过客人。我闲居在家没有一天没客人，而每次客人来了没有一次不置酒，天下所有喜好饮酒的人，也没有在我之上的了。经常对人说：人生最大的快乐，莫过于身体没病而心中没有忧愁，我就是没有这两种烦恼的人。</a:t>
            </a:r>
            <a:r>
              <a:rPr lang="zh-CN" altLang="en-US" sz="2000" b="1" u="sng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但是，常因这两种烦恼困扰的人接踵来到我的面前，我怎能也让他们享尽人生的快乐呢？</a:t>
            </a:r>
            <a:r>
              <a:rPr lang="en-US" sz="2000" b="1" dirty="0">
                <a:latin typeface="华文楷体" pitchFamily="2" charset="-122"/>
                <a:ea typeface="华文楷体" pitchFamily="2" charset="-122"/>
              </a:rPr>
              <a:t>(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</a:rPr>
              <a:t>按：南京翻译与此不同，细想，更有道理</a:t>
            </a:r>
            <a:r>
              <a:rPr lang="en-US" sz="2000" b="1" dirty="0">
                <a:latin typeface="华文楷体" pitchFamily="2" charset="-122"/>
                <a:ea typeface="华文楷体" pitchFamily="2" charset="-122"/>
              </a:rPr>
              <a:t>)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</a:rPr>
              <a:t>所以，他们来了我经常准备良药，凡是遇到有求的人就送给他们，而这其中尤其喜欢酿酒让客人来饮。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571480"/>
            <a:ext cx="8229600" cy="6286520"/>
          </a:xfrm>
        </p:spPr>
        <p:txBody>
          <a:bodyPr>
            <a:normAutofit/>
          </a:bodyPr>
          <a:lstStyle/>
          <a:p>
            <a:r>
              <a:rPr lang="en-US" b="1" dirty="0" smtClean="0"/>
              <a:t>13</a:t>
            </a:r>
            <a:r>
              <a:rPr lang="en-US" b="1" dirty="0" smtClean="0"/>
              <a:t>.</a:t>
            </a:r>
            <a:r>
              <a:rPr lang="zh-CN" altLang="en-US" b="1" dirty="0" smtClean="0"/>
              <a:t> （</a:t>
            </a:r>
            <a:r>
              <a:rPr lang="en-US" b="1" dirty="0" smtClean="0"/>
              <a:t>1</a:t>
            </a:r>
            <a:r>
              <a:rPr lang="zh-CN" altLang="en-US" b="1" dirty="0" smtClean="0"/>
              <a:t>）</a:t>
            </a:r>
            <a:r>
              <a:rPr lang="zh-CN" altLang="en-US" b="1" u="sng" dirty="0" smtClean="0"/>
              <a:t>然</a:t>
            </a:r>
            <a:r>
              <a:rPr lang="zh-CN" altLang="en-US" b="1" u="sng" dirty="0" smtClean="0"/>
              <a:t>人之有是者接于余前，则余安得全其乐乎？</a:t>
            </a:r>
            <a:endParaRPr lang="en-US" b="1" dirty="0" smtClean="0"/>
          </a:p>
          <a:p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译文：然而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有这两种快乐的人来到我跟前，那我怎么才能保全他们的快乐呢？（</a:t>
            </a:r>
            <a:r>
              <a:rPr 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4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r>
              <a:rPr lang="zh-CN" altLang="en-US" sz="2800" dirty="0" smtClean="0">
                <a:latin typeface="华文楷体" pitchFamily="2" charset="-122"/>
                <a:ea typeface="华文楷体" pitchFamily="2" charset="-122"/>
              </a:rPr>
              <a:t>①</a:t>
            </a:r>
            <a:r>
              <a:rPr lang="zh-CN" altLang="en-US" sz="2800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定语后置。</a:t>
            </a:r>
            <a:r>
              <a:rPr lang="zh-CN" altLang="en-US" sz="2800" dirty="0" smtClean="0">
                <a:latin typeface="华文楷体" pitchFamily="2" charset="-122"/>
                <a:ea typeface="华文楷体" pitchFamily="2" charset="-122"/>
              </a:rPr>
              <a:t>是：这，这二种，这二种快乐。但是翻译成“这一种”“这一个”，不得分。（两点算一点）（</a:t>
            </a:r>
            <a:r>
              <a:rPr lang="en-US" sz="2800" dirty="0" smtClean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sz="2800" dirty="0" smtClean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r>
              <a:rPr lang="zh-CN" altLang="en-US" sz="2800" dirty="0" smtClean="0">
                <a:latin typeface="华文楷体" pitchFamily="2" charset="-122"/>
                <a:ea typeface="华文楷体" pitchFamily="2" charset="-122"/>
              </a:rPr>
              <a:t>②</a:t>
            </a:r>
            <a:r>
              <a:rPr lang="zh-CN" altLang="en-US" sz="2800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接：到；到达；接到</a:t>
            </a:r>
            <a:r>
              <a:rPr lang="zh-CN" altLang="en-US" sz="2800" dirty="0" smtClean="0">
                <a:latin typeface="华文楷体" pitchFamily="2" charset="-122"/>
                <a:ea typeface="华文楷体" pitchFamily="2" charset="-122"/>
              </a:rPr>
              <a:t>；（意思对即可）若翻译成接待、接受、连接等不得分。（</a:t>
            </a:r>
            <a:r>
              <a:rPr lang="en-US" sz="2800" dirty="0" smtClean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sz="2800" dirty="0" smtClean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r>
              <a:rPr lang="zh-CN" altLang="en-US" sz="2800" dirty="0" smtClean="0">
                <a:latin typeface="华文楷体" pitchFamily="2" charset="-122"/>
                <a:ea typeface="华文楷体" pitchFamily="2" charset="-122"/>
              </a:rPr>
              <a:t>③</a:t>
            </a:r>
            <a:r>
              <a:rPr lang="zh-CN" altLang="en-US" sz="2800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全：保全，成全。</a:t>
            </a:r>
            <a:r>
              <a:rPr lang="zh-CN" altLang="en-US" sz="2800" dirty="0" smtClean="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sz="2800" dirty="0" smtClean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sz="2800" dirty="0" smtClean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r>
              <a:rPr lang="zh-CN" altLang="en-US" sz="2800" dirty="0" smtClean="0">
                <a:latin typeface="华文楷体" pitchFamily="2" charset="-122"/>
                <a:ea typeface="华文楷体" pitchFamily="2" charset="-122"/>
              </a:rPr>
              <a:t>④</a:t>
            </a:r>
            <a:r>
              <a:rPr lang="zh-CN" altLang="en-US" sz="2800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其：那些、这些、他的、他们的，均得分；</a:t>
            </a:r>
            <a:r>
              <a:rPr lang="zh-CN" altLang="en-US" sz="2800" dirty="0" smtClean="0">
                <a:latin typeface="华文楷体" pitchFamily="2" charset="-122"/>
                <a:ea typeface="华文楷体" pitchFamily="2" charset="-122"/>
              </a:rPr>
              <a:t>但是翻译成“我的”，不得分。（</a:t>
            </a:r>
            <a:r>
              <a:rPr lang="en-US" sz="2800" dirty="0" smtClean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sz="2800" dirty="0" smtClean="0">
                <a:latin typeface="华文楷体" pitchFamily="2" charset="-122"/>
                <a:ea typeface="华文楷体" pitchFamily="2" charset="-122"/>
              </a:rPr>
              <a:t>分）</a:t>
            </a:r>
            <a:endParaRPr lang="zh-CN" altLang="en-US" sz="2800" dirty="0"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357166"/>
            <a:ext cx="8229600" cy="6500834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b="1" dirty="0" smtClean="0"/>
              <a:t>（</a:t>
            </a:r>
            <a:r>
              <a:rPr lang="en-US" altLang="zh-CN" b="1" dirty="0" smtClean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）</a:t>
            </a:r>
            <a:r>
              <a:rPr lang="zh-CN" altLang="en-US" b="1" u="sng" dirty="0" smtClean="0">
                <a:latin typeface="华文楷体" pitchFamily="2" charset="-122"/>
                <a:ea typeface="华文楷体" pitchFamily="2" charset="-122"/>
              </a:rPr>
              <a:t>东</a:t>
            </a:r>
            <a:r>
              <a:rPr lang="zh-CN" altLang="en-US" b="1" u="sng" dirty="0" smtClean="0">
                <a:latin typeface="华文楷体" pitchFamily="2" charset="-122"/>
                <a:ea typeface="华文楷体" pitchFamily="2" charset="-122"/>
              </a:rPr>
              <a:t>皋子好养性服食，预刻死日自为墓志，余盖友其人于千载，则庶几焉</a:t>
            </a:r>
            <a:r>
              <a:rPr lang="zh-CN" altLang="en-US" b="1" u="sng" dirty="0" smtClean="0">
                <a:latin typeface="华文楷体" pitchFamily="2" charset="-122"/>
                <a:ea typeface="华文楷体" pitchFamily="2" charset="-122"/>
              </a:rPr>
              <a:t>。</a:t>
            </a:r>
            <a:endParaRPr lang="en-US" altLang="zh-CN" b="1" u="sng" dirty="0" smtClean="0">
              <a:latin typeface="华文楷体" pitchFamily="2" charset="-122"/>
              <a:ea typeface="华文楷体" pitchFamily="2" charset="-122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译文：东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皋子喜好修身养性，服食丹药，他预计自己的死期，为自己写了墓志，我能够在千年之后和他做朋友，那也是有幸啊。（</a:t>
            </a:r>
            <a:r>
              <a:rPr 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6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分）  </a:t>
            </a:r>
          </a:p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补充：①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养性：修身养性、修养身心。（</a:t>
            </a:r>
            <a:r>
              <a:rPr lang="en-US" dirty="0" smtClean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②服食：食用丹药。（</a:t>
            </a:r>
            <a:r>
              <a:rPr lang="en-US" dirty="0" smtClean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③预刻死日：预计死亡的日子（刻：限定，解释不做要求）（</a:t>
            </a:r>
            <a:r>
              <a:rPr lang="en-US" dirty="0" smtClean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④友：与</a:t>
            </a:r>
            <a:r>
              <a:rPr lang="en-US" altLang="zh-CN" dirty="0" smtClean="0">
                <a:latin typeface="华文楷体" pitchFamily="2" charset="-122"/>
                <a:ea typeface="华文楷体" pitchFamily="2" charset="-122"/>
              </a:rPr>
              <a:t>……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交朋友，以</a:t>
            </a:r>
            <a:r>
              <a:rPr lang="en-US" altLang="zh-CN" dirty="0" smtClean="0">
                <a:latin typeface="华文楷体" pitchFamily="2" charset="-122"/>
                <a:ea typeface="华文楷体" pitchFamily="2" charset="-122"/>
              </a:rPr>
              <a:t>……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为友。（</a:t>
            </a:r>
            <a:r>
              <a:rPr lang="en-US" dirty="0" smtClean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⑤于千载：状后。（</a:t>
            </a:r>
            <a:r>
              <a:rPr lang="en-US" dirty="0" smtClean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⑥庶几：有幸；翻译成“差不多”、“有希望”、“大概可以”均得分。（</a:t>
            </a:r>
            <a:r>
              <a:rPr lang="en-US" dirty="0" smtClean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214290"/>
            <a:ext cx="8401080" cy="6643710"/>
          </a:xfrm>
        </p:spPr>
        <p:txBody>
          <a:bodyPr>
            <a:normAutofit fontScale="77500" lnSpcReduction="20000"/>
          </a:bodyPr>
          <a:lstStyle/>
          <a:p>
            <a:pPr algn="ctr">
              <a:buNone/>
            </a:pPr>
            <a:r>
              <a:rPr lang="zh-CN" altLang="en-US" sz="3400" b="1" dirty="0" smtClean="0">
                <a:latin typeface="华文楷体" pitchFamily="2" charset="-122"/>
                <a:ea typeface="华文楷体" pitchFamily="2" charset="-122"/>
                <a:hlinkClick r:id="rId2" action="ppaction://hlinksldjump"/>
              </a:rPr>
              <a:t>咏怀古迹五首（其四）</a:t>
            </a:r>
            <a:endParaRPr lang="zh-CN" altLang="en-US" sz="3400" b="1" dirty="0" smtClean="0">
              <a:latin typeface="华文楷体" pitchFamily="2" charset="-122"/>
              <a:ea typeface="华文楷体" pitchFamily="2" charset="-122"/>
            </a:endParaRPr>
          </a:p>
          <a:p>
            <a:pPr algn="ctr">
              <a:buNone/>
            </a:pPr>
            <a:r>
              <a:rPr lang="zh-CN" altLang="en-US" sz="3400" b="1" dirty="0" smtClean="0">
                <a:latin typeface="华文楷体" pitchFamily="2" charset="-122"/>
                <a:ea typeface="华文楷体" pitchFamily="2" charset="-122"/>
              </a:rPr>
              <a:t>唐</a:t>
            </a:r>
            <a:r>
              <a:rPr lang="en-US" sz="3400" b="1" dirty="0" smtClean="0">
                <a:latin typeface="华文楷体" pitchFamily="2" charset="-122"/>
                <a:ea typeface="华文楷体" pitchFamily="2" charset="-122"/>
              </a:rPr>
              <a:t>·</a:t>
            </a:r>
            <a:r>
              <a:rPr lang="zh-CN" altLang="en-US" sz="3400" b="1" dirty="0" smtClean="0">
                <a:latin typeface="华文楷体" pitchFamily="2" charset="-122"/>
                <a:ea typeface="华文楷体" pitchFamily="2" charset="-122"/>
              </a:rPr>
              <a:t>杜甫</a:t>
            </a:r>
          </a:p>
          <a:p>
            <a:pPr algn="ctr">
              <a:buNone/>
            </a:pPr>
            <a:r>
              <a:rPr lang="zh-CN" altLang="en-US" sz="3400" b="1" dirty="0" smtClean="0">
                <a:latin typeface="华文楷体" pitchFamily="2" charset="-122"/>
                <a:ea typeface="华文楷体" pitchFamily="2" charset="-122"/>
              </a:rPr>
              <a:t> 蜀主窥吴幸三峡，崩年亦在永安宫</a:t>
            </a:r>
            <a:r>
              <a:rPr lang="zh-CN" altLang="en-US" sz="3400" b="1" baseline="30000" dirty="0" smtClean="0">
                <a:latin typeface="华文楷体" pitchFamily="2" charset="-122"/>
                <a:ea typeface="华文楷体" pitchFamily="2" charset="-122"/>
              </a:rPr>
              <a:t>①</a:t>
            </a:r>
            <a:r>
              <a:rPr lang="zh-CN" altLang="en-US" sz="3400" b="1" dirty="0" smtClean="0">
                <a:latin typeface="华文楷体" pitchFamily="2" charset="-122"/>
                <a:ea typeface="华文楷体" pitchFamily="2" charset="-122"/>
              </a:rPr>
              <a:t>。</a:t>
            </a:r>
          </a:p>
          <a:p>
            <a:pPr algn="ctr">
              <a:buNone/>
            </a:pPr>
            <a:r>
              <a:rPr lang="zh-CN" altLang="en-US" sz="3400" b="1" dirty="0" smtClean="0">
                <a:latin typeface="华文楷体" pitchFamily="2" charset="-122"/>
                <a:ea typeface="华文楷体" pitchFamily="2" charset="-122"/>
              </a:rPr>
              <a:t>翠华想象空山里，玉殿虚无野寺中。</a:t>
            </a:r>
          </a:p>
          <a:p>
            <a:pPr algn="ctr">
              <a:buNone/>
            </a:pPr>
            <a:r>
              <a:rPr lang="zh-CN" altLang="en-US" sz="3400" b="1" dirty="0" smtClean="0">
                <a:latin typeface="华文楷体" pitchFamily="2" charset="-122"/>
                <a:ea typeface="华文楷体" pitchFamily="2" charset="-122"/>
              </a:rPr>
              <a:t>古</a:t>
            </a:r>
            <a:r>
              <a:rPr lang="zh-CN" altLang="en-US" sz="3400" b="1" dirty="0" smtClean="0">
                <a:latin typeface="华文楷体" pitchFamily="2" charset="-122"/>
                <a:ea typeface="华文楷体" pitchFamily="2" charset="-122"/>
              </a:rPr>
              <a:t>庙杉松巢水鹤，岁时伏腊</a:t>
            </a:r>
            <a:r>
              <a:rPr lang="zh-CN" altLang="en-US" sz="3400" b="1" baseline="30000" dirty="0" smtClean="0">
                <a:latin typeface="华文楷体" pitchFamily="2" charset="-122"/>
                <a:ea typeface="华文楷体" pitchFamily="2" charset="-122"/>
              </a:rPr>
              <a:t>②</a:t>
            </a:r>
            <a:r>
              <a:rPr lang="zh-CN" altLang="en-US" sz="3400" b="1" dirty="0" smtClean="0">
                <a:latin typeface="华文楷体" pitchFamily="2" charset="-122"/>
                <a:ea typeface="华文楷体" pitchFamily="2" charset="-122"/>
              </a:rPr>
              <a:t>走村翁。</a:t>
            </a:r>
          </a:p>
          <a:p>
            <a:pPr algn="ctr">
              <a:buNone/>
            </a:pPr>
            <a:r>
              <a:rPr lang="zh-CN" altLang="en-US" sz="3400" b="1" dirty="0" smtClean="0">
                <a:latin typeface="华文楷体" pitchFamily="2" charset="-122"/>
                <a:ea typeface="华文楷体" pitchFamily="2" charset="-122"/>
              </a:rPr>
              <a:t>武侯祠屋长邻近，一体君臣祭祀同。</a:t>
            </a:r>
          </a:p>
          <a:p>
            <a:r>
              <a:rPr lang="en-US" altLang="zh-CN" sz="3400" b="1" dirty="0" smtClean="0">
                <a:latin typeface="华文楷体" pitchFamily="2" charset="-122"/>
                <a:ea typeface="华文楷体" pitchFamily="2" charset="-122"/>
              </a:rPr>
              <a:t>【</a:t>
            </a:r>
            <a:r>
              <a:rPr lang="zh-CN" altLang="en-US" sz="3400" b="1" dirty="0" smtClean="0">
                <a:latin typeface="华文楷体" pitchFamily="2" charset="-122"/>
                <a:ea typeface="华文楷体" pitchFamily="2" charset="-122"/>
              </a:rPr>
              <a:t>注</a:t>
            </a:r>
            <a:r>
              <a:rPr lang="en-US" altLang="zh-CN" sz="3400" b="1" dirty="0" smtClean="0">
                <a:latin typeface="华文楷体" pitchFamily="2" charset="-122"/>
                <a:ea typeface="华文楷体" pitchFamily="2" charset="-122"/>
              </a:rPr>
              <a:t>】①</a:t>
            </a:r>
            <a:r>
              <a:rPr lang="zh-CN" altLang="en-US" sz="3400" b="1" dirty="0" smtClean="0">
                <a:latin typeface="华文楷体" pitchFamily="2" charset="-122"/>
                <a:ea typeface="华文楷体" pitchFamily="2" charset="-122"/>
              </a:rPr>
              <a:t>永安宫：刘备在白帝城的行宫，临终托孤之处。</a:t>
            </a:r>
            <a:r>
              <a:rPr lang="en-US" sz="3400" b="1" dirty="0" smtClean="0">
                <a:latin typeface="华文楷体" pitchFamily="2" charset="-122"/>
                <a:ea typeface="华文楷体" pitchFamily="2" charset="-122"/>
              </a:rPr>
              <a:t>  </a:t>
            </a:r>
            <a:r>
              <a:rPr lang="zh-CN" altLang="en-US" sz="3400" b="1" dirty="0" smtClean="0">
                <a:latin typeface="华文楷体" pitchFamily="2" charset="-122"/>
                <a:ea typeface="华文楷体" pitchFamily="2" charset="-122"/>
              </a:rPr>
              <a:t>② 伏腊：伏祭和腊祭。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14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．下列对这首诗的理解和赏析，不正确的一项是（ ▲ ）（</a:t>
            </a:r>
            <a:r>
              <a:rPr 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3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pPr>
              <a:buNone/>
            </a:pP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A. 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首联两句互文见义，扣住诗题，点明了永安宫正是当年蜀主刘备巡幸驻跸之处。</a:t>
            </a:r>
          </a:p>
          <a:p>
            <a:pPr>
              <a:buNone/>
            </a:pP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B. 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颔联紧承上联，由今及古，展开想象，遥想当年玉殿凌空、仪仗威严的景况。</a:t>
            </a:r>
          </a:p>
          <a:p>
            <a:pPr>
              <a:buNone/>
            </a:pP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C. 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颈联描写“巢水鹤”、“走村翁”的画面，渲染出先帝庙的热闹与香火旺盛。</a:t>
            </a:r>
          </a:p>
          <a:p>
            <a:pPr>
              <a:buNone/>
            </a:pP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D. 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尾联写到先帝庙旁的武侯祠，作为臣子的诸葛亮与先主同享世人的凭吊和祭祀。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古诗译文与赏析</a:t>
            </a:r>
            <a:br>
              <a:rPr lang="zh-CN" altLang="en-US" b="1" dirty="0" smtClean="0">
                <a:latin typeface="华文楷体" pitchFamily="2" charset="-122"/>
                <a:ea typeface="华文楷体" pitchFamily="2" charset="-122"/>
              </a:rPr>
            </a:br>
            <a:endParaRPr lang="zh-CN" altLang="en-US" b="1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刘备出兵伐吴就驻扎在三峡，无奈战败归来去世在永安宫。</a:t>
            </a:r>
          </a:p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昔日翠旗飘扬空山浩浩荡荡，永安宫湮灭在这荒郊野庙中。</a:t>
            </a:r>
          </a:p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古庙里杉松树上水鹤做了巢，每逢节令仍举行隆重的祭祀。</a:t>
            </a:r>
          </a:p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丞相的祠庙就在先王庙临近，君臣共同享受着礼仪和祭礼。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15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．简析作者在诗中寄寓的感慨。（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6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）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对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刘备壮志未酬中道驾崩的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遗憾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；</a:t>
            </a:r>
            <a:endParaRPr lang="en-US" altLang="zh-CN" b="1" dirty="0" smtClean="0">
              <a:latin typeface="华文楷体" pitchFamily="2" charset="-122"/>
              <a:ea typeface="华文楷体" pitchFamily="2" charset="-122"/>
            </a:endParaRPr>
          </a:p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）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对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永安宫昔盛今衰的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叹惋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；</a:t>
            </a:r>
            <a:endParaRPr lang="en-US" altLang="zh-CN" b="1" dirty="0" smtClean="0">
              <a:latin typeface="华文楷体" pitchFamily="2" charset="-122"/>
              <a:ea typeface="华文楷体" pitchFamily="2" charset="-122"/>
            </a:endParaRPr>
          </a:p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3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）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对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先主武侯生前君臣相得、死后祠庙相邻的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称许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。（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6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分，每点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补充：</a:t>
            </a:r>
            <a:r>
              <a:rPr lang="zh-CN" altLang="en-US" b="1" u="sng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抒发了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自己不受重用抱负难展的</a:t>
            </a:r>
            <a:r>
              <a:rPr lang="zh-CN" altLang="en-US" b="1" u="sng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落寞、失意之情。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96</TotalTime>
  <Words>2275</Words>
  <Application>Microsoft Office PowerPoint</Application>
  <PresentationFormat>全屏显示(4:3)</PresentationFormat>
  <Paragraphs>67</Paragraphs>
  <Slides>14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暗香扑面</vt:lpstr>
      <vt:lpstr>南京市期初测试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古诗译文与赏析 </vt:lpstr>
      <vt:lpstr>幻灯片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南京市期初测试</dc:title>
  <dc:creator>甘琴慧</dc:creator>
  <cp:lastModifiedBy>甘琴慧</cp:lastModifiedBy>
  <cp:revision>11</cp:revision>
  <dcterms:created xsi:type="dcterms:W3CDTF">2020-09-05T11:53:44Z</dcterms:created>
  <dcterms:modified xsi:type="dcterms:W3CDTF">2020-09-05T13:30:03Z</dcterms:modified>
</cp:coreProperties>
</file>
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3" r:id="rId7"/>
    <p:sldId id="264" r:id="rId8"/>
    <p:sldId id="276" r:id="rId9"/>
    <p:sldId id="277" r:id="rId10"/>
    <p:sldId id="266" r:id="rId11"/>
    <p:sldId id="261" r:id="rId12"/>
    <p:sldId id="262" r:id="rId13"/>
    <p:sldId id="278" r:id="rId14"/>
    <p:sldId id="279" r:id="rId15"/>
    <p:sldId id="280" r:id="rId16"/>
    <p:sldId id="281" r:id="rId17"/>
    <p:sldId id="282" r:id="rId18"/>
    <p:sldId id="271" r:id="rId19"/>
    <p:sldId id="283" r:id="rId20"/>
    <p:sldId id="272" r:id="rId21"/>
    <p:sldId id="273" r:id="rId22"/>
    <p:sldId id="274" r:id="rId23"/>
    <p:sldId id="267" r:id="rId24"/>
    <p:sldId id="275" r:id="rId25"/>
    <p:sldId id="269" r:id="rId26"/>
    <p:sldId id="270" r:id="rId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A7D12AA-79D4-4F7E-B696-32DF48FE550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72202-656B-49B8-A5D6-44DDAA83FCAA}"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D12AA-79D4-4F7E-B696-32DF48FE5508}"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F72202-656B-49B8-A5D6-44DDAA83FCA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57158" y="285728"/>
            <a:ext cx="8229600" cy="5840435"/>
          </a:xfrm>
        </p:spPr>
        <p:txBody>
          <a:bodyPr>
            <a:normAutofit fontScale="92500" lnSpcReduction="20000"/>
          </a:bodyPr>
          <a:lstStyle/>
          <a:p>
            <a:pPr>
              <a:buNone/>
            </a:pPr>
            <a:r>
              <a:rPr lang="zh-CN" altLang="en-US" sz="3300" b="1" dirty="0" smtClean="0">
                <a:latin typeface="华文楷体" pitchFamily="2" charset="-122"/>
                <a:ea typeface="华文楷体" pitchFamily="2" charset="-122"/>
              </a:rPr>
              <a:t>作文训练题一</a:t>
            </a:r>
            <a:endParaRPr lang="zh-CN" altLang="en-US" sz="3300" b="1" dirty="0">
              <a:latin typeface="华文楷体" pitchFamily="2" charset="-122"/>
              <a:ea typeface="华文楷体" pitchFamily="2" charset="-122"/>
            </a:endParaRPr>
          </a:p>
          <a:p>
            <a:pPr>
              <a:buNone/>
            </a:pPr>
            <a:r>
              <a:rPr lang="zh-CN" altLang="en-US" b="1" dirty="0">
                <a:latin typeface="华文楷体" pitchFamily="2" charset="-122"/>
                <a:ea typeface="华文楷体" pitchFamily="2" charset="-122"/>
              </a:rPr>
              <a:t>阅读下面的材料，根据要求写作。</a:t>
            </a:r>
            <a:endParaRPr lang="zh-CN" altLang="en-US" b="1" dirty="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有人</a:t>
            </a:r>
            <a:r>
              <a:rPr lang="zh-CN" altLang="en-US" b="1" dirty="0">
                <a:latin typeface="华文楷体" pitchFamily="2" charset="-122"/>
                <a:ea typeface="华文楷体" pitchFamily="2" charset="-122"/>
              </a:rPr>
              <a:t>认为，精彩的人生需要设计，我们应该先想好自己要过怎样的人生，并以此确定自己前进的道路，即对自己未来的发展作出一种预见性的设计</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也有人认为，对于人生，与其执着于设计自己的未来，不如努力让自己拥有更多种可能，因为人生的精彩之处就在于不确定性</a:t>
            </a:r>
            <a:r>
              <a:rPr lang="zh-CN" altLang="en-US" b="1" dirty="0" smtClean="0">
                <a:latin typeface="华文楷体" pitchFamily="2" charset="-122"/>
                <a:ea typeface="华文楷体" pitchFamily="2" charset="-122"/>
              </a:rPr>
              <a:t>。对此</a:t>
            </a:r>
            <a:r>
              <a:rPr lang="zh-CN" altLang="en-US" b="1" dirty="0">
                <a:latin typeface="华文楷体" pitchFamily="2" charset="-122"/>
                <a:ea typeface="华文楷体" pitchFamily="2" charset="-122"/>
              </a:rPr>
              <a:t>，你怎么看</a:t>
            </a:r>
            <a:r>
              <a:rPr lang="en-US" b="1" dirty="0">
                <a:latin typeface="华文楷体" pitchFamily="2" charset="-122"/>
                <a:ea typeface="华文楷体" pitchFamily="2" charset="-122"/>
              </a:rPr>
              <a:t>?</a:t>
            </a:r>
            <a:endParaRPr lang="zh-CN" altLang="en-US" b="1" dirty="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请</a:t>
            </a:r>
            <a:r>
              <a:rPr lang="zh-CN" altLang="en-US" b="1" dirty="0">
                <a:latin typeface="华文楷体" pitchFamily="2" charset="-122"/>
                <a:ea typeface="华文楷体" pitchFamily="2" charset="-122"/>
              </a:rPr>
              <a:t>结合材料内容，面向本校</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统称为“致远中学”</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同学写一篇演讲稿，就“人生是否需要设计”这一话题，谈谈你的认识与思考。</a:t>
            </a:r>
            <a:endParaRPr lang="zh-CN" altLang="en-US" b="1" dirty="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要求</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自拟标题，自选角度，确定立意</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不要套作</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不得抄袭</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不得泄露个人信息</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不少于</a:t>
            </a:r>
            <a:r>
              <a:rPr lang="en-US" b="1" dirty="0">
                <a:latin typeface="华文楷体" pitchFamily="2" charset="-122"/>
                <a:ea typeface="华文楷体" pitchFamily="2" charset="-122"/>
              </a:rPr>
              <a:t>800</a:t>
            </a:r>
            <a:r>
              <a:rPr lang="zh-CN" altLang="en-US" b="1" dirty="0">
                <a:latin typeface="华文楷体" pitchFamily="2" charset="-122"/>
                <a:ea typeface="华文楷体" pitchFamily="2" charset="-122"/>
              </a:rPr>
              <a:t>字。</a:t>
            </a:r>
            <a:endParaRPr lang="zh-CN" altLang="en-US" b="1" dirty="0">
              <a:latin typeface="华文楷体" pitchFamily="2" charset="-122"/>
              <a:ea typeface="华文楷体" pitchFamily="2" charset="-122"/>
            </a:endParaRPr>
          </a:p>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14290"/>
            <a:ext cx="8229600" cy="5911873"/>
          </a:xfrm>
        </p:spPr>
        <p:txBody>
          <a:bodyPr>
            <a:normAutofit fontScale="92500" lnSpcReduction="10000"/>
          </a:bodyPr>
          <a:lstStyle/>
          <a:p>
            <a:pPr>
              <a:buNone/>
            </a:pPr>
            <a:r>
              <a:rPr lang="en-US" altLang="zh-CN" b="1" dirty="0">
                <a:latin typeface="华文楷体" pitchFamily="2" charset="-122"/>
                <a:ea typeface="华文楷体" pitchFamily="2" charset="-122"/>
              </a:rPr>
              <a:t>【</a:t>
            </a:r>
            <a:r>
              <a:rPr lang="zh-CN" altLang="en-US" b="1" dirty="0">
                <a:latin typeface="华文楷体" pitchFamily="2" charset="-122"/>
                <a:ea typeface="华文楷体" pitchFamily="2" charset="-122"/>
              </a:rPr>
              <a:t>思路点拨</a:t>
            </a:r>
            <a:r>
              <a:rPr lang="en-US" altLang="zh-CN" b="1" dirty="0">
                <a:latin typeface="华文楷体" pitchFamily="2" charset="-122"/>
                <a:ea typeface="华文楷体" pitchFamily="2" charset="-122"/>
              </a:rPr>
              <a:t>】</a:t>
            </a:r>
            <a:endParaRPr lang="en-US" altLang="zh-CN" b="1" dirty="0">
              <a:latin typeface="华文楷体" pitchFamily="2" charset="-122"/>
              <a:ea typeface="华文楷体" pitchFamily="2" charset="-122"/>
            </a:endParaRPr>
          </a:p>
          <a:p>
            <a:pPr>
              <a:buNone/>
            </a:pPr>
            <a:r>
              <a:rPr lang="en-US" b="1" dirty="0">
                <a:solidFill>
                  <a:srgbClr val="FF0000"/>
                </a:solidFill>
                <a:latin typeface="华文楷体" pitchFamily="2" charset="-122"/>
                <a:ea typeface="华文楷体" pitchFamily="2" charset="-122"/>
              </a:rPr>
              <a:t>1.</a:t>
            </a:r>
            <a:r>
              <a:rPr lang="zh-CN" altLang="en-US" b="1" dirty="0">
                <a:solidFill>
                  <a:srgbClr val="FF0000"/>
                </a:solidFill>
                <a:latin typeface="华文楷体" pitchFamily="2" charset="-122"/>
                <a:ea typeface="华文楷体" pitchFamily="2" charset="-122"/>
              </a:rPr>
              <a:t>认识题型：材料</a:t>
            </a:r>
            <a:r>
              <a:rPr lang="en-US" b="1" dirty="0">
                <a:solidFill>
                  <a:srgbClr val="FF0000"/>
                </a:solidFill>
                <a:latin typeface="华文楷体" pitchFamily="2" charset="-122"/>
                <a:ea typeface="华文楷体" pitchFamily="2" charset="-122"/>
              </a:rPr>
              <a:t>+</a:t>
            </a:r>
            <a:r>
              <a:rPr lang="zh-CN" altLang="en-US" b="1" dirty="0">
                <a:solidFill>
                  <a:srgbClr val="FF0000"/>
                </a:solidFill>
                <a:latin typeface="华文楷体" pitchFamily="2" charset="-122"/>
                <a:ea typeface="华文楷体" pitchFamily="2" charset="-122"/>
              </a:rPr>
              <a:t>情境</a:t>
            </a:r>
            <a:r>
              <a:rPr lang="en-US" b="1" dirty="0">
                <a:solidFill>
                  <a:srgbClr val="FF0000"/>
                </a:solidFill>
                <a:latin typeface="华文楷体" pitchFamily="2" charset="-122"/>
                <a:ea typeface="华文楷体" pitchFamily="2" charset="-122"/>
              </a:rPr>
              <a:t>+</a:t>
            </a:r>
            <a:r>
              <a:rPr lang="zh-CN" altLang="en-US" b="1" dirty="0">
                <a:solidFill>
                  <a:srgbClr val="FF0000"/>
                </a:solidFill>
                <a:latin typeface="华文楷体" pitchFamily="2" charset="-122"/>
                <a:ea typeface="华文楷体" pitchFamily="2" charset="-122"/>
              </a:rPr>
              <a:t>任务驱动</a:t>
            </a:r>
            <a:endParaRPr lang="zh-CN" altLang="en-US" b="1" dirty="0">
              <a:solidFill>
                <a:srgbClr val="FF0000"/>
              </a:solidFill>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a:t>
            </a:r>
            <a:r>
              <a:rPr lang="en-US" b="1" dirty="0">
                <a:latin typeface="华文楷体" pitchFamily="2" charset="-122"/>
                <a:ea typeface="华文楷体" pitchFamily="2" charset="-122"/>
              </a:rPr>
              <a:t>1</a:t>
            </a:r>
            <a:r>
              <a:rPr lang="zh-CN" altLang="en-US" b="1" dirty="0">
                <a:latin typeface="华文楷体" pitchFamily="2" charset="-122"/>
                <a:ea typeface="华文楷体" pitchFamily="2" charset="-122"/>
              </a:rPr>
              <a:t>）材料：</a:t>
            </a:r>
            <a:r>
              <a:rPr lang="zh-CN" altLang="en-US" b="1" dirty="0">
                <a:solidFill>
                  <a:srgbClr val="FF0000"/>
                </a:solidFill>
                <a:latin typeface="华文楷体" pitchFamily="2" charset="-122"/>
                <a:ea typeface="华文楷体" pitchFamily="2" charset="-122"/>
              </a:rPr>
              <a:t>材料提出两种观点，且观点针锋相对，正方和反方式的存在。</a:t>
            </a:r>
            <a:r>
              <a:rPr lang="zh-CN" altLang="en-US" b="1" dirty="0">
                <a:latin typeface="华文楷体" pitchFamily="2" charset="-122"/>
                <a:ea typeface="华文楷体" pitchFamily="2" charset="-122"/>
              </a:rPr>
              <a:t>一是人生需要设计，“对自己未来的发展作出一种预见性的设计”；一是人生不需要设计，“因为人生的精彩之处就在于不确定性”。</a:t>
            </a:r>
            <a:endParaRPr lang="zh-CN" altLang="en-US" b="1" dirty="0">
              <a:latin typeface="华文楷体" pitchFamily="2" charset="-122"/>
              <a:ea typeface="华文楷体" pitchFamily="2" charset="-122"/>
            </a:endParaRPr>
          </a:p>
          <a:p>
            <a:pPr>
              <a:buNone/>
            </a:pPr>
            <a:r>
              <a:rPr lang="zh-CN" altLang="en-US" b="1" dirty="0">
                <a:latin typeface="华文楷体" pitchFamily="2" charset="-122"/>
                <a:ea typeface="华文楷体" pitchFamily="2" charset="-122"/>
              </a:rPr>
              <a:t>（</a:t>
            </a:r>
            <a:r>
              <a:rPr lang="en-US" b="1" dirty="0">
                <a:latin typeface="华文楷体" pitchFamily="2" charset="-122"/>
                <a:ea typeface="华文楷体" pitchFamily="2" charset="-122"/>
              </a:rPr>
              <a:t>2</a:t>
            </a:r>
            <a:r>
              <a:rPr lang="zh-CN" altLang="en-US" b="1" dirty="0">
                <a:latin typeface="华文楷体" pitchFamily="2" charset="-122"/>
                <a:ea typeface="华文楷体" pitchFamily="2" charset="-122"/>
              </a:rPr>
              <a:t>）情境：面向本校</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统称为“致远中学”</a:t>
            </a:r>
            <a:r>
              <a:rPr lang="en-US" b="1" dirty="0">
                <a:latin typeface="华文楷体" pitchFamily="2" charset="-122"/>
                <a:ea typeface="华文楷体" pitchFamily="2" charset="-122"/>
              </a:rPr>
              <a:t>)</a:t>
            </a:r>
            <a:r>
              <a:rPr lang="zh-CN" altLang="en-US" b="1" dirty="0">
                <a:latin typeface="华文楷体" pitchFamily="2" charset="-122"/>
                <a:ea typeface="华文楷体" pitchFamily="2" charset="-122"/>
              </a:rPr>
              <a:t>同学写一篇演讲稿。</a:t>
            </a:r>
            <a:endParaRPr lang="zh-CN" altLang="en-US" b="1" dirty="0">
              <a:latin typeface="华文楷体" pitchFamily="2" charset="-122"/>
              <a:ea typeface="华文楷体" pitchFamily="2" charset="-122"/>
            </a:endParaRPr>
          </a:p>
          <a:p>
            <a:pPr>
              <a:buNone/>
            </a:pPr>
            <a:r>
              <a:rPr lang="zh-CN" altLang="en-US" b="1" dirty="0">
                <a:latin typeface="华文楷体" pitchFamily="2" charset="-122"/>
                <a:ea typeface="华文楷体" pitchFamily="2" charset="-122"/>
              </a:rPr>
              <a:t>（</a:t>
            </a:r>
            <a:r>
              <a:rPr lang="en-US" b="1" dirty="0">
                <a:latin typeface="华文楷体" pitchFamily="2" charset="-122"/>
                <a:ea typeface="华文楷体" pitchFamily="2" charset="-122"/>
              </a:rPr>
              <a:t>3</a:t>
            </a:r>
            <a:r>
              <a:rPr lang="zh-CN" altLang="en-US" b="1" dirty="0">
                <a:latin typeface="华文楷体" pitchFamily="2" charset="-122"/>
                <a:ea typeface="华文楷体" pitchFamily="2" charset="-122"/>
              </a:rPr>
              <a:t>）任务：“人生是否需要设计”主题演讲。</a:t>
            </a:r>
            <a:endParaRPr lang="zh-CN" altLang="en-US" b="1" dirty="0">
              <a:latin typeface="华文楷体" pitchFamily="2" charset="-122"/>
              <a:ea typeface="华文楷体" pitchFamily="2" charset="-122"/>
            </a:endParaRPr>
          </a:p>
          <a:p>
            <a:pPr>
              <a:buNone/>
            </a:pPr>
            <a:r>
              <a:rPr lang="zh-CN" altLang="en-US" b="1" dirty="0">
                <a:latin typeface="华文楷体" pitchFamily="2" charset="-122"/>
                <a:ea typeface="华文楷体" pitchFamily="2" charset="-122"/>
              </a:rPr>
              <a:t>小提醒：题目中的“致远中学”，可以在文中以适当的方式展现出来，</a:t>
            </a:r>
            <a:r>
              <a:rPr lang="zh-CN" altLang="en-US" b="1" dirty="0">
                <a:solidFill>
                  <a:srgbClr val="FF0000"/>
                </a:solidFill>
                <a:latin typeface="华文楷体" pitchFamily="2" charset="-122"/>
                <a:ea typeface="华文楷体" pitchFamily="2" charset="-122"/>
              </a:rPr>
              <a:t>演讲稿的文体特征要明显，结尾不要加姓名和日期，这一点有别书信。</a:t>
            </a:r>
            <a:endParaRPr lang="zh-CN" altLang="en-US" b="1" dirty="0">
              <a:solidFill>
                <a:srgbClr val="FF0000"/>
              </a:solidFill>
              <a:latin typeface="华文楷体" pitchFamily="2" charset="-122"/>
              <a:ea typeface="华文楷体" pitchFamily="2" charset="-122"/>
            </a:endParaRPr>
          </a:p>
          <a:p>
            <a:endParaRPr lang="zh-CN" altLang="en-US" b="1" dirty="0">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85728"/>
            <a:ext cx="8229600" cy="5840435"/>
          </a:xfrm>
        </p:spPr>
        <p:txBody>
          <a:bodyPr>
            <a:normAutofit fontScale="92500" lnSpcReduction="20000"/>
          </a:bodyPr>
          <a:lstStyle/>
          <a:p>
            <a:pPr>
              <a:buNone/>
            </a:pPr>
            <a:r>
              <a:rPr lang="en-US" b="1" dirty="0">
                <a:solidFill>
                  <a:srgbClr val="FF0000"/>
                </a:solidFill>
                <a:latin typeface="华文楷体" pitchFamily="2" charset="-122"/>
                <a:ea typeface="华文楷体" pitchFamily="2" charset="-122"/>
              </a:rPr>
              <a:t>2.</a:t>
            </a:r>
            <a:r>
              <a:rPr lang="zh-CN" altLang="en-US" b="1" dirty="0">
                <a:solidFill>
                  <a:srgbClr val="FF0000"/>
                </a:solidFill>
                <a:latin typeface="华文楷体" pitchFamily="2" charset="-122"/>
                <a:ea typeface="华文楷体" pitchFamily="2" charset="-122"/>
              </a:rPr>
              <a:t>确定立意：选取最顺手的立意</a:t>
            </a:r>
            <a:endParaRPr lang="zh-CN" altLang="en-US" b="1" dirty="0">
              <a:solidFill>
                <a:srgbClr val="FF0000"/>
              </a:solidFill>
              <a:latin typeface="华文楷体" pitchFamily="2" charset="-122"/>
              <a:ea typeface="华文楷体" pitchFamily="2" charset="-122"/>
            </a:endParaRPr>
          </a:p>
          <a:p>
            <a:pPr>
              <a:buNone/>
            </a:pPr>
            <a:r>
              <a:rPr lang="zh-CN" altLang="en-US" b="1" dirty="0">
                <a:latin typeface="华文楷体" pitchFamily="2" charset="-122"/>
                <a:ea typeface="华文楷体" pitchFamily="2" charset="-122"/>
              </a:rPr>
              <a:t>我们先来看看命题人给出的立意参考：</a:t>
            </a:r>
            <a:endParaRPr lang="zh-CN" altLang="en-US" b="1" dirty="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①</a:t>
            </a:r>
            <a:r>
              <a:rPr lang="zh-CN" altLang="en-US" b="1" dirty="0">
                <a:latin typeface="华文楷体" pitchFamily="2" charset="-122"/>
                <a:ea typeface="华文楷体" pitchFamily="2" charset="-122"/>
              </a:rPr>
              <a:t>精彩的人生需要设计；②人生不需要设计；③人生既需要设计，更应该享受即兴发挥；等等。</a:t>
            </a:r>
            <a:endParaRPr lang="zh-CN" altLang="en-US" b="1" dirty="0">
              <a:latin typeface="华文楷体" pitchFamily="2" charset="-122"/>
              <a:ea typeface="华文楷体" pitchFamily="2" charset="-122"/>
            </a:endParaRPr>
          </a:p>
          <a:p>
            <a:pPr>
              <a:buNone/>
            </a:pPr>
            <a:r>
              <a:rPr lang="zh-CN" altLang="en-US" b="1" dirty="0">
                <a:latin typeface="华文楷体" pitchFamily="2" charset="-122"/>
                <a:ea typeface="华文楷体" pitchFamily="2" charset="-122"/>
              </a:rPr>
              <a:t>评价：①②是正反，犹如有人爱有人恨，个性分明；③是中庸。但是从写作的入笔行文难易度角度来讲，①是最容易写的，理由可以说得充分一些。②要想写好难找理由。③有思辩色彩，话题不集中，控制不好就会走偏。</a:t>
            </a:r>
            <a:endParaRPr lang="zh-CN" altLang="en-US" b="1" dirty="0">
              <a:latin typeface="华文楷体" pitchFamily="2" charset="-122"/>
              <a:ea typeface="华文楷体" pitchFamily="2" charset="-122"/>
            </a:endParaRPr>
          </a:p>
          <a:p>
            <a:pPr>
              <a:buNone/>
            </a:pPr>
            <a:r>
              <a:rPr lang="zh-CN" altLang="en-US" b="1" dirty="0">
                <a:latin typeface="华文楷体" pitchFamily="2" charset="-122"/>
                <a:ea typeface="华文楷体" pitchFamily="2" charset="-122"/>
              </a:rPr>
              <a:t>写第②种观点的同学，作文十之有九说理站不住脚。实践证明剑走偏锋，没有非常之武功是自取灭亡。第②种观点可以写，但那条路不是常人能走。</a:t>
            </a:r>
            <a:endParaRPr lang="zh-CN" altLang="en-US" b="1" dirty="0">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571480"/>
            <a:ext cx="8229600" cy="5554683"/>
          </a:xfrm>
        </p:spPr>
        <p:txBody>
          <a:bodyPr/>
          <a:lstStyle/>
          <a:p>
            <a:r>
              <a:rPr lang="en-US" altLang="zh-CN" b="1" dirty="0">
                <a:latin typeface="华文楷体" pitchFamily="2" charset="-122"/>
                <a:ea typeface="华文楷体" pitchFamily="2" charset="-122"/>
              </a:rPr>
              <a:t>【</a:t>
            </a:r>
            <a:r>
              <a:rPr lang="zh-CN" altLang="en-US" b="1" dirty="0">
                <a:latin typeface="华文楷体" pitchFamily="2" charset="-122"/>
                <a:ea typeface="华文楷体" pitchFamily="2" charset="-122"/>
              </a:rPr>
              <a:t>例</a:t>
            </a:r>
            <a:r>
              <a:rPr lang="en-US" b="1" dirty="0">
                <a:latin typeface="华文楷体" pitchFamily="2" charset="-122"/>
                <a:ea typeface="华文楷体" pitchFamily="2" charset="-122"/>
              </a:rPr>
              <a:t>1</a:t>
            </a:r>
            <a:r>
              <a:rPr lang="en-US" altLang="zh-CN" b="1" dirty="0">
                <a:latin typeface="华文楷体" pitchFamily="2" charset="-122"/>
                <a:ea typeface="华文楷体" pitchFamily="2" charset="-122"/>
              </a:rPr>
              <a:t>】……</a:t>
            </a:r>
            <a:r>
              <a:rPr lang="zh-CN" altLang="en-US" b="1" dirty="0">
                <a:latin typeface="华文楷体" pitchFamily="2" charset="-122"/>
                <a:ea typeface="华文楷体" pitchFamily="2" charset="-122"/>
              </a:rPr>
              <a:t>马云没有执著于设计自己的未来，他退过不断的努力，让自己拥有更多的可能，最终走向了成功。他的人生多么精彩啊！未来的不确定性使他对生活更具挑战性（应该“敢于挑战生活”），使他的人生更加精彩。精彩的人生怎么可以挑战呢？</a:t>
            </a:r>
            <a:endParaRPr lang="zh-CN" altLang="en-US" b="1" dirty="0">
              <a:latin typeface="华文楷体" pitchFamily="2" charset="-122"/>
              <a:ea typeface="华文楷体" pitchFamily="2" charset="-122"/>
            </a:endParaRPr>
          </a:p>
          <a:p>
            <a:endParaRPr lang="zh-CN" altLang="en-US"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85720" y="285728"/>
            <a:ext cx="8329642" cy="5715040"/>
          </a:xfrm>
        </p:spPr>
        <p:txBody>
          <a:bodyPr>
            <a:normAutofit fontScale="92500" lnSpcReduction="20000"/>
          </a:bodyPr>
          <a:lstStyle/>
          <a:p>
            <a:r>
              <a:rPr lang="en-US" altLang="zh-CN" b="1" dirty="0">
                <a:latin typeface="华文楷体" pitchFamily="2" charset="-122"/>
                <a:ea typeface="华文楷体" pitchFamily="2" charset="-122"/>
              </a:rPr>
              <a:t>【</a:t>
            </a:r>
            <a:r>
              <a:rPr lang="zh-CN" altLang="en-US" b="1" dirty="0">
                <a:latin typeface="华文楷体" pitchFamily="2" charset="-122"/>
                <a:ea typeface="华文楷体" pitchFamily="2" charset="-122"/>
              </a:rPr>
              <a:t>例</a:t>
            </a:r>
            <a:r>
              <a:rPr lang="en-US" b="1" dirty="0">
                <a:latin typeface="华文楷体" pitchFamily="2" charset="-122"/>
                <a:ea typeface="华文楷体" pitchFamily="2" charset="-122"/>
              </a:rPr>
              <a:t>2</a:t>
            </a:r>
            <a:r>
              <a:rPr lang="en-US" altLang="zh-CN" b="1" dirty="0">
                <a:latin typeface="华文楷体" pitchFamily="2" charset="-122"/>
                <a:ea typeface="华文楷体" pitchFamily="2" charset="-122"/>
              </a:rPr>
              <a:t>】</a:t>
            </a:r>
            <a:r>
              <a:rPr lang="zh-CN" altLang="en-US" b="1" dirty="0">
                <a:latin typeface="华文楷体" pitchFamily="2" charset="-122"/>
                <a:ea typeface="华文楷体" pitchFamily="2" charset="-122"/>
              </a:rPr>
              <a:t>再者，就算人生真的可以设计，可是我们应该去设计吗？为自己设计一个天衣无缝、精妙绝伦的人生真的有必要吗？著名哲学学康德说过：“人一刻也无法离开当下，也不应该如此。（此处应当多写了一个“不”字）”尊重眼前的这一秒，把此刻的一件事做到极致，做到至善至美，这不是我们应该追求的人生态度吗？我曾见过许多人，他们沉迷于在脑海中为自己设计出所谓的努力，然后便 心满意足于自己的“愤发图强”，好像他们真的做了什么大事似的。毫无疑问，他们的努力永远是将来式，他们将生活的重心与希望放在遥不可及的未来，而对当下熟视无睹，毫无敬意，可以推测的是，他们的生活必然无比空虚与无趣。这也说明了设计人生不过是一件自讨苦吃的傻事。</a:t>
            </a:r>
            <a:endParaRPr lang="zh-CN" altLang="en-US" b="1" dirty="0">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28596" y="857232"/>
            <a:ext cx="8229600" cy="4525963"/>
          </a:xfrm>
        </p:spPr>
        <p:txBody>
          <a:bodyPr>
            <a:normAutofit fontScale="92500" lnSpcReduction="20000"/>
          </a:bodyPr>
          <a:lstStyle/>
          <a:p>
            <a:r>
              <a:rPr lang="en-US" b="1" dirty="0">
                <a:solidFill>
                  <a:srgbClr val="FF0000"/>
                </a:solidFill>
                <a:latin typeface="华文楷体" pitchFamily="2" charset="-122"/>
                <a:ea typeface="华文楷体" pitchFamily="2" charset="-122"/>
              </a:rPr>
              <a:t>3.</a:t>
            </a:r>
            <a:r>
              <a:rPr lang="zh-CN" altLang="en-US" b="1" dirty="0">
                <a:solidFill>
                  <a:srgbClr val="FF0000"/>
                </a:solidFill>
                <a:latin typeface="华文楷体" pitchFamily="2" charset="-122"/>
                <a:ea typeface="华文楷体" pitchFamily="2" charset="-122"/>
              </a:rPr>
              <a:t>紧扣主题：你怎样理解“设计”</a:t>
            </a:r>
            <a:endParaRPr lang="zh-CN" altLang="en-US" b="1" dirty="0">
              <a:solidFill>
                <a:srgbClr val="FF0000"/>
              </a:solidFill>
              <a:latin typeface="华文楷体" pitchFamily="2" charset="-122"/>
              <a:ea typeface="华文楷体" pitchFamily="2" charset="-122"/>
            </a:endParaRPr>
          </a:p>
          <a:p>
            <a:pPr>
              <a:buNone/>
            </a:pPr>
            <a:r>
              <a:rPr lang="zh-CN" altLang="en-US" dirty="0" smtClean="0">
                <a:latin typeface="华文楷体" pitchFamily="2" charset="-122"/>
                <a:ea typeface="华文楷体" pitchFamily="2" charset="-122"/>
              </a:rPr>
              <a:t>        </a:t>
            </a:r>
            <a:r>
              <a:rPr lang="zh-CN" altLang="en-US" b="1" dirty="0" smtClean="0">
                <a:latin typeface="华文楷体" pitchFamily="2" charset="-122"/>
                <a:ea typeface="华文楷体" pitchFamily="2" charset="-122"/>
              </a:rPr>
              <a:t>话题</a:t>
            </a:r>
            <a:r>
              <a:rPr lang="zh-CN" altLang="en-US" b="1" dirty="0">
                <a:latin typeface="华文楷体" pitchFamily="2" charset="-122"/>
                <a:ea typeface="华文楷体" pitchFamily="2" charset="-122"/>
              </a:rPr>
              <a:t>中心词是“设计”。对这一概念的内涵要充分理解，并深入思考。百度设计，得出的解释是：设计是把一种设想通过合理的规划、周密的计划、通过各种方式表达出来的过程。</a:t>
            </a:r>
            <a:endParaRPr lang="zh-CN" altLang="en-US" b="1" dirty="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设计</a:t>
            </a:r>
            <a:r>
              <a:rPr lang="zh-CN" altLang="en-US" b="1" dirty="0">
                <a:latin typeface="华文楷体" pitchFamily="2" charset="-122"/>
                <a:ea typeface="华文楷体" pitchFamily="2" charset="-122"/>
              </a:rPr>
              <a:t>就是规划和计划，要做到合理和周密。从广义上来说，人生设计就是对未来人生发展方向作预见性的设定，就是理想追求。从狭义上来说，人生设计师是对</a:t>
            </a:r>
            <a:r>
              <a:rPr lang="zh-CN" altLang="en-US" b="1" dirty="0" smtClean="0">
                <a:latin typeface="华文楷体" pitchFamily="2" charset="-122"/>
                <a:ea typeface="华文楷体" pitchFamily="2" charset="-122"/>
              </a:rPr>
              <a:t>自己现有</a:t>
            </a:r>
            <a:r>
              <a:rPr lang="zh-CN" altLang="en-US" b="1" dirty="0">
                <a:latin typeface="华文楷体" pitchFamily="2" charset="-122"/>
                <a:ea typeface="华文楷体" pitchFamily="2" charset="-122"/>
              </a:rPr>
              <a:t>的</a:t>
            </a:r>
            <a:r>
              <a:rPr lang="zh-CN" altLang="en-US" b="1" dirty="0" smtClean="0">
                <a:latin typeface="华文楷体" pitchFamily="2" charset="-122"/>
                <a:ea typeface="华文楷体" pitchFamily="2" charset="-122"/>
              </a:rPr>
              <a:t>生活做</a:t>
            </a:r>
            <a:r>
              <a:rPr lang="zh-CN" altLang="en-US" b="1" dirty="0">
                <a:latin typeface="华文楷体" pitchFamily="2" charset="-122"/>
                <a:ea typeface="华文楷体" pitchFamily="2" charset="-122"/>
              </a:rPr>
              <a:t>合理而周密的规划安排。“我想要什么？我如何去做？”这就是设计。</a:t>
            </a:r>
            <a:endParaRPr lang="zh-CN" altLang="en-US" b="1" dirty="0">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85720" y="285728"/>
            <a:ext cx="8401080" cy="5840435"/>
          </a:xfrm>
        </p:spPr>
        <p:txBody>
          <a:bodyPr/>
          <a:lstStyle/>
          <a:p>
            <a:pPr>
              <a:buNone/>
            </a:pPr>
            <a:r>
              <a:rPr lang="en-US" b="1" dirty="0" smtClean="0">
                <a:solidFill>
                  <a:srgbClr val="FF0000"/>
                </a:solidFill>
                <a:latin typeface="华文楷体" pitchFamily="2" charset="-122"/>
                <a:ea typeface="华文楷体" pitchFamily="2" charset="-122"/>
              </a:rPr>
              <a:t>4.</a:t>
            </a:r>
            <a:r>
              <a:rPr lang="zh-CN" altLang="en-US" b="1" dirty="0" smtClean="0">
                <a:solidFill>
                  <a:srgbClr val="FF0000"/>
                </a:solidFill>
                <a:latin typeface="华文楷体" pitchFamily="2" charset="-122"/>
                <a:ea typeface="华文楷体" pitchFamily="2" charset="-122"/>
              </a:rPr>
              <a:t>行文构思：广度和深度</a:t>
            </a:r>
            <a:endParaRPr lang="zh-CN" altLang="en-US" b="1" dirty="0" smtClean="0">
              <a:solidFill>
                <a:srgbClr val="FF0000"/>
              </a:solidFill>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设计</a:t>
            </a:r>
            <a:r>
              <a:rPr lang="zh-CN" altLang="en-US" b="1" dirty="0" smtClean="0">
                <a:latin typeface="华文楷体" pitchFamily="2" charset="-122"/>
                <a:ea typeface="华文楷体" pitchFamily="2" charset="-122"/>
              </a:rPr>
              <a:t>中</a:t>
            </a:r>
            <a:r>
              <a:rPr lang="zh-CN" altLang="en-US" b="1" dirty="0" smtClean="0">
                <a:solidFill>
                  <a:srgbClr val="FF0000"/>
                </a:solidFill>
                <a:latin typeface="华文楷体" pitchFamily="2" charset="-122"/>
                <a:ea typeface="华文楷体" pitchFamily="2" charset="-122"/>
              </a:rPr>
              <a:t>有什么，为什么需要设计，如何去设计。</a:t>
            </a:r>
            <a:r>
              <a:rPr lang="zh-CN" altLang="en-US" b="1" dirty="0" smtClean="0">
                <a:latin typeface="华文楷体" pitchFamily="2" charset="-122"/>
                <a:ea typeface="华文楷体" pitchFamily="2" charset="-122"/>
              </a:rPr>
              <a:t>（本次作文的重点要放到为什么要设计或不需要设计上来）。可以采用并列式结构，如总结</a:t>
            </a:r>
            <a:r>
              <a:rPr lang="zh-CN" altLang="en-US" b="1" dirty="0" smtClean="0">
                <a:solidFill>
                  <a:srgbClr val="FF0000"/>
                </a:solidFill>
                <a:latin typeface="华文楷体" pitchFamily="2" charset="-122"/>
                <a:ea typeface="华文楷体" pitchFamily="2" charset="-122"/>
              </a:rPr>
              <a:t>自己过去设计未来，面对个人现实设计未来，面对时代背景设计未来</a:t>
            </a:r>
            <a:r>
              <a:rPr lang="zh-CN" altLang="en-US" b="1" dirty="0" smtClean="0">
                <a:latin typeface="华文楷体" pitchFamily="2" charset="-122"/>
                <a:ea typeface="华文楷体" pitchFamily="2" charset="-122"/>
              </a:rPr>
              <a:t>；如</a:t>
            </a:r>
            <a:r>
              <a:rPr lang="zh-CN" altLang="en-US" b="1" dirty="0" smtClean="0">
                <a:solidFill>
                  <a:srgbClr val="FF0000"/>
                </a:solidFill>
                <a:latin typeface="华文楷体" pitchFamily="2" charset="-122"/>
                <a:ea typeface="华文楷体" pitchFamily="2" charset="-122"/>
              </a:rPr>
              <a:t>人的道德塑像设计</a:t>
            </a:r>
            <a:r>
              <a:rPr lang="zh-CN" altLang="en-US" b="1" dirty="0" smtClean="0">
                <a:latin typeface="华文楷体" pitchFamily="2" charset="-122"/>
                <a:ea typeface="华文楷体" pitchFamily="2" charset="-122"/>
              </a:rPr>
              <a:t>，</a:t>
            </a:r>
            <a:r>
              <a:rPr lang="zh-CN" altLang="en-US" b="1" dirty="0" smtClean="0">
                <a:solidFill>
                  <a:srgbClr val="FF0000"/>
                </a:solidFill>
                <a:latin typeface="华文楷体" pitchFamily="2" charset="-122"/>
                <a:ea typeface="华文楷体" pitchFamily="2" charset="-122"/>
              </a:rPr>
              <a:t>人的专业技能设计</a:t>
            </a:r>
            <a:r>
              <a:rPr lang="zh-CN" altLang="en-US" b="1" dirty="0" smtClean="0">
                <a:latin typeface="华文楷体" pitchFamily="2" charset="-122"/>
                <a:ea typeface="华文楷体" pitchFamily="2" charset="-122"/>
              </a:rPr>
              <a:t>，</a:t>
            </a:r>
            <a:r>
              <a:rPr lang="zh-CN" altLang="en-US" b="1" dirty="0" smtClean="0">
                <a:solidFill>
                  <a:srgbClr val="FF0000"/>
                </a:solidFill>
                <a:latin typeface="华文楷体" pitchFamily="2" charset="-122"/>
                <a:ea typeface="华文楷体" pitchFamily="2" charset="-122"/>
              </a:rPr>
              <a:t>人的生活情趣设计</a:t>
            </a:r>
            <a:r>
              <a:rPr lang="zh-CN" altLang="en-US" b="1" dirty="0" smtClean="0">
                <a:latin typeface="华文楷体" pitchFamily="2" charset="-122"/>
                <a:ea typeface="华文楷体" pitchFamily="2" charset="-122"/>
              </a:rPr>
              <a:t>等。结构上打开思路，想得宽点，广点，自然文章下笔就从容自信些。此外，古今中外的例子，想得多点，也是广度的体现。</a:t>
            </a:r>
            <a:endParaRPr lang="zh-CN" altLang="en-US" b="1" dirty="0" smtClean="0">
              <a:latin typeface="华文楷体" pitchFamily="2" charset="-122"/>
              <a:ea typeface="华文楷体" pitchFamily="2" charset="-122"/>
            </a:endParaRPr>
          </a:p>
          <a:p>
            <a:pPr>
              <a:buNone/>
            </a:pP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85720" y="214290"/>
            <a:ext cx="8229600" cy="4525963"/>
          </a:xfrm>
        </p:spPr>
        <p:txBody>
          <a:bodyPr/>
          <a:lstStyle/>
          <a:p>
            <a:r>
              <a:rPr lang="zh-CN" altLang="en-US" b="1" dirty="0" smtClean="0">
                <a:latin typeface="华文楷体" pitchFamily="2" charset="-122"/>
                <a:ea typeface="华文楷体" pitchFamily="2" charset="-122"/>
              </a:rPr>
              <a:t>    在</a:t>
            </a:r>
            <a:r>
              <a:rPr lang="zh-CN" altLang="en-US" b="1" dirty="0" smtClean="0">
                <a:latin typeface="华文楷体" pitchFamily="2" charset="-122"/>
                <a:ea typeface="华文楷体" pitchFamily="2" charset="-122"/>
              </a:rPr>
              <a:t>讲到了设计的重要性的同时，也可以辩证思考，</a:t>
            </a:r>
            <a:r>
              <a:rPr lang="zh-CN" altLang="en-US" b="1" dirty="0" smtClean="0">
                <a:solidFill>
                  <a:srgbClr val="FF0000"/>
                </a:solidFill>
                <a:latin typeface="华文楷体" pitchFamily="2" charset="-122"/>
                <a:ea typeface="华文楷体" pitchFamily="2" charset="-122"/>
              </a:rPr>
              <a:t>设计很重要，但在面对人生的许多不确定性的同时，我们还得要面对现实，设计的合理性和周密性是离不开现实基础的，必须对现实作客观条件上的研判</a:t>
            </a:r>
            <a:r>
              <a:rPr lang="zh-CN" altLang="en-US" b="1" dirty="0" smtClean="0">
                <a:latin typeface="华文楷体" pitchFamily="2" charset="-122"/>
                <a:ea typeface="华文楷体" pitchFamily="2" charset="-122"/>
              </a:rPr>
              <a:t>。设计不是死板的，不是一层不变的，设计有长远和近期，长远上战略，短期是战术；设计和人生的不确定性并不矛盾，不是水火不容的对立，是灵活性多变的协调。</a:t>
            </a:r>
            <a:endParaRPr lang="zh-CN" altLang="en-US" b="1" dirty="0" smtClean="0">
              <a:latin typeface="华文楷体" pitchFamily="2" charset="-122"/>
              <a:ea typeface="华文楷体" pitchFamily="2" charset="-122"/>
            </a:endParaRPr>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357158" y="428604"/>
            <a:ext cx="8229600" cy="5929354"/>
          </a:xfrm>
        </p:spPr>
        <p:txBody>
          <a:bodyPr>
            <a:normAutofit fontScale="85000" lnSpcReduction="10000"/>
          </a:bodyPr>
          <a:lstStyle/>
          <a:p>
            <a:pPr>
              <a:buNone/>
            </a:pPr>
            <a:r>
              <a:rPr lang="zh-CN" altLang="en-US" sz="3600" b="1" dirty="0">
                <a:latin typeface="华文楷体" pitchFamily="2" charset="-122"/>
                <a:ea typeface="华文楷体" pitchFamily="2" charset="-122"/>
              </a:rPr>
              <a:t>比如</a:t>
            </a:r>
            <a:r>
              <a:rPr lang="en-US" sz="3600" b="1" dirty="0">
                <a:latin typeface="华文楷体" pitchFamily="2" charset="-122"/>
                <a:ea typeface="华文楷体" pitchFamily="2" charset="-122"/>
              </a:rPr>
              <a:t>2020</a:t>
            </a:r>
            <a:r>
              <a:rPr lang="zh-CN" altLang="en-US" sz="3600" b="1" dirty="0">
                <a:latin typeface="华文楷体" pitchFamily="2" charset="-122"/>
                <a:ea typeface="华文楷体" pitchFamily="2" charset="-122"/>
              </a:rPr>
              <a:t>年全国</a:t>
            </a:r>
            <a:r>
              <a:rPr lang="en-US" altLang="zh-CN" sz="3600" b="1" dirty="0">
                <a:latin typeface="华文楷体" pitchFamily="2" charset="-122"/>
                <a:ea typeface="华文楷体" pitchFamily="2" charset="-122"/>
              </a:rPr>
              <a:t>Ⅲ</a:t>
            </a:r>
            <a:r>
              <a:rPr lang="zh-CN" altLang="en-US" sz="3600" b="1" dirty="0">
                <a:latin typeface="华文楷体" pitchFamily="2" charset="-122"/>
                <a:ea typeface="华文楷体" pitchFamily="2" charset="-122"/>
              </a:rPr>
              <a:t>卷作文题目：</a:t>
            </a:r>
            <a:endParaRPr lang="zh-CN" altLang="en-US" sz="3600" b="1" dirty="0">
              <a:latin typeface="华文楷体" pitchFamily="2" charset="-122"/>
              <a:ea typeface="华文楷体" pitchFamily="2" charset="-122"/>
            </a:endParaRPr>
          </a:p>
          <a:p>
            <a:pPr>
              <a:buNone/>
            </a:pPr>
            <a:r>
              <a:rPr lang="zh-CN" altLang="en-US" sz="3600" b="1" dirty="0" smtClean="0">
                <a:latin typeface="华文楷体" pitchFamily="2" charset="-122"/>
                <a:ea typeface="华文楷体" pitchFamily="2" charset="-122"/>
              </a:rPr>
              <a:t>         人们</a:t>
            </a:r>
            <a:r>
              <a:rPr lang="zh-CN" altLang="en-US" sz="3600" b="1" dirty="0">
                <a:latin typeface="华文楷体" pitchFamily="2" charset="-122"/>
                <a:ea typeface="华文楷体" pitchFamily="2" charset="-122"/>
              </a:rPr>
              <a:t>用眼睛看他人、看世界，却无法直接看到完整的自己。所以，在人生的旅程中，我们需要寻找各种“镜子”、不断绘制“自画像”来审视自我，尝试回答“我是怎样的人”“我想过怎样的生活”“我能做些什么”“如何生活得更有意义”等重要的问题。</a:t>
            </a:r>
            <a:endParaRPr lang="zh-CN" altLang="en-US" sz="3600" b="1" dirty="0">
              <a:latin typeface="华文楷体" pitchFamily="2" charset="-122"/>
              <a:ea typeface="华文楷体" pitchFamily="2" charset="-122"/>
            </a:endParaRPr>
          </a:p>
          <a:p>
            <a:pPr>
              <a:buNone/>
            </a:pPr>
            <a:r>
              <a:rPr lang="zh-CN" altLang="en-US" sz="3600" b="1" dirty="0" smtClean="0">
                <a:latin typeface="华文楷体" pitchFamily="2" charset="-122"/>
                <a:ea typeface="华文楷体" pitchFamily="2" charset="-122"/>
              </a:rPr>
              <a:t>         毕业</a:t>
            </a:r>
            <a:r>
              <a:rPr lang="zh-CN" altLang="en-US" sz="3600" b="1" dirty="0">
                <a:latin typeface="华文楷体" pitchFamily="2" charset="-122"/>
                <a:ea typeface="华文楷体" pitchFamily="2" charset="-122"/>
              </a:rPr>
              <a:t>前，学校请你给即将入学的高一新生写一封信，主题是“如何为自己画好像”，与他们分享自己的感悟与思考。</a:t>
            </a:r>
            <a:endParaRPr lang="zh-CN" altLang="en-US" sz="3600" b="1" dirty="0">
              <a:latin typeface="华文楷体" pitchFamily="2" charset="-122"/>
              <a:ea typeface="华文楷体" pitchFamily="2" charset="-122"/>
            </a:endParaRPr>
          </a:p>
          <a:p>
            <a:pPr>
              <a:buNone/>
            </a:pPr>
            <a:r>
              <a:rPr lang="zh-CN" altLang="en-US" sz="3600" b="1" dirty="0" smtClean="0">
                <a:latin typeface="华文楷体" pitchFamily="2" charset="-122"/>
                <a:ea typeface="华文楷体" pitchFamily="2" charset="-122"/>
              </a:rPr>
              <a:t>         要求</a:t>
            </a:r>
            <a:r>
              <a:rPr lang="zh-CN" altLang="en-US" sz="3600" b="1" dirty="0">
                <a:latin typeface="华文楷体" pitchFamily="2" charset="-122"/>
                <a:ea typeface="华文楷体" pitchFamily="2" charset="-122"/>
              </a:rPr>
              <a:t>：结合材料，选好角度，确定立意，自拟标题；不要套作，不得抄袭；不得泄露个人信息；不少于</a:t>
            </a:r>
            <a:r>
              <a:rPr lang="en-US" sz="3600" b="1" dirty="0">
                <a:latin typeface="华文楷体" pitchFamily="2" charset="-122"/>
                <a:ea typeface="华文楷体" pitchFamily="2" charset="-122"/>
              </a:rPr>
              <a:t>800</a:t>
            </a:r>
            <a:r>
              <a:rPr lang="zh-CN" altLang="en-US" sz="3600" b="1" dirty="0">
                <a:latin typeface="华文楷体" pitchFamily="2" charset="-122"/>
                <a:ea typeface="华文楷体" pitchFamily="2" charset="-122"/>
              </a:rPr>
              <a:t>字。</a:t>
            </a:r>
            <a:endParaRPr lang="zh-CN" altLang="en-US" sz="3600" b="1" dirty="0">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85728"/>
            <a:ext cx="8229600" cy="5840435"/>
          </a:xfrm>
        </p:spPr>
        <p:txBody>
          <a:bodyPr>
            <a:normAutofit fontScale="77500" lnSpcReduction="20000"/>
          </a:bodyPr>
          <a:lstStyle/>
          <a:p>
            <a:pPr>
              <a:buNone/>
            </a:pPr>
            <a:r>
              <a:rPr lang="en-US" altLang="zh-CN" sz="3600" b="1" dirty="0"/>
              <a:t>【</a:t>
            </a:r>
            <a:r>
              <a:rPr lang="zh-CN" altLang="en-US" sz="3600" b="1" dirty="0"/>
              <a:t>精彩标题</a:t>
            </a:r>
            <a:r>
              <a:rPr lang="en-US" altLang="zh-CN" sz="3600" b="1" dirty="0"/>
              <a:t>】</a:t>
            </a:r>
            <a:r>
              <a:rPr lang="zh-CN" altLang="en-US" sz="3600" b="1" dirty="0"/>
              <a:t>（标题取意“人生需要的设计”）</a:t>
            </a:r>
            <a:endParaRPr lang="zh-CN" altLang="en-US" sz="3600" b="1" dirty="0"/>
          </a:p>
          <a:p>
            <a:pPr>
              <a:buNone/>
            </a:pPr>
            <a:r>
              <a:rPr lang="zh-CN" altLang="en-US" b="1" dirty="0">
                <a:solidFill>
                  <a:srgbClr val="FF0000"/>
                </a:solidFill>
              </a:rPr>
              <a:t>含设计中心词的：</a:t>
            </a:r>
            <a:endParaRPr lang="zh-CN" altLang="en-US" b="1" dirty="0">
              <a:solidFill>
                <a:srgbClr val="FF0000"/>
              </a:solidFill>
            </a:endParaRPr>
          </a:p>
          <a:p>
            <a:pPr>
              <a:buNone/>
            </a:pPr>
            <a:r>
              <a:rPr lang="en-US" altLang="zh-CN" b="1" dirty="0" smtClean="0"/>
              <a:t>1</a:t>
            </a:r>
            <a:r>
              <a:rPr lang="zh-CN" altLang="en-US" b="1" dirty="0" smtClean="0"/>
              <a:t>、人生</a:t>
            </a:r>
            <a:r>
              <a:rPr lang="zh-CN" altLang="en-US" b="1" dirty="0"/>
              <a:t>因设计而</a:t>
            </a:r>
            <a:r>
              <a:rPr lang="zh-CN" altLang="en-US" b="1" dirty="0" smtClean="0"/>
              <a:t>精彩</a:t>
            </a:r>
            <a:endParaRPr lang="en-US" altLang="zh-CN" b="1" dirty="0"/>
          </a:p>
          <a:p>
            <a:pPr>
              <a:buNone/>
            </a:pPr>
            <a:r>
              <a:rPr lang="en-US" altLang="zh-CN" b="1" dirty="0" smtClean="0"/>
              <a:t>2</a:t>
            </a:r>
            <a:r>
              <a:rPr lang="zh-CN" altLang="en-US" b="1" dirty="0" smtClean="0"/>
              <a:t>、精彩</a:t>
            </a:r>
            <a:r>
              <a:rPr lang="zh-CN" altLang="en-US" b="1" dirty="0"/>
              <a:t>人生也需彩排</a:t>
            </a:r>
            <a:endParaRPr lang="zh-CN" altLang="en-US" b="1" dirty="0"/>
          </a:p>
          <a:p>
            <a:pPr>
              <a:buNone/>
            </a:pPr>
            <a:r>
              <a:rPr lang="en-US" altLang="zh-CN" b="1" dirty="0" smtClean="0"/>
              <a:t>3</a:t>
            </a:r>
            <a:r>
              <a:rPr lang="zh-CN" altLang="en-US" b="1" dirty="0" smtClean="0"/>
              <a:t>、顶层</a:t>
            </a:r>
            <a:r>
              <a:rPr lang="zh-CN" altLang="en-US" b="1" dirty="0"/>
              <a:t>设计 演绎精彩</a:t>
            </a:r>
            <a:endParaRPr lang="zh-CN" altLang="en-US" b="1" dirty="0"/>
          </a:p>
          <a:p>
            <a:pPr>
              <a:buNone/>
            </a:pPr>
            <a:r>
              <a:rPr lang="en-US" altLang="zh-CN" b="1" dirty="0" smtClean="0"/>
              <a:t>4</a:t>
            </a:r>
            <a:r>
              <a:rPr lang="zh-CN" altLang="en-US" b="1" dirty="0" smtClean="0"/>
              <a:t>、精彩</a:t>
            </a:r>
            <a:r>
              <a:rPr lang="zh-CN" altLang="en-US" b="1" dirty="0"/>
              <a:t>人生路 设计展宏图</a:t>
            </a:r>
            <a:endParaRPr lang="zh-CN" altLang="en-US" b="1" dirty="0"/>
          </a:p>
          <a:p>
            <a:pPr>
              <a:buNone/>
            </a:pPr>
            <a:r>
              <a:rPr lang="en-US" altLang="zh-CN" b="1" dirty="0" smtClean="0"/>
              <a:t>5</a:t>
            </a:r>
            <a:r>
              <a:rPr lang="zh-CN" altLang="en-US" b="1" dirty="0" smtClean="0"/>
              <a:t>、格局</a:t>
            </a:r>
            <a:r>
              <a:rPr lang="zh-CN" altLang="en-US" b="1" dirty="0"/>
              <a:t>源于设计 精彩源于追求</a:t>
            </a:r>
            <a:endParaRPr lang="zh-CN" altLang="en-US" b="1" dirty="0"/>
          </a:p>
          <a:p>
            <a:pPr>
              <a:buNone/>
            </a:pPr>
            <a:r>
              <a:rPr lang="en-US" b="1" dirty="0"/>
              <a:t> </a:t>
            </a:r>
            <a:endParaRPr lang="zh-CN" altLang="en-US" b="1" dirty="0"/>
          </a:p>
          <a:p>
            <a:pPr>
              <a:buNone/>
            </a:pPr>
            <a:r>
              <a:rPr lang="zh-CN" altLang="en-US" b="1" dirty="0">
                <a:solidFill>
                  <a:srgbClr val="FF0000"/>
                </a:solidFill>
              </a:rPr>
              <a:t>暗含设计中心词的：</a:t>
            </a:r>
            <a:endParaRPr lang="zh-CN" altLang="en-US" b="1" dirty="0">
              <a:solidFill>
                <a:srgbClr val="FF0000"/>
              </a:solidFill>
            </a:endParaRPr>
          </a:p>
          <a:p>
            <a:pPr>
              <a:buNone/>
            </a:pPr>
            <a:r>
              <a:rPr lang="en-US" altLang="zh-CN" b="1" dirty="0" smtClean="0"/>
              <a:t>1</a:t>
            </a:r>
            <a:r>
              <a:rPr lang="zh-CN" altLang="en-US" b="1" dirty="0" smtClean="0"/>
              <a:t>、心</a:t>
            </a:r>
            <a:r>
              <a:rPr lang="zh-CN" altLang="en-US" b="1" dirty="0"/>
              <a:t>有期待 春风十里</a:t>
            </a:r>
            <a:r>
              <a:rPr lang="en-US" b="1" dirty="0"/>
              <a:t>  </a:t>
            </a:r>
            <a:endParaRPr lang="zh-CN" altLang="en-US" b="1" dirty="0"/>
          </a:p>
          <a:p>
            <a:pPr>
              <a:buNone/>
            </a:pPr>
            <a:r>
              <a:rPr lang="en-US" altLang="zh-CN" b="1" dirty="0" smtClean="0"/>
              <a:t>2</a:t>
            </a:r>
            <a:r>
              <a:rPr lang="zh-CN" altLang="en-US" b="1" dirty="0" smtClean="0"/>
              <a:t>、登高</a:t>
            </a:r>
            <a:r>
              <a:rPr lang="zh-CN" altLang="en-US" b="1" dirty="0"/>
              <a:t>望远 人生揽胜</a:t>
            </a:r>
            <a:endParaRPr lang="zh-CN" altLang="en-US" b="1" dirty="0"/>
          </a:p>
          <a:p>
            <a:pPr>
              <a:buNone/>
            </a:pPr>
            <a:r>
              <a:rPr lang="en-US" altLang="zh-CN" b="1" dirty="0" smtClean="0"/>
              <a:t>3</a:t>
            </a:r>
            <a:r>
              <a:rPr lang="zh-CN" altLang="en-US" b="1" dirty="0" smtClean="0"/>
              <a:t>、脚下</a:t>
            </a:r>
            <a:r>
              <a:rPr lang="zh-CN" altLang="en-US" b="1" dirty="0"/>
              <a:t>有路 眼里有远方</a:t>
            </a:r>
            <a:endParaRPr lang="zh-CN" altLang="en-US" b="1" dirty="0"/>
          </a:p>
          <a:p>
            <a:pPr>
              <a:buNone/>
            </a:pPr>
            <a:r>
              <a:rPr lang="en-US" altLang="zh-CN" b="1" dirty="0" smtClean="0"/>
              <a:t>4</a:t>
            </a:r>
            <a:r>
              <a:rPr lang="zh-CN" altLang="en-US" b="1" dirty="0" smtClean="0"/>
              <a:t>、最</a:t>
            </a:r>
            <a:r>
              <a:rPr lang="zh-CN" altLang="en-US" b="1" dirty="0"/>
              <a:t>美丽的风景：诗和远方</a:t>
            </a:r>
            <a:endParaRPr lang="zh-CN" altLang="en-US" b="1" dirty="0"/>
          </a:p>
          <a:p>
            <a:pPr>
              <a:buNone/>
            </a:pPr>
            <a:r>
              <a:rPr lang="en-US" altLang="zh-CN" b="1" dirty="0" smtClean="0"/>
              <a:t>5</a:t>
            </a:r>
            <a:r>
              <a:rPr lang="zh-CN" altLang="en-US" b="1" dirty="0" smtClean="0"/>
              <a:t>、欲穷千里目 </a:t>
            </a:r>
            <a:r>
              <a:rPr lang="zh-CN" altLang="en-US" b="1" dirty="0"/>
              <a:t>更上一层楼</a:t>
            </a:r>
            <a:endParaRPr lang="zh-CN" altLang="en-US" b="1" dirty="0"/>
          </a:p>
          <a:p>
            <a:pPr>
              <a:buNone/>
            </a:pPr>
            <a:r>
              <a:rPr lang="en-US" altLang="zh-CN" b="1" dirty="0" smtClean="0"/>
              <a:t>6</a:t>
            </a:r>
            <a:r>
              <a:rPr lang="zh-CN" altLang="en-US" b="1" dirty="0" smtClean="0"/>
              <a:t>、斥</a:t>
            </a:r>
            <a:r>
              <a:rPr lang="zh-CN" altLang="en-US" b="1" dirty="0"/>
              <a:t>鷃翱翔蓬蒿鲲鹏展翅万里</a:t>
            </a:r>
            <a:endParaRPr lang="zh-CN" altLang="en-US" b="1" dirty="0"/>
          </a:p>
          <a:p>
            <a:endParaRPr lang="zh-CN"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357166"/>
            <a:ext cx="8229600" cy="5768997"/>
          </a:xfrm>
        </p:spPr>
        <p:txBody>
          <a:bodyPr>
            <a:normAutofit fontScale="92500" lnSpcReduction="10000"/>
          </a:bodyPr>
          <a:lstStyle/>
          <a:p>
            <a:pPr>
              <a:buNone/>
            </a:pPr>
            <a:r>
              <a:rPr lang="en-US" altLang="zh-CN" b="1" dirty="0">
                <a:latin typeface="华文楷体" pitchFamily="2" charset="-122"/>
                <a:ea typeface="华文楷体" pitchFamily="2" charset="-122"/>
              </a:rPr>
              <a:t>【</a:t>
            </a:r>
            <a:r>
              <a:rPr lang="zh-CN" altLang="en-US" b="1" dirty="0">
                <a:latin typeface="华文楷体" pitchFamily="2" charset="-122"/>
                <a:ea typeface="华文楷体" pitchFamily="2" charset="-122"/>
              </a:rPr>
              <a:t>常见失误</a:t>
            </a:r>
            <a:r>
              <a:rPr lang="en-US" altLang="zh-CN" b="1" dirty="0">
                <a:latin typeface="华文楷体" pitchFamily="2" charset="-122"/>
                <a:ea typeface="华文楷体" pitchFamily="2" charset="-122"/>
              </a:rPr>
              <a:t>】</a:t>
            </a:r>
            <a:endParaRPr lang="en-US" altLang="zh-CN" b="1" dirty="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a:t>
            </a:r>
            <a:r>
              <a:rPr lang="zh-CN" altLang="en-US" b="1" dirty="0" smtClean="0">
                <a:latin typeface="华文楷体" pitchFamily="2" charset="-122"/>
                <a:ea typeface="华文楷体" pitchFamily="2" charset="-122"/>
              </a:rPr>
              <a:t>在</a:t>
            </a:r>
            <a:r>
              <a:rPr lang="zh-CN" altLang="en-US" b="1" dirty="0" smtClean="0">
                <a:latin typeface="华文楷体" pitchFamily="2" charset="-122"/>
                <a:ea typeface="华文楷体" pitchFamily="2" charset="-122"/>
              </a:rPr>
              <a:t>批阅</a:t>
            </a:r>
            <a:r>
              <a:rPr lang="zh-CN" altLang="en-US" b="1" dirty="0" smtClean="0">
                <a:latin typeface="华文楷体" pitchFamily="2" charset="-122"/>
                <a:ea typeface="华文楷体" pitchFamily="2" charset="-122"/>
              </a:rPr>
              <a:t>过程</a:t>
            </a:r>
            <a:r>
              <a:rPr lang="zh-CN" altLang="en-US" b="1" dirty="0">
                <a:latin typeface="华文楷体" pitchFamily="2" charset="-122"/>
                <a:ea typeface="华文楷体" pitchFamily="2" charset="-122"/>
              </a:rPr>
              <a:t>中，</a:t>
            </a:r>
            <a:r>
              <a:rPr lang="zh-CN" altLang="en-US" b="1" dirty="0" smtClean="0">
                <a:latin typeface="华文楷体" pitchFamily="2" charset="-122"/>
                <a:ea typeface="华文楷体" pitchFamily="2" charset="-122"/>
              </a:rPr>
              <a:t>我发现</a:t>
            </a:r>
            <a:r>
              <a:rPr lang="zh-CN" altLang="en-US" b="1" dirty="0">
                <a:latin typeface="华文楷体" pitchFamily="2" charset="-122"/>
                <a:ea typeface="华文楷体" pitchFamily="2" charset="-122"/>
              </a:rPr>
              <a:t>学生出现以下普遍性失误：</a:t>
            </a:r>
            <a:endParaRPr lang="zh-CN" altLang="en-US" b="1" dirty="0">
              <a:latin typeface="华文楷体" pitchFamily="2" charset="-122"/>
              <a:ea typeface="华文楷体" pitchFamily="2" charset="-122"/>
            </a:endParaRPr>
          </a:p>
          <a:p>
            <a:pPr>
              <a:buNone/>
            </a:pPr>
            <a:r>
              <a:rPr lang="zh-CN" altLang="en-US" b="1" dirty="0">
                <a:latin typeface="华文楷体" pitchFamily="2" charset="-122"/>
                <a:ea typeface="华文楷体" pitchFamily="2" charset="-122"/>
              </a:rPr>
              <a:t>①标题不能</a:t>
            </a:r>
            <a:r>
              <a:rPr lang="zh-CN" altLang="en-US" b="1" dirty="0">
                <a:solidFill>
                  <a:srgbClr val="FF0000"/>
                </a:solidFill>
                <a:latin typeface="华文楷体" pitchFamily="2" charset="-122"/>
                <a:ea typeface="华文楷体" pitchFamily="2" charset="-122"/>
              </a:rPr>
              <a:t>点题</a:t>
            </a:r>
            <a:r>
              <a:rPr lang="zh-CN" altLang="en-US" b="1" dirty="0" smtClean="0">
                <a:latin typeface="华文楷体" pitchFamily="2" charset="-122"/>
                <a:ea typeface="华文楷体" pitchFamily="2" charset="-122"/>
              </a:rPr>
              <a:t>；</a:t>
            </a:r>
            <a:endParaRPr lang="en-US" altLang="zh-CN"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②</a:t>
            </a:r>
            <a:r>
              <a:rPr lang="zh-CN" altLang="en-US" b="1" dirty="0">
                <a:latin typeface="华文楷体" pitchFamily="2" charset="-122"/>
                <a:ea typeface="华文楷体" pitchFamily="2" charset="-122"/>
              </a:rPr>
              <a:t>构思不合理，并列的观点有重复交叉</a:t>
            </a:r>
            <a:r>
              <a:rPr lang="zh-CN" altLang="en-US" b="1" dirty="0" smtClean="0">
                <a:latin typeface="华文楷体" pitchFamily="2" charset="-122"/>
                <a:ea typeface="华文楷体" pitchFamily="2" charset="-122"/>
              </a:rPr>
              <a:t>；</a:t>
            </a:r>
            <a:endParaRPr lang="en-US" altLang="zh-CN"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③</a:t>
            </a:r>
            <a:r>
              <a:rPr lang="zh-CN" altLang="en-US" b="1" dirty="0">
                <a:solidFill>
                  <a:srgbClr val="FF0000"/>
                </a:solidFill>
                <a:latin typeface="华文楷体" pitchFamily="2" charset="-122"/>
                <a:ea typeface="华文楷体" pitchFamily="2" charset="-122"/>
              </a:rPr>
              <a:t>严重缺乏写作素材，全篇空洞说理</a:t>
            </a:r>
            <a:r>
              <a:rPr lang="zh-CN" altLang="en-US" b="1" dirty="0" smtClean="0">
                <a:latin typeface="华文楷体" pitchFamily="2" charset="-122"/>
                <a:ea typeface="华文楷体" pitchFamily="2" charset="-122"/>
              </a:rPr>
              <a:t>；</a:t>
            </a:r>
            <a:endParaRPr lang="en-US" altLang="zh-CN"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④</a:t>
            </a:r>
            <a:r>
              <a:rPr lang="zh-CN" altLang="en-US" b="1" dirty="0">
                <a:latin typeface="华文楷体" pitchFamily="2" charset="-122"/>
                <a:ea typeface="华文楷体" pitchFamily="2" charset="-122"/>
              </a:rPr>
              <a:t>对设计的理解不到位，</a:t>
            </a:r>
            <a:r>
              <a:rPr lang="zh-CN" altLang="en-US" b="1" dirty="0">
                <a:solidFill>
                  <a:srgbClr val="FF0000"/>
                </a:solidFill>
                <a:latin typeface="华文楷体" pitchFamily="2" charset="-122"/>
                <a:ea typeface="华文楷体" pitchFamily="2" charset="-122"/>
              </a:rPr>
              <a:t>简单地理解为理想目标</a:t>
            </a:r>
            <a:r>
              <a:rPr lang="zh-CN" altLang="en-US" b="1" dirty="0" smtClean="0">
                <a:solidFill>
                  <a:srgbClr val="FF0000"/>
                </a:solidFill>
                <a:latin typeface="华文楷体" pitchFamily="2" charset="-122"/>
                <a:ea typeface="华文楷体" pitchFamily="2" charset="-122"/>
              </a:rPr>
              <a:t>追求、信意志等，偷换概念</a:t>
            </a:r>
            <a:r>
              <a:rPr lang="zh-CN" altLang="en-US" b="1" dirty="0">
                <a:solidFill>
                  <a:srgbClr val="FF0000"/>
                </a:solidFill>
                <a:latin typeface="华文楷体" pitchFamily="2" charset="-122"/>
                <a:ea typeface="华文楷体" pitchFamily="2" charset="-122"/>
              </a:rPr>
              <a:t>型</a:t>
            </a:r>
            <a:r>
              <a:rPr lang="zh-CN" altLang="en-US" b="1" dirty="0" smtClean="0">
                <a:latin typeface="华文楷体" pitchFamily="2" charset="-122"/>
                <a:ea typeface="华文楷体" pitchFamily="2" charset="-122"/>
              </a:rPr>
              <a:t>；</a:t>
            </a:r>
            <a:endParaRPr lang="en-US" altLang="zh-CN"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⑤</a:t>
            </a:r>
            <a:r>
              <a:rPr lang="zh-CN" altLang="en-US" b="1" dirty="0">
                <a:latin typeface="华文楷体" pitchFamily="2" charset="-122"/>
                <a:ea typeface="华文楷体" pitchFamily="2" charset="-122"/>
              </a:rPr>
              <a:t>没有深入思考设计规划在人生过程中职业选择、调整适应</a:t>
            </a:r>
            <a:r>
              <a:rPr lang="zh-CN" altLang="en-US" b="1" dirty="0" smtClean="0">
                <a:latin typeface="华文楷体" pitchFamily="2" charset="-122"/>
                <a:ea typeface="华文楷体" pitchFamily="2" charset="-122"/>
              </a:rPr>
              <a:t>、时代关联、；</a:t>
            </a:r>
            <a:endParaRPr lang="en-US" altLang="zh-CN"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⑥</a:t>
            </a:r>
            <a:r>
              <a:rPr lang="zh-CN" altLang="en-US" b="1" dirty="0">
                <a:latin typeface="华文楷体" pitchFamily="2" charset="-122"/>
                <a:ea typeface="华文楷体" pitchFamily="2" charset="-122"/>
              </a:rPr>
              <a:t>没有辩证分析，为了认同一个道理，而单方面全盘否定另一个观点。</a:t>
            </a:r>
            <a:endParaRPr lang="zh-CN" altLang="en-US" b="1" dirty="0">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b="1" dirty="0" smtClean="0"/>
              <a:t>精彩人生我书写</a:t>
            </a:r>
            <a:br>
              <a:rPr lang="zh-CN" altLang="en-US" dirty="0" smtClean="0"/>
            </a:br>
            <a:endParaRPr lang="zh-CN" altLang="en-US" dirty="0"/>
          </a:p>
        </p:txBody>
      </p:sp>
      <p:sp>
        <p:nvSpPr>
          <p:cNvPr id="3" name="内容占位符 2"/>
          <p:cNvSpPr>
            <a:spLocks noGrp="1"/>
          </p:cNvSpPr>
          <p:nvPr>
            <p:ph idx="1"/>
          </p:nvPr>
        </p:nvSpPr>
        <p:spPr>
          <a:xfrm>
            <a:off x="457200" y="928670"/>
            <a:ext cx="8229600" cy="5929330"/>
          </a:xfrm>
        </p:spPr>
        <p:txBody>
          <a:bodyPr>
            <a:normAutofit fontScale="85000" lnSpcReduction="20000"/>
          </a:bodyPr>
          <a:lstStyle/>
          <a:p>
            <a:pPr>
              <a:buNone/>
            </a:pPr>
            <a:r>
              <a:rPr lang="zh-CN" altLang="en-US" b="1" dirty="0" smtClean="0">
                <a:latin typeface="华文楷体" pitchFamily="2" charset="-122"/>
                <a:ea typeface="华文楷体" pitchFamily="2" charset="-122"/>
              </a:rPr>
              <a:t>亲爱的同学们：</a:t>
            </a:r>
            <a:endParaRPr lang="zh-CN" altLang="en-US"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大家好！</a:t>
            </a:r>
            <a:endParaRPr lang="zh-CN" altLang="en-US"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今天我演讲的题目是</a:t>
            </a:r>
            <a:r>
              <a:rPr lang="zh-CN" altLang="en-US" b="1" dirty="0" smtClean="0">
                <a:latin typeface="华文楷体" pitchFamily="2" charset="-122"/>
                <a:ea typeface="华文楷体" pitchFamily="2" charset="-122"/>
              </a:rPr>
              <a:t>：</a:t>
            </a:r>
            <a:r>
              <a:rPr lang="zh-CN" altLang="en-US" b="1" dirty="0" smtClean="0">
                <a:latin typeface="华文楷体" pitchFamily="2" charset="-122"/>
                <a:ea typeface="华文楷体" pitchFamily="2" charset="-122"/>
              </a:rPr>
              <a:t>精彩人生我书写。（可以合为一段）</a:t>
            </a:r>
            <a:endParaRPr lang="zh-CN" altLang="en-US"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人</a:t>
            </a:r>
            <a:r>
              <a:rPr lang="zh-CN" altLang="en-US" b="1" dirty="0" smtClean="0">
                <a:latin typeface="华文楷体" pitchFamily="2" charset="-122"/>
                <a:ea typeface="华文楷体" pitchFamily="2" charset="-122"/>
              </a:rPr>
              <a:t>的一生从一个受精卵开始，再到一捧灰结束，每个人都一样，是我们改变不了的既定轨迹；但是那中间的几十年是我们所能书写的，所以精彩的人生是由我们自己设计绘写出来的。</a:t>
            </a:r>
            <a:r>
              <a:rPr lang="zh-CN" altLang="en-US" b="1" dirty="0" smtClean="0">
                <a:solidFill>
                  <a:srgbClr val="FF0000"/>
                </a:solidFill>
                <a:latin typeface="华文楷体" pitchFamily="2" charset="-122"/>
                <a:ea typeface="华文楷体" pitchFamily="2" charset="-122"/>
              </a:rPr>
              <a:t>（这一段意思表达得很清楚，但是语言不过关，文采不够</a:t>
            </a:r>
            <a:r>
              <a:rPr lang="zh-CN" altLang="en-US" b="1" dirty="0" smtClean="0">
                <a:solidFill>
                  <a:srgbClr val="FF0000"/>
                </a:solidFill>
                <a:latin typeface="华文楷体" pitchFamily="2" charset="-122"/>
                <a:ea typeface="华文楷体" pitchFamily="2" charset="-122"/>
              </a:rPr>
              <a:t>。）比如，按</a:t>
            </a:r>
            <a:r>
              <a:rPr lang="zh-CN" altLang="en-US" b="1" dirty="0" smtClean="0">
                <a:solidFill>
                  <a:srgbClr val="FF0000"/>
                </a:solidFill>
                <a:latin typeface="华文楷体" pitchFamily="2" charset="-122"/>
                <a:ea typeface="华文楷体" pitchFamily="2" charset="-122"/>
              </a:rPr>
              <a:t>作者</a:t>
            </a:r>
            <a:r>
              <a:rPr lang="zh-CN" altLang="en-US" b="1" dirty="0" smtClean="0">
                <a:solidFill>
                  <a:srgbClr val="FF0000"/>
                </a:solidFill>
                <a:latin typeface="华文楷体" pitchFamily="2" charset="-122"/>
                <a:ea typeface="华文楷体" pitchFamily="2" charset="-122"/>
              </a:rPr>
              <a:t>的</a:t>
            </a:r>
            <a:r>
              <a:rPr lang="zh-CN" altLang="en-US" b="1" dirty="0" smtClean="0">
                <a:solidFill>
                  <a:srgbClr val="FF0000"/>
                </a:solidFill>
                <a:latin typeface="华文楷体" pitchFamily="2" charset="-122"/>
                <a:ea typeface="华文楷体" pitchFamily="2" charset="-122"/>
              </a:rPr>
              <a:t>思路，</a:t>
            </a:r>
            <a:r>
              <a:rPr lang="zh-CN" altLang="en-US" b="1" dirty="0" smtClean="0">
                <a:solidFill>
                  <a:srgbClr val="FF0000"/>
                </a:solidFill>
                <a:latin typeface="华文楷体" pitchFamily="2" charset="-122"/>
                <a:ea typeface="华文楷体" pitchFamily="2" charset="-122"/>
              </a:rPr>
              <a:t>进行以下语言</a:t>
            </a:r>
            <a:r>
              <a:rPr lang="zh-CN" altLang="en-US" b="1" dirty="0" smtClean="0">
                <a:solidFill>
                  <a:srgbClr val="FF0000"/>
                </a:solidFill>
                <a:latin typeface="华文楷体" pitchFamily="2" charset="-122"/>
                <a:ea typeface="华文楷体" pitchFamily="2" charset="-122"/>
              </a:rPr>
              <a:t>转换：</a:t>
            </a:r>
            <a:endParaRPr lang="zh-CN" altLang="en-US" b="1" dirty="0" smtClean="0">
              <a:solidFill>
                <a:srgbClr val="FF0000"/>
              </a:solidFill>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改后：</a:t>
            </a:r>
            <a:r>
              <a:rPr lang="zh-CN" altLang="en-US" b="1" dirty="0" smtClean="0">
                <a:latin typeface="华文楷体" pitchFamily="2" charset="-122"/>
                <a:ea typeface="华文楷体" pitchFamily="2" charset="-122"/>
              </a:rPr>
              <a:t>大家好</a:t>
            </a:r>
            <a:r>
              <a:rPr lang="zh-CN" altLang="en-US" b="1" dirty="0" smtClean="0">
                <a:latin typeface="华文楷体" pitchFamily="2" charset="-122"/>
                <a:ea typeface="华文楷体" pitchFamily="2" charset="-122"/>
              </a:rPr>
              <a:t>！今天</a:t>
            </a:r>
            <a:r>
              <a:rPr lang="zh-CN" altLang="en-US" b="1" dirty="0" smtClean="0">
                <a:latin typeface="华文楷体" pitchFamily="2" charset="-122"/>
                <a:ea typeface="华文楷体" pitchFamily="2" charset="-122"/>
              </a:rPr>
              <a:t>我演讲的题目是：精彩人生我书写。</a:t>
            </a:r>
            <a:r>
              <a:rPr lang="zh-CN" altLang="en-US" b="1" dirty="0" smtClean="0">
                <a:solidFill>
                  <a:srgbClr val="FF0000"/>
                </a:solidFill>
                <a:latin typeface="华文楷体" pitchFamily="2" charset="-122"/>
                <a:ea typeface="华文楷体" pitchFamily="2" charset="-122"/>
              </a:rPr>
              <a:t>俗话说</a:t>
            </a:r>
            <a:r>
              <a:rPr lang="zh-CN" altLang="en-US" b="1" dirty="0" smtClean="0">
                <a:solidFill>
                  <a:srgbClr val="FF0000"/>
                </a:solidFill>
                <a:latin typeface="华文楷体" pitchFamily="2" charset="-122"/>
                <a:ea typeface="华文楷体" pitchFamily="2" charset="-122"/>
              </a:rPr>
              <a:t>：“人活一世，草活一秋。”一个人来到了这世间，短短几十年何其短暂！这一生，谁也不甘心平庸，谁都渴求精彩。是的</a:t>
            </a:r>
            <a:r>
              <a:rPr lang="zh-CN" altLang="en-US" b="1" dirty="0" smtClean="0">
                <a:solidFill>
                  <a:srgbClr val="FF0000"/>
                </a:solidFill>
                <a:latin typeface="华文楷体" pitchFamily="2" charset="-122"/>
                <a:ea typeface="华文楷体" pitchFamily="2" charset="-122"/>
              </a:rPr>
              <a:t>，对待生命我们不可</a:t>
            </a:r>
            <a:r>
              <a:rPr lang="zh-CN" altLang="en-US" b="1" dirty="0" smtClean="0">
                <a:solidFill>
                  <a:srgbClr val="FF0000"/>
                </a:solidFill>
                <a:latin typeface="华文楷体" pitchFamily="2" charset="-122"/>
                <a:ea typeface="华文楷体" pitchFamily="2" charset="-122"/>
              </a:rPr>
              <a:t>增其长，但是我们可以</a:t>
            </a:r>
            <a:r>
              <a:rPr lang="zh-CN" altLang="en-US" b="1" dirty="0" smtClean="0">
                <a:solidFill>
                  <a:srgbClr val="FF0000"/>
                </a:solidFill>
                <a:latin typeface="华文楷体" pitchFamily="2" charset="-122"/>
                <a:ea typeface="华文楷体" pitchFamily="2" charset="-122"/>
              </a:rPr>
              <a:t>拓其宽</a:t>
            </a:r>
            <a:r>
              <a:rPr lang="zh-CN" altLang="en-US" b="1" dirty="0" smtClean="0">
                <a:solidFill>
                  <a:srgbClr val="FF0000"/>
                </a:solidFill>
                <a:latin typeface="华文楷体" pitchFamily="2" charset="-122"/>
                <a:ea typeface="华文楷体" pitchFamily="2" charset="-122"/>
              </a:rPr>
              <a:t>，加其深，增其高，精彩的</a:t>
            </a:r>
            <a:r>
              <a:rPr lang="zh-CN" altLang="en-US" b="1" dirty="0" smtClean="0">
                <a:solidFill>
                  <a:srgbClr val="FF0000"/>
                </a:solidFill>
                <a:latin typeface="华文楷体" pitchFamily="2" charset="-122"/>
                <a:ea typeface="华文楷体" pitchFamily="2" charset="-122"/>
              </a:rPr>
              <a:t>人生由我们自己设计</a:t>
            </a:r>
            <a:r>
              <a:rPr lang="zh-CN" altLang="en-US" b="1" dirty="0" smtClean="0">
                <a:solidFill>
                  <a:srgbClr val="FF0000"/>
                </a:solidFill>
                <a:latin typeface="华文楷体" pitchFamily="2" charset="-122"/>
                <a:ea typeface="华文楷体" pitchFamily="2" charset="-122"/>
              </a:rPr>
              <a:t>绘</a:t>
            </a:r>
            <a:r>
              <a:rPr lang="zh-CN" altLang="en-US" b="1" dirty="0" smtClean="0">
                <a:solidFill>
                  <a:srgbClr val="FF0000"/>
                </a:solidFill>
                <a:latin typeface="华文楷体" pitchFamily="2" charset="-122"/>
                <a:ea typeface="华文楷体" pitchFamily="2" charset="-122"/>
              </a:rPr>
              <a:t>写。</a:t>
            </a:r>
            <a:endParaRPr lang="zh-CN" altLang="en-US" b="1" dirty="0" smtClean="0">
              <a:solidFill>
                <a:srgbClr val="FF0000"/>
              </a:solidFill>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571480"/>
            <a:ext cx="8229600" cy="5554683"/>
          </a:xfrm>
        </p:spPr>
        <p:txBody>
          <a:bodyPr>
            <a:normAutofit fontScale="85000" lnSpcReduction="10000"/>
          </a:bodyPr>
          <a:lstStyle/>
          <a:p>
            <a:r>
              <a:rPr lang="zh-CN" altLang="en-US" dirty="0" smtClean="0"/>
              <a:t>      </a:t>
            </a:r>
            <a:r>
              <a:rPr lang="zh-CN" altLang="en-US" b="1" dirty="0" smtClean="0">
                <a:latin typeface="华文楷体" pitchFamily="2" charset="-122"/>
                <a:ea typeface="华文楷体" pitchFamily="2" charset="-122"/>
              </a:rPr>
              <a:t>人生</a:t>
            </a:r>
            <a:r>
              <a:rPr lang="zh-CN" altLang="en-US" b="1" dirty="0" smtClean="0">
                <a:latin typeface="华文楷体" pitchFamily="2" charset="-122"/>
                <a:ea typeface="华文楷体" pitchFamily="2" charset="-122"/>
              </a:rPr>
              <a:t>设计需要面对现实从“我”开始。俗语有云：“人贵在有自知之明。”人的可贵之处在于对自己有清楚认识。如果一个人连自己是个怎样的人，想要干什么，有怎样的追求都不知道，那他就是一副行尸走肉。</a:t>
            </a:r>
            <a:r>
              <a:rPr lang="zh-CN" altLang="en-US" b="1" dirty="0" smtClean="0">
                <a:solidFill>
                  <a:srgbClr val="FF0000"/>
                </a:solidFill>
                <a:latin typeface="华文楷体" pitchFamily="2" charset="-122"/>
                <a:ea typeface="华文楷体" pitchFamily="2" charset="-122"/>
              </a:rPr>
              <a:t>（这一句非常好，就说明了设计的重要的性。）</a:t>
            </a:r>
            <a:r>
              <a:rPr lang="zh-CN" altLang="en-US" b="1" dirty="0" smtClean="0">
                <a:latin typeface="华文楷体" pitchFamily="2" charset="-122"/>
                <a:ea typeface="华文楷体" pitchFamily="2" charset="-122"/>
              </a:rPr>
              <a:t>周总理在少年读书之时就发出“为中华之崛起而读书”的志向，后为之奋斗终成为新中国成立做出杰出贡献之人。我们现在也正是读书时，年龄也与当时周总理相仿，在这时我们应尽早认清</a:t>
            </a:r>
            <a:r>
              <a:rPr lang="zh-CN" altLang="en-US" b="1" dirty="0" smtClean="0">
                <a:solidFill>
                  <a:srgbClr val="FF0000"/>
                </a:solidFill>
                <a:latin typeface="华文楷体" pitchFamily="2" charset="-122"/>
                <a:ea typeface="华文楷体" pitchFamily="2" charset="-122"/>
              </a:rPr>
              <a:t>（改为“认识”更妥当）</a:t>
            </a:r>
            <a:r>
              <a:rPr lang="zh-CN" altLang="en-US" b="1" dirty="0" smtClean="0">
                <a:latin typeface="华文楷体" pitchFamily="2" charset="-122"/>
                <a:ea typeface="华文楷体" pitchFamily="2" charset="-122"/>
              </a:rPr>
              <a:t>自己，找出自己追寻的目标。（</a:t>
            </a:r>
            <a:r>
              <a:rPr lang="zh-CN" altLang="en-US" b="1" dirty="0" smtClean="0">
                <a:solidFill>
                  <a:srgbClr val="FF0000"/>
                </a:solidFill>
                <a:latin typeface="华文楷体" pitchFamily="2" charset="-122"/>
                <a:ea typeface="华文楷体" pitchFamily="2" charset="-122"/>
              </a:rPr>
              <a:t>设计从“我”开始，是强调每个人要立足自身现实来设计，自己要成为一个什么样的人，要对自己有一个总的目标追求。运用了周恩来的素材。早期设计可以让我们赢在起跑线上。）</a:t>
            </a:r>
            <a:endParaRPr lang="zh-CN" altLang="en-US" b="1" dirty="0" smtClean="0">
              <a:solidFill>
                <a:srgbClr val="FF0000"/>
              </a:solidFill>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14282" y="142828"/>
            <a:ext cx="8401080" cy="6715172"/>
          </a:xfrm>
        </p:spPr>
        <p:txBody>
          <a:bodyPr>
            <a:normAutofit fontScale="77500" lnSpcReduction="20000"/>
          </a:bodyPr>
          <a:lstStyle/>
          <a:p>
            <a:r>
              <a:rPr lang="zh-CN" altLang="en-US" b="1" dirty="0" smtClean="0">
                <a:latin typeface="华文楷体" pitchFamily="2" charset="-122"/>
                <a:ea typeface="华文楷体" pitchFamily="2" charset="-122"/>
              </a:rPr>
              <a:t>     人生</a:t>
            </a:r>
            <a:r>
              <a:rPr lang="zh-CN" altLang="en-US" b="1" dirty="0" smtClean="0">
                <a:latin typeface="华文楷体" pitchFamily="2" charset="-122"/>
                <a:ea typeface="华文楷体" pitchFamily="2" charset="-122"/>
              </a:rPr>
              <a:t>设计贵在有预见性的智慧判断。在认清自己，找到自己的目标之后，还应为目标奋斗的过程作出计划</a:t>
            </a:r>
            <a:r>
              <a:rPr lang="zh-CN" altLang="en-US" b="1" dirty="0" smtClean="0">
                <a:solidFill>
                  <a:srgbClr val="FF0000"/>
                </a:solidFill>
                <a:latin typeface="华文楷体" pitchFamily="2" charset="-122"/>
                <a:ea typeface="华文楷体" pitchFamily="2" charset="-122"/>
              </a:rPr>
              <a:t>，（这一句话很到位，与“设计”的概念表述是一致的。）</a:t>
            </a:r>
            <a:r>
              <a:rPr lang="zh-CN" altLang="en-US" b="1" dirty="0" smtClean="0">
                <a:latin typeface="华文楷体" pitchFamily="2" charset="-122"/>
                <a:ea typeface="华文楷体" pitchFamily="2" charset="-122"/>
              </a:rPr>
              <a:t>不能泛泛地做事。如果只要泛泛地为之努力，短期内没有显著的成效，很容易丧失信心。所以应该对未来有规划，小到每时每刻做什么，大到一年内或几年内要完成的目标。把一个大的目标拆分成一件件小事，这样在完成那一件件小事的过程中不知不觉地就实现了那个大的目标。这样长此以往，做事就会有动力，人也会有信心相信自己一定可以成功。达</a:t>
            </a:r>
            <a:r>
              <a:rPr lang="en-US" altLang="zh-CN" b="1" dirty="0" smtClean="0">
                <a:latin typeface="华文楷体" pitchFamily="2" charset="-122"/>
                <a:ea typeface="华文楷体" pitchFamily="2" charset="-122"/>
              </a:rPr>
              <a:t>·</a:t>
            </a:r>
            <a:r>
              <a:rPr lang="zh-CN" altLang="en-US" b="1" dirty="0" smtClean="0">
                <a:latin typeface="华文楷体" pitchFamily="2" charset="-122"/>
                <a:ea typeface="华文楷体" pitchFamily="2" charset="-122"/>
              </a:rPr>
              <a:t>芬奇不就是一个典型的例子吗？他学画画先从画鸡蛋开始，日复一日地画鸡蛋，画好鸡蛋又画另一个新的东西。就这样一步一步地、脚踏实地地完成每一件小事，达</a:t>
            </a:r>
            <a:r>
              <a:rPr lang="en-US" altLang="zh-CN" b="1" dirty="0" smtClean="0">
                <a:latin typeface="华文楷体" pitchFamily="2" charset="-122"/>
                <a:ea typeface="华文楷体" pitchFamily="2" charset="-122"/>
              </a:rPr>
              <a:t>·</a:t>
            </a:r>
            <a:r>
              <a:rPr lang="zh-CN" altLang="en-US" b="1" dirty="0" smtClean="0">
                <a:latin typeface="华文楷体" pitchFamily="2" charset="-122"/>
                <a:ea typeface="华文楷体" pitchFamily="2" charset="-122"/>
              </a:rPr>
              <a:t>芬奇最后画出了</a:t>
            </a:r>
            <a:r>
              <a:rPr lang="en-US" altLang="zh-CN" b="1" dirty="0" smtClean="0">
                <a:latin typeface="华文楷体" pitchFamily="2" charset="-122"/>
                <a:ea typeface="华文楷体" pitchFamily="2" charset="-122"/>
              </a:rPr>
              <a:t>《</a:t>
            </a:r>
            <a:r>
              <a:rPr lang="zh-CN" altLang="en-US" b="1" dirty="0" smtClean="0">
                <a:latin typeface="华文楷体" pitchFamily="2" charset="-122"/>
                <a:ea typeface="华文楷体" pitchFamily="2" charset="-122"/>
              </a:rPr>
              <a:t>蒙娜丽莎的微笑</a:t>
            </a:r>
            <a:r>
              <a:rPr lang="en-US" altLang="zh-CN" b="1" dirty="0" smtClean="0">
                <a:latin typeface="华文楷体" pitchFamily="2" charset="-122"/>
                <a:ea typeface="华文楷体" pitchFamily="2" charset="-122"/>
              </a:rPr>
              <a:t>》</a:t>
            </a:r>
            <a:r>
              <a:rPr lang="zh-CN" altLang="en-US" b="1" dirty="0" smtClean="0">
                <a:latin typeface="华文楷体" pitchFamily="2" charset="-122"/>
                <a:ea typeface="华文楷体" pitchFamily="2" charset="-122"/>
              </a:rPr>
              <a:t>这部世界名画，流传千古。</a:t>
            </a:r>
            <a:r>
              <a:rPr lang="zh-CN" altLang="en-US" b="1" dirty="0" smtClean="0">
                <a:solidFill>
                  <a:srgbClr val="FF0000"/>
                </a:solidFill>
                <a:latin typeface="华文楷体" pitchFamily="2" charset="-122"/>
                <a:ea typeface="华文楷体" pitchFamily="2" charset="-122"/>
              </a:rPr>
              <a:t>（这一段紧随上一段，更进一层，讲到设计的关键是要有预见性。预见的关键就是为达目标做出的过程性规划。思路很好，运用了达</a:t>
            </a:r>
            <a:r>
              <a:rPr lang="en-US" altLang="zh-CN" b="1" dirty="0" smtClean="0">
                <a:solidFill>
                  <a:srgbClr val="FF0000"/>
                </a:solidFill>
                <a:latin typeface="华文楷体" pitchFamily="2" charset="-122"/>
                <a:ea typeface="华文楷体" pitchFamily="2" charset="-122"/>
              </a:rPr>
              <a:t>·</a:t>
            </a:r>
            <a:r>
              <a:rPr lang="zh-CN" altLang="en-US" b="1" dirty="0" smtClean="0">
                <a:solidFill>
                  <a:srgbClr val="FF0000"/>
                </a:solidFill>
                <a:latin typeface="华文楷体" pitchFamily="2" charset="-122"/>
                <a:ea typeface="华文楷体" pitchFamily="2" charset="-122"/>
              </a:rPr>
              <a:t>芬奇的素材。问题是深度不够，中间论述不精练。重点要讲过程性规划是什么，重要性在哪里，如果处理不确定性和预见性的关系，如何在“遇见”中“预见”。引用的例子可以联系现代社会名人，也可以是企业和国家。）</a:t>
            </a:r>
            <a:endParaRPr lang="zh-CN" altLang="en-US" b="1" dirty="0" smtClean="0">
              <a:solidFill>
                <a:srgbClr val="FF0000"/>
              </a:solidFill>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14282" y="857232"/>
            <a:ext cx="8229600" cy="5643602"/>
          </a:xfrm>
        </p:spPr>
        <p:txBody>
          <a:bodyPr>
            <a:normAutofit fontScale="77500" lnSpcReduction="20000"/>
          </a:bodyPr>
          <a:lstStyle/>
          <a:p>
            <a:r>
              <a:rPr lang="zh-CN" altLang="en-US" b="1" dirty="0" smtClean="0">
                <a:latin typeface="华文楷体" pitchFamily="2" charset="-122"/>
                <a:ea typeface="华文楷体" pitchFamily="2" charset="-122"/>
              </a:rPr>
              <a:t>     精彩</a:t>
            </a:r>
            <a:r>
              <a:rPr lang="zh-CN" altLang="en-US" b="1" dirty="0" smtClean="0">
                <a:latin typeface="华文楷体" pitchFamily="2" charset="-122"/>
                <a:ea typeface="华文楷体" pitchFamily="2" charset="-122"/>
              </a:rPr>
              <a:t>的人生更应有坚持不懈的精神和毅力。</a:t>
            </a:r>
            <a:r>
              <a:rPr lang="zh-CN" altLang="en-US" b="1" dirty="0" smtClean="0">
                <a:solidFill>
                  <a:srgbClr val="FF0000"/>
                </a:solidFill>
                <a:latin typeface="华文楷体" pitchFamily="2" charset="-122"/>
                <a:ea typeface="华文楷体" pitchFamily="2" charset="-122"/>
              </a:rPr>
              <a:t>（改为：“人生设计离不开脚踏实地的不懈追求。”正文三个主体段，段首的</a:t>
            </a:r>
            <a:r>
              <a:rPr lang="zh-CN" altLang="en-US" b="1" dirty="0" smtClean="0">
                <a:solidFill>
                  <a:srgbClr val="FF0000"/>
                </a:solidFill>
                <a:latin typeface="华文楷体" pitchFamily="2" charset="-122"/>
                <a:ea typeface="华文楷体" pitchFamily="2" charset="-122"/>
              </a:rPr>
              <a:t>“筋骨句”</a:t>
            </a:r>
            <a:r>
              <a:rPr lang="zh-CN" altLang="en-US" b="1" dirty="0" smtClean="0">
                <a:solidFill>
                  <a:srgbClr val="FF0000"/>
                </a:solidFill>
                <a:latin typeface="华文楷体" pitchFamily="2" charset="-122"/>
                <a:ea typeface="华文楷体" pitchFamily="2" charset="-122"/>
              </a:rPr>
              <a:t>是</a:t>
            </a:r>
            <a:r>
              <a:rPr lang="zh-CN" altLang="en-US" b="1" dirty="0" smtClean="0">
                <a:solidFill>
                  <a:srgbClr val="FF0000"/>
                </a:solidFill>
                <a:latin typeface="华文楷体" pitchFamily="2" charset="-122"/>
                <a:ea typeface="华文楷体" pitchFamily="2" charset="-122"/>
              </a:rPr>
              <a:t>关键</a:t>
            </a:r>
            <a:r>
              <a:rPr lang="zh-CN" altLang="en-US" b="1" dirty="0" smtClean="0">
                <a:solidFill>
                  <a:srgbClr val="FF0000"/>
                </a:solidFill>
                <a:latin typeface="华文楷体" pitchFamily="2" charset="-122"/>
                <a:ea typeface="华文楷体" pitchFamily="2" charset="-122"/>
              </a:rPr>
              <a:t>，这也是一种“设计”。）</a:t>
            </a:r>
            <a:r>
              <a:rPr lang="zh-CN" altLang="en-US" b="1" dirty="0" smtClean="0">
                <a:latin typeface="华文楷体" pitchFamily="2" charset="-122"/>
                <a:ea typeface="华文楷体" pitchFamily="2" charset="-122"/>
              </a:rPr>
              <a:t>在做出预见性的设计后，我们还要坚持完成自己所做的计划。不能因中间计划实现时的困难而放弃，要相信自己肯定能实现目标，不能半途而废，否则终将一事无成。古有蒲松龄晚年才中举人，今有高考复读者</a:t>
            </a:r>
            <a:r>
              <a:rPr lang="zh-CN" altLang="en-US" b="1" dirty="0" smtClean="0">
                <a:solidFill>
                  <a:srgbClr val="FF0000"/>
                </a:solidFill>
                <a:latin typeface="华文楷体" pitchFamily="2" charset="-122"/>
                <a:ea typeface="华文楷体" pitchFamily="2" charset="-122"/>
              </a:rPr>
              <a:t>，（例子不典型，复读也不是好事。蒲松龄的对联“苦心人天不负</a:t>
            </a:r>
            <a:r>
              <a:rPr lang="en-US" altLang="zh-CN" b="1" dirty="0" smtClean="0">
                <a:solidFill>
                  <a:srgbClr val="FF0000"/>
                </a:solidFill>
                <a:latin typeface="华文楷体" pitchFamily="2" charset="-122"/>
                <a:ea typeface="华文楷体" pitchFamily="2" charset="-122"/>
              </a:rPr>
              <a:t>……”</a:t>
            </a:r>
            <a:r>
              <a:rPr lang="zh-CN" altLang="en-US" b="1" dirty="0" smtClean="0">
                <a:solidFill>
                  <a:srgbClr val="FF0000"/>
                </a:solidFill>
                <a:latin typeface="华文楷体" pitchFamily="2" charset="-122"/>
                <a:ea typeface="华文楷体" pitchFamily="2" charset="-122"/>
              </a:rPr>
              <a:t>倒是是可以引用。）</a:t>
            </a:r>
            <a:r>
              <a:rPr lang="zh-CN" altLang="en-US" b="1" dirty="0" smtClean="0">
                <a:latin typeface="华文楷体" pitchFamily="2" charset="-122"/>
                <a:ea typeface="华文楷体" pitchFamily="2" charset="-122"/>
              </a:rPr>
              <a:t>他们都在义无反顾地追寻自己的目标，让自己的人生更加精彩。作为祖国的花朵、未来的国家栋梁，我们更应秉持着这种坚持不懈的精神努力奋斗，创造出自己精彩的人生。（</a:t>
            </a:r>
            <a:r>
              <a:rPr lang="zh-CN" altLang="en-US" b="1" dirty="0" smtClean="0">
                <a:solidFill>
                  <a:srgbClr val="FF0000"/>
                </a:solidFill>
                <a:latin typeface="华文楷体" pitchFamily="2" charset="-122"/>
                <a:ea typeface="华文楷体" pitchFamily="2" charset="-122"/>
              </a:rPr>
              <a:t>这一段是从实现人生设计的意志条件来论述的，其实很好写。注意一点要结合自身身份，落脚到了自己和时代。）</a:t>
            </a:r>
            <a:endParaRPr lang="zh-CN" altLang="en-US" b="1" dirty="0" smtClean="0">
              <a:solidFill>
                <a:srgbClr val="FF0000"/>
              </a:solidFill>
              <a:latin typeface="华文楷体" pitchFamily="2" charset="-122"/>
              <a:ea typeface="华文楷体" pitchFamily="2" charset="-122"/>
            </a:endParaRPr>
          </a:p>
          <a:p>
            <a:r>
              <a:rPr lang="en-US" altLang="zh-CN" dirty="0" smtClean="0">
                <a:solidFill>
                  <a:srgbClr val="FF0000"/>
                </a:solidFill>
              </a:rPr>
              <a:t>     </a:t>
            </a:r>
            <a:endParaRPr lang="zh-CN" altLang="en-US" dirty="0">
              <a:solidFill>
                <a:srgbClr val="FF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buNone/>
            </a:pPr>
            <a:r>
              <a:rPr lang="zh-CN" altLang="en-US" b="1" dirty="0" smtClean="0">
                <a:latin typeface="华文楷体" pitchFamily="2" charset="-122"/>
                <a:ea typeface="华文楷体" pitchFamily="2" charset="-122"/>
              </a:rPr>
              <a:t>         其实</a:t>
            </a:r>
            <a:r>
              <a:rPr lang="zh-CN" altLang="en-US" b="1" dirty="0" smtClean="0">
                <a:latin typeface="华文楷体" pitchFamily="2" charset="-122"/>
                <a:ea typeface="华文楷体" pitchFamily="2" charset="-122"/>
              </a:rPr>
              <a:t>精彩的人生每个人都可以拥有，只看你怎么去书写创造。让我们一起为自己的未来做出设计规划并为之努力奋斗，去创造属于自己的未来吧！</a:t>
            </a:r>
            <a:r>
              <a:rPr lang="zh-CN" altLang="en-US" b="1" dirty="0" smtClean="0">
                <a:solidFill>
                  <a:srgbClr val="FF0000"/>
                </a:solidFill>
                <a:latin typeface="华文楷体" pitchFamily="2" charset="-122"/>
                <a:ea typeface="华文楷体" pitchFamily="2" charset="-122"/>
              </a:rPr>
              <a:t>（结尾处发呼吁，很好，符合演讲稿写作要求。）</a:t>
            </a:r>
            <a:r>
              <a:rPr lang="en-US" b="1" dirty="0" smtClean="0">
                <a:solidFill>
                  <a:srgbClr val="FF0000"/>
                </a:solidFill>
                <a:latin typeface="华文楷体" pitchFamily="2" charset="-122"/>
                <a:ea typeface="华文楷体" pitchFamily="2" charset="-122"/>
              </a:rPr>
              <a:t> </a:t>
            </a:r>
            <a:endParaRPr lang="zh-CN" altLang="en-US" b="1" dirty="0" smtClean="0">
              <a:solidFill>
                <a:srgbClr val="FF0000"/>
              </a:solidFill>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a:t>
            </a:r>
            <a:r>
              <a:rPr lang="zh-CN" altLang="en-US" b="1" dirty="0" smtClean="0">
                <a:latin typeface="华文楷体" pitchFamily="2" charset="-122"/>
                <a:ea typeface="华文楷体" pitchFamily="2" charset="-122"/>
              </a:rPr>
              <a:t>        我</a:t>
            </a:r>
            <a:r>
              <a:rPr lang="zh-CN" altLang="en-US" b="1" dirty="0" smtClean="0">
                <a:latin typeface="华文楷体" pitchFamily="2" charset="-122"/>
                <a:ea typeface="华文楷体" pitchFamily="2" charset="-122"/>
              </a:rPr>
              <a:t>的演讲完毕，谢谢大家。</a:t>
            </a:r>
            <a:endParaRPr lang="zh-CN" altLang="en-US" b="1" dirty="0" smtClean="0">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85728"/>
            <a:ext cx="8229600" cy="5840435"/>
          </a:xfrm>
        </p:spPr>
        <p:txBody>
          <a:bodyPr>
            <a:normAutofit fontScale="92500" lnSpcReduction="20000"/>
          </a:bodyPr>
          <a:lstStyle/>
          <a:p>
            <a:r>
              <a:rPr lang="en-US" altLang="zh-CN" sz="2800" b="1" dirty="0" smtClean="0">
                <a:latin typeface="华文楷体" pitchFamily="2" charset="-122"/>
                <a:ea typeface="华文楷体" pitchFamily="2" charset="-122"/>
              </a:rPr>
              <a:t>【</a:t>
            </a:r>
            <a:r>
              <a:rPr lang="zh-CN" altLang="en-US" sz="2800" b="1" dirty="0" smtClean="0">
                <a:latin typeface="华文楷体" pitchFamily="2" charset="-122"/>
                <a:ea typeface="华文楷体" pitchFamily="2" charset="-122"/>
              </a:rPr>
              <a:t>写作素材</a:t>
            </a:r>
            <a:r>
              <a:rPr lang="en-US" altLang="zh-CN" sz="2800" b="1" dirty="0" smtClean="0">
                <a:latin typeface="华文楷体" pitchFamily="2" charset="-122"/>
                <a:ea typeface="华文楷体" pitchFamily="2" charset="-122"/>
              </a:rPr>
              <a:t>】</a:t>
            </a:r>
            <a:endParaRPr lang="en-US" altLang="zh-CN" sz="2800" b="1" dirty="0" smtClean="0">
              <a:latin typeface="华文楷体" pitchFamily="2" charset="-122"/>
              <a:ea typeface="华文楷体" pitchFamily="2" charset="-122"/>
            </a:endParaRPr>
          </a:p>
          <a:p>
            <a:r>
              <a:rPr lang="zh-CN" altLang="en-US" sz="2800" b="1" dirty="0" smtClean="0">
                <a:latin typeface="华文楷体" pitchFamily="2" charset="-122"/>
                <a:ea typeface="华文楷体" pitchFamily="2" charset="-122"/>
              </a:rPr>
              <a:t>☆诸葛亮一步三算，料敌之先知；周瑜运筹帷幄，火烧赤壁，谈笑间樯橹灰飞烟灭</a:t>
            </a:r>
            <a:r>
              <a:rPr lang="en-US" altLang="zh-CN" sz="2800" b="1" dirty="0" smtClean="0">
                <a:latin typeface="华文楷体" pitchFamily="2" charset="-122"/>
                <a:ea typeface="华文楷体" pitchFamily="2" charset="-122"/>
              </a:rPr>
              <a:t>……</a:t>
            </a:r>
            <a:r>
              <a:rPr lang="zh-CN" altLang="en-US" sz="2800" b="1" dirty="0" smtClean="0">
                <a:solidFill>
                  <a:srgbClr val="FF0000"/>
                </a:solidFill>
                <a:latin typeface="华文楷体" pitchFamily="2" charset="-122"/>
                <a:ea typeface="华文楷体" pitchFamily="2" charset="-122"/>
              </a:rPr>
              <a:t>能成大业者，胸中皆有</a:t>
            </a:r>
            <a:r>
              <a:rPr lang="zh-CN" altLang="en-US" sz="2800" b="1" u="sng" dirty="0" smtClean="0">
                <a:solidFill>
                  <a:srgbClr val="FF0000"/>
                </a:solidFill>
                <a:latin typeface="华文楷体" pitchFamily="2" charset="-122"/>
                <a:ea typeface="华文楷体" pitchFamily="2" charset="-122"/>
              </a:rPr>
              <a:t>设计</a:t>
            </a:r>
            <a:r>
              <a:rPr lang="zh-CN" altLang="en-US" sz="2800" b="1" dirty="0" smtClean="0">
                <a:solidFill>
                  <a:srgbClr val="FF0000"/>
                </a:solidFill>
                <a:latin typeface="华文楷体" pitchFamily="2" charset="-122"/>
                <a:ea typeface="华文楷体" pitchFamily="2" charset="-122"/>
              </a:rPr>
              <a:t>与规划。</a:t>
            </a:r>
            <a:endParaRPr lang="zh-CN" altLang="en-US" sz="2800" b="1" dirty="0" smtClean="0">
              <a:solidFill>
                <a:srgbClr val="FF0000"/>
              </a:solidFill>
              <a:latin typeface="华文楷体" pitchFamily="2" charset="-122"/>
              <a:ea typeface="华文楷体" pitchFamily="2" charset="-122"/>
            </a:endParaRPr>
          </a:p>
          <a:p>
            <a:r>
              <a:rPr lang="zh-CN" altLang="en-US" sz="2800" b="1" dirty="0" smtClean="0">
                <a:latin typeface="华文楷体" pitchFamily="2" charset="-122"/>
                <a:ea typeface="华文楷体" pitchFamily="2" charset="-122"/>
              </a:rPr>
              <a:t>☆李白“安能摧眉折腰事权贵，使我不得开心颜”，洒脱拒绝入侍，从此纵情山水，乐得个逍遥快活；陶渊明不为五斗米折腰，“采菊东篱下，悠然见南山”，也有一番闲适自得。听从内心自我的呼唤，照自己的想法去活，</a:t>
            </a:r>
            <a:r>
              <a:rPr lang="zh-CN" altLang="en-US" sz="2800" b="1" dirty="0" smtClean="0">
                <a:solidFill>
                  <a:srgbClr val="FF0000"/>
                </a:solidFill>
                <a:latin typeface="华文楷体" pitchFamily="2" charset="-122"/>
                <a:ea typeface="华文楷体" pitchFamily="2" charset="-122"/>
              </a:rPr>
              <a:t>这种最本真的人生</a:t>
            </a:r>
            <a:r>
              <a:rPr lang="zh-CN" altLang="en-US" sz="2800" b="1" u="sng" dirty="0" smtClean="0">
                <a:solidFill>
                  <a:srgbClr val="FF0000"/>
                </a:solidFill>
                <a:latin typeface="华文楷体" pitchFamily="2" charset="-122"/>
                <a:ea typeface="华文楷体" pitchFamily="2" charset="-122"/>
              </a:rPr>
              <a:t>设计，</a:t>
            </a:r>
            <a:r>
              <a:rPr lang="zh-CN" altLang="en-US" sz="2800" b="1" dirty="0" smtClean="0">
                <a:solidFill>
                  <a:srgbClr val="FF0000"/>
                </a:solidFill>
                <a:latin typeface="华文楷体" pitchFamily="2" charset="-122"/>
                <a:ea typeface="华文楷体" pitchFamily="2" charset="-122"/>
              </a:rPr>
              <a:t>成就了多少文人墨客的精彩诗篇。（后一句为老师所加。注意举例后要结合论点进行论述。）</a:t>
            </a:r>
            <a:endParaRPr lang="zh-CN" altLang="en-US" sz="2800" b="1" dirty="0" smtClean="0">
              <a:solidFill>
                <a:srgbClr val="FF0000"/>
              </a:solidFill>
              <a:latin typeface="华文楷体" pitchFamily="2" charset="-122"/>
              <a:ea typeface="华文楷体" pitchFamily="2" charset="-122"/>
            </a:endParaRPr>
          </a:p>
          <a:p>
            <a:r>
              <a:rPr lang="zh-CN" altLang="en-US" sz="2800" b="1" dirty="0" smtClean="0">
                <a:latin typeface="华文楷体" pitchFamily="2" charset="-122"/>
                <a:ea typeface="华文楷体" pitchFamily="2" charset="-122"/>
              </a:rPr>
              <a:t>☆鲲鹏本是巨鸟，但为何还要“抟扶摇而上者九万里”，因为他心中还有更广阔的南冥，那里才是他的“大海星辰”，这就是激动人心的鲲鹏之志。“我要飞得更高！”还要飞得更远！</a:t>
            </a:r>
            <a:r>
              <a:rPr lang="zh-CN" altLang="en-US" sz="2800" b="1" dirty="0" smtClean="0">
                <a:solidFill>
                  <a:srgbClr val="FF0000"/>
                </a:solidFill>
                <a:latin typeface="华文楷体" pitchFamily="2" charset="-122"/>
                <a:ea typeface="华文楷体" pitchFamily="2" charset="-122"/>
              </a:rPr>
              <a:t>大格局下的人生规划与设计，其成就总是让世人艳羡。</a:t>
            </a:r>
            <a:endParaRPr lang="zh-CN" altLang="en-US" sz="2800" b="1" dirty="0" smtClean="0">
              <a:solidFill>
                <a:srgbClr val="FF0000"/>
              </a:solidFill>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r>
              <a:rPr lang="zh-CN" altLang="en-US" b="1" dirty="0" smtClean="0">
                <a:latin typeface="华文楷体" pitchFamily="2" charset="-122"/>
                <a:ea typeface="华文楷体" pitchFamily="2" charset="-122"/>
              </a:rPr>
              <a:t>    诸葛亮</a:t>
            </a:r>
            <a:r>
              <a:rPr lang="zh-CN" altLang="en-US" b="1" dirty="0" smtClean="0">
                <a:latin typeface="华文楷体" pitchFamily="2" charset="-122"/>
                <a:ea typeface="华文楷体" pitchFamily="2" charset="-122"/>
              </a:rPr>
              <a:t>辅佐刘备成就了三分天下，书写了一段历史。</a:t>
            </a:r>
            <a:r>
              <a:rPr lang="zh-CN" altLang="en-US" b="1" dirty="0" smtClean="0">
                <a:solidFill>
                  <a:srgbClr val="FF0000"/>
                </a:solidFill>
                <a:latin typeface="华文楷体" pitchFamily="2" charset="-122"/>
                <a:ea typeface="华文楷体" pitchFamily="2" charset="-122"/>
              </a:rPr>
              <a:t>殊不知，他取得这些成就是经过精心设计的。</a:t>
            </a:r>
            <a:r>
              <a:rPr lang="zh-CN" altLang="en-US" b="1" dirty="0" smtClean="0">
                <a:latin typeface="华文楷体" pitchFamily="2" charset="-122"/>
                <a:ea typeface="华文楷体" pitchFamily="2" charset="-122"/>
              </a:rPr>
              <a:t>从年少时起，他便立下鸿鹄之志，并为实现自己的志向专心向学，像海绵一样吸收各种知识，做好知识储备，同时，与良友为伴，或赏花读月，陶冶情操，或唇枪舌剑，言论天下，用现代的话说就是密切关注时事，探讨分析时政，沙盘推演，</a:t>
            </a:r>
            <a:r>
              <a:rPr lang="zh-CN" altLang="en-US" b="1" dirty="0" smtClean="0">
                <a:solidFill>
                  <a:srgbClr val="FF0000"/>
                </a:solidFill>
                <a:latin typeface="华文楷体" pitchFamily="2" charset="-122"/>
                <a:ea typeface="华文楷体" pitchFamily="2" charset="-122"/>
              </a:rPr>
              <a:t>正是因为有了这些精心的准备，精心的设计，诸葛亮才会赢得刘备的“三顾茅庐”、才会有“隆中对”、才会有羽扇纶巾便三分天下的伟业。</a:t>
            </a:r>
            <a:endParaRPr lang="zh-CN" altLang="en-US"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85728"/>
            <a:ext cx="8229600" cy="5840435"/>
          </a:xfrm>
        </p:spPr>
        <p:txBody>
          <a:bodyPr>
            <a:normAutofit fontScale="85000" lnSpcReduction="10000"/>
          </a:bodyPr>
          <a:lstStyle/>
          <a:p>
            <a:r>
              <a:rPr lang="zh-CN" altLang="en-US" b="1" dirty="0" smtClean="0">
                <a:latin typeface="华文楷体" pitchFamily="2" charset="-122"/>
                <a:ea typeface="华文楷体" pitchFamily="2" charset="-122"/>
              </a:rPr>
              <a:t>☆奋斗的动力来自成长的思考。当我们把眼光放远到社会、时代和世界全局，当我们思维的触角延伸到未来的职业生涯规划，当我们想一想未来的自己、家人还有社会和国家，我们眼界高一分，天地就能广阔一片，精神也为之一振，烦恼就一扫而光，信心和动力自然滚滚而来。</a:t>
            </a:r>
            <a:endParaRPr lang="zh-CN" altLang="en-US" b="1" dirty="0" smtClean="0">
              <a:latin typeface="华文楷体" pitchFamily="2" charset="-122"/>
              <a:ea typeface="华文楷体" pitchFamily="2" charset="-122"/>
            </a:endParaRPr>
          </a:p>
          <a:p>
            <a:r>
              <a:rPr lang="zh-CN" altLang="en-US" b="1" dirty="0" smtClean="0">
                <a:latin typeface="华文楷体" pitchFamily="2" charset="-122"/>
                <a:ea typeface="华文楷体" pitchFamily="2" charset="-122"/>
              </a:rPr>
              <a:t>☆马云最初是一名中学英语教师，任正非原是一名土木工程师，部队转业到地方工厂成为一名上班族。中国现在很多叱咤商界的大佬级别人物，当年都练过地摊。</a:t>
            </a:r>
            <a:r>
              <a:rPr lang="zh-CN" altLang="en-US" b="1" dirty="0" smtClean="0">
                <a:solidFill>
                  <a:srgbClr val="FF0000"/>
                </a:solidFill>
                <a:latin typeface="华文楷体" pitchFamily="2" charset="-122"/>
                <a:ea typeface="华文楷体" pitchFamily="2" charset="-122"/>
              </a:rPr>
              <a:t>如果没有经历过千万次的磨练、</a:t>
            </a:r>
            <a:r>
              <a:rPr lang="zh-CN" altLang="en-US" b="1" u="sng" dirty="0" smtClean="0">
                <a:solidFill>
                  <a:srgbClr val="FF0000"/>
                </a:solidFill>
                <a:latin typeface="华文楷体" pitchFamily="2" charset="-122"/>
                <a:ea typeface="华文楷体" pitchFamily="2" charset="-122"/>
              </a:rPr>
              <a:t>设计</a:t>
            </a:r>
            <a:r>
              <a:rPr lang="zh-CN" altLang="en-US" b="1" dirty="0" smtClean="0">
                <a:solidFill>
                  <a:srgbClr val="FF0000"/>
                </a:solidFill>
                <a:latin typeface="华文楷体" pitchFamily="2" charset="-122"/>
                <a:ea typeface="华文楷体" pitchFamily="2" charset="-122"/>
              </a:rPr>
              <a:t>和修整，马云和任正非还是人群中那普通的一个；如果没有经历过放眼世界、着眼未来的企业规划，今天的支付宝就不会走向全球，今天的华为</a:t>
            </a:r>
            <a:r>
              <a:rPr lang="en-US" b="1" dirty="0" smtClean="0">
                <a:solidFill>
                  <a:srgbClr val="FF0000"/>
                </a:solidFill>
                <a:latin typeface="华文楷体" pitchFamily="2" charset="-122"/>
                <a:ea typeface="华文楷体" pitchFamily="2" charset="-122"/>
              </a:rPr>
              <a:t>5G</a:t>
            </a:r>
            <a:r>
              <a:rPr lang="zh-CN" altLang="en-US" b="1" dirty="0" smtClean="0">
                <a:solidFill>
                  <a:srgbClr val="FF0000"/>
                </a:solidFill>
                <a:latin typeface="华文楷体" pitchFamily="2" charset="-122"/>
                <a:ea typeface="华文楷体" pitchFamily="2" charset="-122"/>
              </a:rPr>
              <a:t>就不会独领风骚，今年的中国制造就不会在世界这么响亮。</a:t>
            </a:r>
            <a:endParaRPr lang="zh-CN" altLang="en-US" b="1" dirty="0" smtClean="0">
              <a:solidFill>
                <a:srgbClr val="FF0000"/>
              </a:solidFill>
              <a:latin typeface="华文楷体" pitchFamily="2" charset="-122"/>
              <a:ea typeface="华文楷体" pitchFamily="2" charset="-122"/>
            </a:endParaRPr>
          </a:p>
          <a:p>
            <a:endParaRPr lang="zh-CN" altLang="en-US" dirty="0">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357166"/>
            <a:ext cx="8229600" cy="5768997"/>
          </a:xfrm>
        </p:spPr>
        <p:txBody>
          <a:bodyPr>
            <a:normAutofit fontScale="85000" lnSpcReduction="20000"/>
          </a:bodyPr>
          <a:lstStyle/>
          <a:p>
            <a:r>
              <a:rPr lang="zh-CN" altLang="en-US" b="1" dirty="0" smtClean="0">
                <a:latin typeface="华文楷体" pitchFamily="2" charset="-122"/>
                <a:ea typeface="华文楷体" pitchFamily="2" charset="-122"/>
              </a:rPr>
              <a:t>☆</a:t>
            </a:r>
            <a:r>
              <a:rPr lang="en-US" b="1" dirty="0" smtClean="0">
                <a:latin typeface="华文楷体" pitchFamily="2" charset="-122"/>
                <a:ea typeface="华文楷体" pitchFamily="2" charset="-122"/>
              </a:rPr>
              <a:t>86</a:t>
            </a:r>
            <a:r>
              <a:rPr lang="zh-CN" altLang="en-US" b="1" dirty="0" smtClean="0">
                <a:latin typeface="华文楷体" pitchFamily="2" charset="-122"/>
                <a:ea typeface="华文楷体" pitchFamily="2" charset="-122"/>
              </a:rPr>
              <a:t>岁的他，穿着跨栏背心编程的镜头上了央视。这个不起眼的小老头，用一辈子的隐姓埋名和不服输的劲头，给中国的尖端武器装上了“眼睛”，让我们的武器做到了指哪儿打哪儿。（我国激光陀螺研究领域泰斗、工程院院士、已故国防科技大学教授高伯龙）</a:t>
            </a:r>
            <a:endParaRPr lang="zh-CN" altLang="en-US" b="1" dirty="0" smtClean="0">
              <a:latin typeface="华文楷体" pitchFamily="2" charset="-122"/>
              <a:ea typeface="华文楷体" pitchFamily="2" charset="-122"/>
            </a:endParaRPr>
          </a:p>
          <a:p>
            <a:r>
              <a:rPr lang="zh-CN" altLang="en-US" b="1" dirty="0" smtClean="0">
                <a:latin typeface="华文楷体" pitchFamily="2" charset="-122"/>
                <a:ea typeface="华文楷体" pitchFamily="2" charset="-122"/>
              </a:rPr>
              <a:t>追梦“北斗”卫星导航十九年，攻克卫星导航关键技术</a:t>
            </a:r>
            <a:r>
              <a:rPr lang="en-US" b="1" dirty="0" smtClean="0">
                <a:latin typeface="华文楷体" pitchFamily="2" charset="-122"/>
                <a:ea typeface="华文楷体" pitchFamily="2" charset="-122"/>
              </a:rPr>
              <a:t>20</a:t>
            </a:r>
            <a:r>
              <a:rPr lang="zh-CN" altLang="en-US" b="1" dirty="0" smtClean="0">
                <a:latin typeface="华文楷体" pitchFamily="2" charset="-122"/>
                <a:ea typeface="华文楷体" pitchFamily="2" charset="-122"/>
              </a:rPr>
              <a:t>多项。功成名就的她，放弃部队相对轻松的安排，奔走于大江南北，到“北斗”最大的用户</a:t>
            </a:r>
            <a:r>
              <a:rPr lang="en-US" altLang="zh-CN" b="1" dirty="0" smtClean="0">
                <a:latin typeface="华文楷体" pitchFamily="2" charset="-122"/>
                <a:ea typeface="华文楷体" pitchFamily="2" charset="-122"/>
              </a:rPr>
              <a:t>——</a:t>
            </a:r>
            <a:r>
              <a:rPr lang="zh-CN" altLang="en-US" b="1" dirty="0" smtClean="0">
                <a:latin typeface="华文楷体" pitchFamily="2" charset="-122"/>
                <a:ea typeface="华文楷体" pitchFamily="2" charset="-122"/>
              </a:rPr>
              <a:t>交通运输行业做推广应用。（“北斗”重要奠基人、交通运输信息化专家王淑芳）</a:t>
            </a:r>
            <a:endParaRPr lang="zh-CN" altLang="en-US" b="1" dirty="0" smtClean="0">
              <a:latin typeface="华文楷体" pitchFamily="2" charset="-122"/>
              <a:ea typeface="华文楷体" pitchFamily="2" charset="-122"/>
            </a:endParaRPr>
          </a:p>
          <a:p>
            <a:r>
              <a:rPr lang="zh-CN" altLang="en-US" b="1" dirty="0" smtClean="0">
                <a:solidFill>
                  <a:srgbClr val="FF0000"/>
                </a:solidFill>
                <a:latin typeface="华文楷体" pitchFamily="2" charset="-122"/>
                <a:ea typeface="华文楷体" pitchFamily="2" charset="-122"/>
              </a:rPr>
              <a:t>素材运用：一辈子只做一件事情，一辈子甘愿隐姓埋名，高伯</a:t>
            </a:r>
            <a:r>
              <a:rPr lang="zh-CN" altLang="en-US" b="1" dirty="0" smtClean="0">
                <a:solidFill>
                  <a:srgbClr val="FF0000"/>
                </a:solidFill>
                <a:latin typeface="华文楷体" pitchFamily="2" charset="-122"/>
                <a:ea typeface="华文楷体" pitchFamily="2" charset="-122"/>
              </a:rPr>
              <a:t>龙的</a:t>
            </a:r>
            <a:r>
              <a:rPr lang="zh-CN" altLang="en-US" b="1" dirty="0" smtClean="0">
                <a:solidFill>
                  <a:srgbClr val="FF0000"/>
                </a:solidFill>
                <a:latin typeface="华文楷体" pitchFamily="2" charset="-122"/>
                <a:ea typeface="华文楷体" pitchFamily="2" charset="-122"/>
              </a:rPr>
              <a:t>人生设计，简单而深沉，彰显了科学家的时代担当、人格魅力和爱国情怀。“功成不必在我，功成必定有我。”王淑芳的后半生设计彰显了淡泊名利、科技报国的志向追求。</a:t>
            </a:r>
            <a:endParaRPr lang="zh-CN" altLang="en-US" b="1" dirty="0" smtClean="0">
              <a:solidFill>
                <a:srgbClr val="FF0000"/>
              </a:solidFill>
              <a:latin typeface="华文楷体" pitchFamily="2" charset="-122"/>
              <a:ea typeface="华文楷体" pitchFamily="2" charset="-122"/>
            </a:endParaRPr>
          </a:p>
          <a:p>
            <a:endParaRPr lang="zh-CN" altLang="en-US" dirty="0">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0" y="142852"/>
            <a:ext cx="8229600" cy="5626121"/>
          </a:xfrm>
        </p:spPr>
        <p:txBody>
          <a:bodyPr/>
          <a:lstStyle/>
          <a:p>
            <a:r>
              <a:rPr lang="zh-CN" altLang="en-US" b="1" dirty="0" smtClean="0">
                <a:latin typeface="华文楷体" pitchFamily="2" charset="-122"/>
                <a:ea typeface="华文楷体" pitchFamily="2" charset="-122"/>
              </a:rPr>
              <a:t>☆ 美国作家西蒙：“对于一只盲目航行的船来说，所有的风都是逆风。”</a:t>
            </a:r>
            <a:endParaRPr lang="zh-CN" altLang="en-US" b="1" dirty="0" smtClean="0">
              <a:latin typeface="华文楷体" pitchFamily="2" charset="-122"/>
              <a:ea typeface="华文楷体" pitchFamily="2" charset="-122"/>
            </a:endParaRPr>
          </a:p>
          <a:p>
            <a:r>
              <a:rPr lang="zh-CN" altLang="en-US" b="1" dirty="0" smtClean="0">
                <a:latin typeface="华文楷体" pitchFamily="2" charset="-122"/>
                <a:ea typeface="华文楷体" pitchFamily="2" charset="-122"/>
              </a:rPr>
              <a:t>☆</a:t>
            </a:r>
            <a:r>
              <a:rPr lang="zh-CN" altLang="en-US" b="1" dirty="0" smtClean="0">
                <a:solidFill>
                  <a:srgbClr val="FF0000"/>
                </a:solidFill>
                <a:latin typeface="华文楷体" pitchFamily="2" charset="-122"/>
                <a:ea typeface="华文楷体" pitchFamily="2" charset="-122"/>
              </a:rPr>
              <a:t>华为的成功，得益于任正非的设计</a:t>
            </a:r>
            <a:r>
              <a:rPr lang="en-US" b="1" dirty="0" smtClean="0">
                <a:solidFill>
                  <a:srgbClr val="FF0000"/>
                </a:solidFill>
                <a:latin typeface="华文楷体" pitchFamily="2" charset="-122"/>
                <a:ea typeface="华文楷体" pitchFamily="2" charset="-122"/>
              </a:rPr>
              <a:t>;</a:t>
            </a:r>
            <a:r>
              <a:rPr lang="zh-CN" altLang="en-US" b="1" dirty="0" smtClean="0">
                <a:solidFill>
                  <a:srgbClr val="FF0000"/>
                </a:solidFill>
                <a:latin typeface="华文楷体" pitchFamily="2" charset="-122"/>
                <a:ea typeface="华文楷体" pitchFamily="2" charset="-122"/>
              </a:rPr>
              <a:t>中国经济的“三步走”是设计；邓小平是我国改革开放的总设计师；中国</a:t>
            </a:r>
            <a:r>
              <a:rPr lang="en-US" b="1" dirty="0" smtClean="0">
                <a:solidFill>
                  <a:srgbClr val="FF0000"/>
                </a:solidFill>
                <a:latin typeface="华文楷体" pitchFamily="2" charset="-122"/>
                <a:ea typeface="华文楷体" pitchFamily="2" charset="-122"/>
              </a:rPr>
              <a:t>2020</a:t>
            </a:r>
            <a:r>
              <a:rPr lang="zh-CN" altLang="en-US" b="1" dirty="0" smtClean="0">
                <a:solidFill>
                  <a:srgbClr val="FF0000"/>
                </a:solidFill>
                <a:latin typeface="华文楷体" pitchFamily="2" charset="-122"/>
                <a:ea typeface="华文楷体" pitchFamily="2" charset="-122"/>
              </a:rPr>
              <a:t>年脱贫攻坚奔小康，</a:t>
            </a:r>
            <a:r>
              <a:rPr lang="en-US" b="1" dirty="0" smtClean="0">
                <a:solidFill>
                  <a:srgbClr val="FF0000"/>
                </a:solidFill>
                <a:latin typeface="华文楷体" pitchFamily="2" charset="-122"/>
                <a:ea typeface="华文楷体" pitchFamily="2" charset="-122"/>
              </a:rPr>
              <a:t>2035</a:t>
            </a:r>
            <a:r>
              <a:rPr lang="zh-CN" altLang="en-US" b="1" dirty="0" smtClean="0">
                <a:solidFill>
                  <a:srgbClr val="FF0000"/>
                </a:solidFill>
                <a:latin typeface="华文楷体" pitchFamily="2" charset="-122"/>
                <a:ea typeface="华文楷体" pitchFamily="2" charset="-122"/>
              </a:rPr>
              <a:t>年全面实现现代化，“一带一路”构建人类命运共同体，国家的顶层设计，更显示出我们中国人的集体智慧。</a:t>
            </a:r>
            <a:endParaRPr lang="zh-CN" altLang="en-US" b="1" dirty="0" smtClean="0">
              <a:solidFill>
                <a:srgbClr val="FF0000"/>
              </a:solidFill>
              <a:latin typeface="华文楷体" pitchFamily="2" charset="-122"/>
              <a:ea typeface="华文楷体" pitchFamily="2" charset="-122"/>
            </a:endParaRPr>
          </a:p>
          <a:p>
            <a:endParaRPr lang="zh-CN" altLang="en-US" b="1" dirty="0">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人生因设计而精彩</a:t>
            </a:r>
            <a:endParaRPr lang="zh-CN" altLang="en-US" b="1" dirty="0"/>
          </a:p>
        </p:txBody>
      </p:sp>
      <p:sp>
        <p:nvSpPr>
          <p:cNvPr id="3" name="内容占位符 2"/>
          <p:cNvSpPr>
            <a:spLocks noGrp="1"/>
          </p:cNvSpPr>
          <p:nvPr>
            <p:ph idx="1"/>
          </p:nvPr>
        </p:nvSpPr>
        <p:spPr>
          <a:xfrm>
            <a:off x="214282" y="1428736"/>
            <a:ext cx="8643998" cy="4697427"/>
          </a:xfrm>
        </p:spPr>
        <p:txBody>
          <a:bodyPr>
            <a:normAutofit/>
          </a:bodyPr>
          <a:lstStyle/>
          <a:p>
            <a:pPr>
              <a:buNone/>
            </a:pPr>
            <a:r>
              <a:rPr lang="zh-CN" altLang="en-US" b="1" dirty="0" smtClean="0">
                <a:latin typeface="华文楷体" pitchFamily="2" charset="-122"/>
                <a:ea typeface="华文楷体" pitchFamily="2" charset="-122"/>
              </a:rPr>
              <a:t>亲爱的同学们：</a:t>
            </a:r>
            <a:endParaRPr lang="en-US" altLang="zh-CN" b="1" dirty="0" smtClean="0">
              <a:latin typeface="华文楷体" pitchFamily="2" charset="-122"/>
              <a:ea typeface="华文楷体" pitchFamily="2" charset="-122"/>
            </a:endParaRPr>
          </a:p>
          <a:p>
            <a:pPr>
              <a:buNone/>
            </a:pPr>
            <a:r>
              <a:rPr lang="zh-CN" altLang="en-US" b="1" dirty="0" smtClean="0">
                <a:latin typeface="华文楷体" pitchFamily="2" charset="-122"/>
                <a:ea typeface="华文楷体" pitchFamily="2" charset="-122"/>
              </a:rPr>
              <a:t>         大家好！人们常说：人生不需要设计。其实，这是一个谬论，是一个错误的观点。不错，人的一生从出生到死亡，生命不能“逆生长”，人生也是无法“倒放”。</a:t>
            </a:r>
            <a:r>
              <a:rPr lang="zh-CN" altLang="en-US" b="1" dirty="0" smtClean="0">
                <a:solidFill>
                  <a:srgbClr val="FF0000"/>
                </a:solidFill>
                <a:latin typeface="华文楷体" pitchFamily="2" charset="-122"/>
                <a:ea typeface="华文楷体" pitchFamily="2" charset="-122"/>
              </a:rPr>
              <a:t>正因为如此，人生需要设计，特别是精彩的人生更需要设计。故我今天演讲的主题是：人生因设计而精彩。</a:t>
            </a:r>
            <a:br>
              <a:rPr lang="zh-CN" altLang="en-US" dirty="0" smtClean="0">
                <a:solidFill>
                  <a:srgbClr val="FF0000"/>
                </a:solidFill>
                <a:latin typeface="华文楷体" pitchFamily="2" charset="-122"/>
                <a:ea typeface="华文楷体" pitchFamily="2" charset="-122"/>
              </a:rPr>
            </a:br>
            <a:r>
              <a:rPr lang="zh-CN" altLang="en-US" dirty="0" smtClean="0">
                <a:solidFill>
                  <a:srgbClr val="FF0000"/>
                </a:solidFill>
                <a:latin typeface="华文楷体" pitchFamily="2" charset="-122"/>
                <a:ea typeface="华文楷体" pitchFamily="2" charset="-122"/>
              </a:rPr>
              <a:t>   </a:t>
            </a:r>
            <a:endParaRPr lang="zh-CN" altLang="en-US" dirty="0">
              <a:solidFill>
                <a:srgbClr val="FF0000"/>
              </a:solidFill>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714356"/>
            <a:ext cx="8229600" cy="5411807"/>
          </a:xfrm>
        </p:spPr>
        <p:txBody>
          <a:bodyPr>
            <a:normAutofit lnSpcReduction="10000"/>
          </a:bodyPr>
          <a:lstStyle/>
          <a:p>
            <a:pPr>
              <a:buNone/>
            </a:pPr>
            <a:r>
              <a:rPr lang="zh-CN" altLang="en-US" b="1" dirty="0" smtClean="0"/>
              <a:t>           </a:t>
            </a:r>
            <a:r>
              <a:rPr lang="zh-CN" altLang="en-US" b="1" dirty="0" smtClean="0">
                <a:latin typeface="华文楷体" pitchFamily="2" charset="-122"/>
                <a:ea typeface="华文楷体" pitchFamily="2" charset="-122"/>
              </a:rPr>
              <a:t>何为设计？设计就是规划和计划，要做到合理和周密。人人都有设计，人人都需要设计。人无远虑，必有近忧。过一天和尚，撞一天钟，得过且过，是不行的。人对自己的思考，不只是当下的，更重要的是明天未来。哲理中就有一个“我是谁”的命题，涉及灵魂三问：“我是谁？”“我从哪里来？”“我到哪里去？”第三问就是问“未来”。这灵魂三问，是一个人处于社会中自我认识、自我定位、自我鞭策、自我超越的重要内省过程，具有普世价值。</a:t>
            </a:r>
            <a:endParaRPr lang="zh-CN" altLang="en-US" b="1" dirty="0" smtClean="0">
              <a:latin typeface="华文楷体" pitchFamily="2" charset="-122"/>
              <a:ea typeface="华文楷体" pitchFamily="2" charset="-122"/>
            </a:endParaRPr>
          </a:p>
          <a:p>
            <a:endParaRPr lang="zh-CN" altLang="en-US" b="1"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457200" y="285728"/>
            <a:ext cx="8229600" cy="6357982"/>
          </a:xfrm>
        </p:spPr>
        <p:txBody>
          <a:bodyPr>
            <a:normAutofit fontScale="77500" lnSpcReduction="20000"/>
          </a:bodyPr>
          <a:lstStyle/>
          <a:p>
            <a:r>
              <a:rPr lang="zh-CN" altLang="en-US" b="1" dirty="0" smtClean="0"/>
              <a:t> </a:t>
            </a:r>
            <a:r>
              <a:rPr lang="zh-CN" altLang="en-US" b="1" dirty="0" smtClean="0">
                <a:latin typeface="华文楷体" pitchFamily="2" charset="-122"/>
                <a:ea typeface="华文楷体" pitchFamily="2" charset="-122"/>
              </a:rPr>
              <a:t>       诸葛亮辅佐刘备成就了三分天下，书写了一段历史。殊不知，他取得这些成就是经过精心设计的。从年少时起，他便立下鸿鹄之志，并为实现自己的志向专心向学，像海绵一样吸收各种知识，做好知识储备，同时，与良友为伴，或赏花读月，陶冶情操，或唇枪舌剑，言论天下，用现代的话说就是密切关注时事，探讨分析时政，沙盘推演，正是因为有了这些精心的准备，精心的设计，诸葛亮才会赢得刘备的“三顾茅庐”、才会有“隆中对”、才会有羽扇纶巾便三分天下的伟业。</a:t>
            </a:r>
            <a:br>
              <a:rPr lang="zh-CN" altLang="en-US" b="1" dirty="0" smtClean="0">
                <a:latin typeface="华文楷体" pitchFamily="2" charset="-122"/>
                <a:ea typeface="华文楷体" pitchFamily="2" charset="-122"/>
              </a:rPr>
            </a:br>
            <a:r>
              <a:rPr lang="zh-CN" altLang="en-US" b="1" dirty="0" smtClean="0">
                <a:latin typeface="华文楷体" pitchFamily="2" charset="-122"/>
                <a:ea typeface="华文楷体" pitchFamily="2" charset="-122"/>
              </a:rPr>
              <a:t>    人的一生充满了太多的未知和不确定性，即使是我们心中自以为明确的目标或理想，其实也只是我们在自己的心中为自己画的一个“饼子”。要怎样才能将这个“画饼”变成一个实实在在的“饼子”？在制作这个“饼子”的过程中，又会经历那些艰难困苦和突发事件，我们谁也无法预知。正因为是这样，我们需要在正式登台制作“饼子”之前精心设计，找出不足和差距，为制作“饼子”做好充分的准备。</a:t>
            </a:r>
            <a:br>
              <a:rPr lang="zh-CN" altLang="en-US" b="1" dirty="0" smtClean="0">
                <a:latin typeface="华文楷体" pitchFamily="2" charset="-122"/>
                <a:ea typeface="华文楷体" pitchFamily="2" charset="-122"/>
              </a:rPr>
            </a:br>
            <a:r>
              <a:rPr lang="zh-CN" altLang="en-US" b="1" dirty="0" smtClean="0">
                <a:latin typeface="华文楷体" pitchFamily="2" charset="-122"/>
                <a:ea typeface="华文楷体" pitchFamily="2" charset="-122"/>
              </a:rPr>
              <a:t>    人生需要设计，而精彩的人生更需要设计。</a:t>
            </a:r>
            <a:endParaRPr lang="zh-CN" altLang="en-US" b="1" dirty="0" smtClean="0">
              <a:latin typeface="华文楷体" pitchFamily="2" charset="-122"/>
              <a:ea typeface="华文楷体" pitchFamily="2" charset="-122"/>
            </a:endParaRPr>
          </a:p>
          <a:p>
            <a:endParaRPr lang="zh-CN"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214282" y="357166"/>
            <a:ext cx="8472518" cy="5768997"/>
          </a:xfrm>
        </p:spPr>
        <p:txBody>
          <a:bodyPr>
            <a:normAutofit lnSpcReduction="10000"/>
          </a:bodyPr>
          <a:lstStyle/>
          <a:p>
            <a:r>
              <a:rPr lang="zh-CN" altLang="en-US" b="1" dirty="0" smtClean="0">
                <a:latin typeface="华文楷体" pitchFamily="2" charset="-122"/>
                <a:ea typeface="华文楷体" pitchFamily="2" charset="-122"/>
              </a:rPr>
              <a:t>       人的一生充满了太多的未知和不确定性，即使是我们心中自以为明确的目标或理想，其实也只是我们在自己的心中为自己画的一个“饼子”。要怎样才能将这个“画饼”变成一个实实在在的“饼子”？在制作这个“饼子”的过程中，又会经历那些艰难困苦和突发事件，我们谁也无法预知。正因为是这样，我们需要在正式登台制作“饼子”之前精心设计，找出不足和差距，为制作“饼子”做好充分的准备。</a:t>
            </a:r>
            <a:br>
              <a:rPr lang="zh-CN" altLang="en-US" b="1" dirty="0" smtClean="0">
                <a:latin typeface="华文楷体" pitchFamily="2" charset="-122"/>
                <a:ea typeface="华文楷体" pitchFamily="2" charset="-122"/>
              </a:rPr>
            </a:br>
            <a:r>
              <a:rPr lang="zh-CN" altLang="en-US" b="1" dirty="0" smtClean="0">
                <a:latin typeface="华文楷体" pitchFamily="2" charset="-122"/>
                <a:ea typeface="华文楷体" pitchFamily="2" charset="-122"/>
              </a:rPr>
              <a:t>      人生需要设计，而精彩的人生更因设计而熠熠生辉。</a:t>
            </a:r>
            <a:endParaRPr lang="zh-CN" altLang="en-US" dirty="0">
              <a:latin typeface="华文楷体" pitchFamily="2" charset="-122"/>
              <a:ea typeface="华文楷体" pitchFamily="2" charset="-122"/>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6246</Words>
  <Application>WPS 演示</Application>
  <PresentationFormat>全屏显示(4:3)</PresentationFormat>
  <Paragraphs>128</Paragraphs>
  <Slides>25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25</vt:i4>
      </vt:variant>
    </vt:vector>
  </HeadingPairs>
  <TitlesOfParts>
    <vt:vector size="33" baseType="lpstr">
      <vt:lpstr>Arial</vt:lpstr>
      <vt:lpstr>宋体</vt:lpstr>
      <vt:lpstr>Wingdings</vt:lpstr>
      <vt:lpstr>华文楷体</vt:lpstr>
      <vt:lpstr>Calibri</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精彩人生我书写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人生因设计而精彩</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甘琴慧</dc:creator>
  <cp:lastModifiedBy>Administrator</cp:lastModifiedBy>
  <cp:revision>35</cp:revision>
  <dcterms:created xsi:type="dcterms:W3CDTF">2020-08-14T00:32:00Z</dcterms:created>
  <dcterms:modified xsi:type="dcterms:W3CDTF">2020-08-17T05:25:04Z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2052-11.1.0.9828</vt:lpwstr>
  </property>
</Properties>
</file>
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handoutMasterIdLst>
    <p:handoutMasterId r:id="rId34"/>
  </p:handoutMasterIdLst>
  <p:sldIdLst>
    <p:sldId id="257" r:id="rId3"/>
    <p:sldId id="310" r:id="rId4"/>
    <p:sldId id="294" r:id="rId5"/>
    <p:sldId id="295" r:id="rId6"/>
    <p:sldId id="296" r:id="rId7"/>
    <p:sldId id="297" r:id="rId8"/>
    <p:sldId id="311" r:id="rId9"/>
    <p:sldId id="308" r:id="rId10"/>
    <p:sldId id="309" r:id="rId11"/>
    <p:sldId id="301" r:id="rId12"/>
    <p:sldId id="302" r:id="rId13"/>
    <p:sldId id="303" r:id="rId14"/>
    <p:sldId id="304" r:id="rId15"/>
    <p:sldId id="305" r:id="rId16"/>
    <p:sldId id="306" r:id="rId17"/>
    <p:sldId id="307" r:id="rId18"/>
    <p:sldId id="260" r:id="rId19"/>
    <p:sldId id="261" r:id="rId20"/>
    <p:sldId id="280" r:id="rId21"/>
    <p:sldId id="281" r:id="rId22"/>
    <p:sldId id="269" r:id="rId23"/>
    <p:sldId id="270" r:id="rId24"/>
    <p:sldId id="271" r:id="rId25"/>
    <p:sldId id="272" r:id="rId26"/>
    <p:sldId id="273" r:id="rId27"/>
    <p:sldId id="284" r:id="rId28"/>
    <p:sldId id="285" r:id="rId29"/>
    <p:sldId id="283" r:id="rId30"/>
    <p:sldId id="293" r:id="rId31"/>
    <p:sldId id="274"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3778" autoAdjust="0"/>
    <p:restoredTop sz="94660"/>
  </p:normalViewPr>
  <p:slideViewPr>
    <p:cSldViewPr snapToGrid="0">
      <p:cViewPr varScale="1">
        <p:scale>
          <a:sx n="68" d="100"/>
          <a:sy n="68" d="100"/>
        </p:scale>
        <p:origin x="-636" y="-60"/>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notesMaster" Target="notesMasters/notesMaster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12065" y="27940"/>
            <a:ext cx="12150090" cy="6800850"/>
          </a:xfrm>
          <a:prstGeom prst="rect">
            <a:avLst/>
          </a:prstGeom>
        </p:spPr>
      </p:pic>
      <p:sp>
        <p:nvSpPr>
          <p:cNvPr id="2" name="矩形 1"/>
          <p:cNvSpPr/>
          <p:nvPr/>
        </p:nvSpPr>
        <p:spPr>
          <a:xfrm>
            <a:off x="518160" y="1800225"/>
            <a:ext cx="11155680" cy="1198880"/>
          </a:xfrm>
          <a:prstGeom prst="rect">
            <a:avLst/>
          </a:prstGeom>
          <a:noFill/>
          <a:ln>
            <a:noFill/>
          </a:ln>
        </p:spPr>
        <p:txBody>
          <a:bodyPr wrap="none" rtlCol="0" anchor="t">
            <a:spAutoFit/>
          </a:bodyPr>
          <a:lstStyle/>
          <a:p>
            <a:pPr algn="ctr"/>
            <a:r>
              <a:rPr lang="zh-CN" altLang="en-US" sz="7200" b="1">
                <a:ln w="22225">
                  <a:solidFill>
                    <a:schemeClr val="accent2"/>
                  </a:solidFill>
                  <a:prstDash val="solid"/>
                </a:ln>
                <a:solidFill>
                  <a:schemeClr val="accent2">
                    <a:lumMod val="40000"/>
                    <a:lumOff val="60000"/>
                  </a:schemeClr>
                </a:solidFill>
                <a:effectLst/>
              </a:rPr>
              <a:t>高考作文之倡议书写作指导</a:t>
            </a:r>
            <a:endParaRPr lang="zh-CN" altLang="en-US" sz="7200" b="1">
              <a:ln w="22225">
                <a:solidFill>
                  <a:schemeClr val="accent2"/>
                </a:solidFill>
                <a:prstDash val="solid"/>
              </a:ln>
              <a:solidFill>
                <a:schemeClr val="accent2">
                  <a:lumMod val="40000"/>
                  <a:lumOff val="60000"/>
                </a:schemeClr>
              </a:solidFill>
              <a:effectLst/>
            </a:endParaRPr>
          </a:p>
        </p:txBody>
      </p:sp>
    </p:spTree>
    <p:custDataLst>
      <p:tags r:id="rId2"/>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未标题-4"/>
          <p:cNvPicPr>
            <a:picLocks noChangeAspect="1" noChangeArrowheads="1"/>
          </p:cNvPicPr>
          <p:nvPr/>
        </p:nvPicPr>
        <p:blipFill>
          <a:blip r:embed="rId1"/>
          <a:srcRect/>
          <a:stretch>
            <a:fillRect/>
          </a:stretch>
        </p:blipFill>
        <p:spPr bwMode="auto">
          <a:xfrm>
            <a:off x="205273" y="-38100"/>
            <a:ext cx="12192000" cy="6896100"/>
          </a:xfrm>
          <a:prstGeom prst="rect">
            <a:avLst/>
          </a:prstGeom>
          <a:noFill/>
        </p:spPr>
      </p:pic>
      <p:sp>
        <p:nvSpPr>
          <p:cNvPr id="45059" name="Rectangle 3"/>
          <p:cNvSpPr>
            <a:spLocks noGrp="1" noChangeArrowheads="1"/>
          </p:cNvSpPr>
          <p:nvPr>
            <p:ph type="title"/>
          </p:nvPr>
        </p:nvSpPr>
        <p:spPr>
          <a:xfrm>
            <a:off x="0" y="671804"/>
            <a:ext cx="10972800" cy="792162"/>
          </a:xfrm>
        </p:spPr>
        <p:txBody>
          <a:bodyPr/>
          <a:lstStyle/>
          <a:p>
            <a:r>
              <a:rPr lang="en-US" altLang="zh-CN" sz="4800" b="1" dirty="0" smtClean="0"/>
              <a:t>                         </a:t>
            </a:r>
            <a:r>
              <a:rPr sz="4800" b="1" dirty="0" smtClean="0"/>
              <a:t>前 言</a:t>
            </a:r>
            <a:endParaRPr lang="en-US" altLang="zh-CN" sz="4800" b="1" dirty="0"/>
          </a:p>
        </p:txBody>
      </p:sp>
      <p:sp>
        <p:nvSpPr>
          <p:cNvPr id="45060" name="Rectangle 4"/>
          <p:cNvSpPr>
            <a:spLocks noGrp="1" noChangeArrowheads="1"/>
          </p:cNvSpPr>
          <p:nvPr>
            <p:ph type="body" idx="1"/>
          </p:nvPr>
        </p:nvSpPr>
        <p:spPr>
          <a:xfrm>
            <a:off x="989045" y="1775927"/>
            <a:ext cx="9937102" cy="5638800"/>
          </a:xfrm>
        </p:spPr>
        <p:txBody>
          <a:bodyPr/>
          <a:lstStyle/>
          <a:p>
            <a:pPr>
              <a:buFontTx/>
              <a:buNone/>
            </a:pPr>
            <a:r>
              <a:rPr lang="en-US" altLang="zh-CN" sz="2800" b="1" dirty="0" smtClean="0"/>
              <a:t> </a:t>
            </a:r>
            <a:r>
              <a:rPr lang="en-US" altLang="zh-CN" sz="2800" b="1" dirty="0" smtClean="0"/>
              <a:t>      </a:t>
            </a:r>
            <a:r>
              <a:rPr sz="3200" b="1" dirty="0" smtClean="0">
                <a:latin typeface="华文楷体" pitchFamily="2" charset="-122"/>
                <a:ea typeface="华文楷体" pitchFamily="2" charset="-122"/>
              </a:rPr>
              <a:t>倡议书指的是由某一组织或社团拟定</a:t>
            </a:r>
            <a:r>
              <a:rPr sz="3200" b="1" dirty="0" smtClean="0">
                <a:latin typeface="华文楷体" pitchFamily="2" charset="-122"/>
                <a:ea typeface="华文楷体" pitchFamily="2" charset="-122"/>
              </a:rPr>
              <a:t>、就某事向社会提出建议或提议社会成员共同去做某事的书面文章。它作为日常应用写作中的一种常用文体，在现实社会中有着比较广泛的使用，如“节约用水倡议书”。</a:t>
            </a:r>
            <a:endParaRPr lang="zh-CN" altLang="en-US" sz="3200" b="1" dirty="0">
              <a:latin typeface="华文楷体" pitchFamily="2" charset="-122"/>
              <a:ea typeface="华文楷体" pitchFamily="2" charset="-122"/>
            </a:endParaRPr>
          </a:p>
        </p:txBody>
      </p:sp>
    </p:spTree>
  </p:cSld>
  <p:clrMapOvr>
    <a:masterClrMapping/>
  </p:clrMapOvr>
  <p:transition>
    <p:comb/>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未标题-4"/>
          <p:cNvPicPr>
            <a:picLocks noChangeAspect="1" noChangeArrowheads="1"/>
          </p:cNvPicPr>
          <p:nvPr/>
        </p:nvPicPr>
        <p:blipFill>
          <a:blip r:embed="rId1"/>
          <a:srcRect/>
          <a:stretch>
            <a:fillRect/>
          </a:stretch>
        </p:blipFill>
        <p:spPr bwMode="auto">
          <a:xfrm>
            <a:off x="0" y="-38100"/>
            <a:ext cx="12192000" cy="6896100"/>
          </a:xfrm>
          <a:prstGeom prst="rect">
            <a:avLst/>
          </a:prstGeom>
          <a:noFill/>
        </p:spPr>
      </p:pic>
      <p:sp>
        <p:nvSpPr>
          <p:cNvPr id="44035" name="Rectangle 3"/>
          <p:cNvSpPr>
            <a:spLocks noGrp="1" noChangeArrowheads="1"/>
          </p:cNvSpPr>
          <p:nvPr>
            <p:ph type="title"/>
          </p:nvPr>
        </p:nvSpPr>
        <p:spPr>
          <a:xfrm>
            <a:off x="609600" y="304801"/>
            <a:ext cx="10972800" cy="792163"/>
          </a:xfrm>
        </p:spPr>
        <p:txBody>
          <a:bodyPr/>
          <a:lstStyle/>
          <a:p>
            <a:r>
              <a:rPr lang="en-US" altLang="zh-CN" sz="4800" b="1"/>
              <a:t>[</a:t>
            </a:r>
            <a:r>
              <a:rPr lang="zh-CN" altLang="en-US" sz="4800" b="1"/>
              <a:t>格式</a:t>
            </a:r>
            <a:r>
              <a:rPr lang="en-US" altLang="zh-CN" sz="4800" b="1"/>
              <a:t>]</a:t>
            </a:r>
            <a:endParaRPr lang="en-US" altLang="zh-CN" sz="4800" b="1"/>
          </a:p>
        </p:txBody>
      </p:sp>
      <p:sp>
        <p:nvSpPr>
          <p:cNvPr id="44036" name="Rectangle 4"/>
          <p:cNvSpPr>
            <a:spLocks noGrp="1" noChangeArrowheads="1"/>
          </p:cNvSpPr>
          <p:nvPr>
            <p:ph type="body" idx="1"/>
          </p:nvPr>
        </p:nvSpPr>
        <p:spPr>
          <a:xfrm>
            <a:off x="609600" y="1295401"/>
            <a:ext cx="10972800" cy="4830763"/>
          </a:xfrm>
        </p:spPr>
        <p:txBody>
          <a:bodyPr/>
          <a:lstStyle/>
          <a:p>
            <a:pPr>
              <a:buFontTx/>
              <a:buNone/>
            </a:pPr>
            <a:r>
              <a:rPr lang="zh-CN" altLang="en-US">
                <a:ea typeface="黑体" panose="02010609060101010101" pitchFamily="49" charset="-122"/>
              </a:rPr>
              <a:t>倡议书由五部分组成</a:t>
            </a:r>
            <a:r>
              <a:rPr lang="zh-CN" altLang="en-US"/>
              <a:t>       </a:t>
            </a:r>
            <a:endParaRPr lang="zh-CN" altLang="en-US"/>
          </a:p>
          <a:p>
            <a:pPr>
              <a:buFontTx/>
              <a:buNone/>
            </a:pPr>
            <a:endParaRPr lang="zh-CN" altLang="en-US"/>
          </a:p>
          <a:p>
            <a:pPr>
              <a:buFontTx/>
              <a:buNone/>
            </a:pPr>
            <a:endParaRPr lang="en-US" altLang="zh-CN" sz="4400" b="1">
              <a:latin typeface="黑体" panose="02010609060101010101" pitchFamily="49" charset="-122"/>
              <a:ea typeface="黑体" panose="02010609060101010101" pitchFamily="49" charset="-122"/>
            </a:endParaRPr>
          </a:p>
        </p:txBody>
      </p:sp>
      <p:sp>
        <p:nvSpPr>
          <p:cNvPr id="44037" name="Freeform 5"/>
          <p:cNvSpPr>
            <a:spLocks noEditPoints="1"/>
          </p:cNvSpPr>
          <p:nvPr/>
        </p:nvSpPr>
        <p:spPr bwMode="gray">
          <a:xfrm rot="-1358056">
            <a:off x="1856317" y="2801938"/>
            <a:ext cx="8125883" cy="2424112"/>
          </a:xfrm>
          <a:custGeom>
            <a:avLst/>
            <a:gdLst/>
            <a:ahLst/>
            <a:cxnLst>
              <a:cxn ang="0">
                <a:pos x="1692" y="12"/>
              </a:cxn>
              <a:cxn ang="0">
                <a:pos x="1234" y="74"/>
              </a:cxn>
              <a:cxn ang="0">
                <a:pos x="828" y="182"/>
              </a:cxn>
              <a:cxn ang="0">
                <a:pos x="486" y="330"/>
              </a:cxn>
              <a:cxn ang="0">
                <a:pos x="226" y="510"/>
              </a:cxn>
              <a:cxn ang="0">
                <a:pos x="58" y="718"/>
              </a:cxn>
              <a:cxn ang="0">
                <a:pos x="0" y="944"/>
              </a:cxn>
              <a:cxn ang="0">
                <a:pos x="58" y="1170"/>
              </a:cxn>
              <a:cxn ang="0">
                <a:pos x="226" y="1378"/>
              </a:cxn>
              <a:cxn ang="0">
                <a:pos x="486" y="1558"/>
              </a:cxn>
              <a:cxn ang="0">
                <a:pos x="828" y="1706"/>
              </a:cxn>
              <a:cxn ang="0">
                <a:pos x="1234" y="1814"/>
              </a:cxn>
              <a:cxn ang="0">
                <a:pos x="1692" y="1876"/>
              </a:cxn>
              <a:cxn ang="0">
                <a:pos x="2186" y="1884"/>
              </a:cxn>
              <a:cxn ang="0">
                <a:pos x="2658" y="1840"/>
              </a:cxn>
              <a:cxn ang="0">
                <a:pos x="3084" y="1746"/>
              </a:cxn>
              <a:cxn ang="0">
                <a:pos x="3448" y="1612"/>
              </a:cxn>
              <a:cxn ang="0">
                <a:pos x="3738" y="1442"/>
              </a:cxn>
              <a:cxn ang="0">
                <a:pos x="3938" y="1242"/>
              </a:cxn>
              <a:cxn ang="0">
                <a:pos x="4034" y="1022"/>
              </a:cxn>
              <a:cxn ang="0">
                <a:pos x="4014" y="790"/>
              </a:cxn>
              <a:cxn ang="0">
                <a:pos x="3882" y="576"/>
              </a:cxn>
              <a:cxn ang="0">
                <a:pos x="3650" y="386"/>
              </a:cxn>
              <a:cxn ang="0">
                <a:pos x="3334" y="228"/>
              </a:cxn>
              <a:cxn ang="0">
                <a:pos x="2948" y="106"/>
              </a:cxn>
              <a:cxn ang="0">
                <a:pos x="2506" y="28"/>
              </a:cxn>
              <a:cxn ang="0">
                <a:pos x="2020" y="0"/>
              </a:cxn>
              <a:cxn ang="0">
                <a:pos x="1606" y="1736"/>
              </a:cxn>
              <a:cxn ang="0">
                <a:pos x="1164" y="1678"/>
              </a:cxn>
              <a:cxn ang="0">
                <a:pos x="776" y="1576"/>
              </a:cxn>
              <a:cxn ang="0">
                <a:pos x="458" y="1436"/>
              </a:cxn>
              <a:cxn ang="0">
                <a:pos x="224" y="1266"/>
              </a:cxn>
              <a:cxn ang="0">
                <a:pos x="88" y="1074"/>
              </a:cxn>
              <a:cxn ang="0">
                <a:pos x="68" y="864"/>
              </a:cxn>
              <a:cxn ang="0">
                <a:pos x="166" y="664"/>
              </a:cxn>
              <a:cxn ang="0">
                <a:pos x="370" y="486"/>
              </a:cxn>
              <a:cxn ang="0">
                <a:pos x="662" y="336"/>
              </a:cxn>
              <a:cxn ang="0">
                <a:pos x="1028" y="222"/>
              </a:cxn>
              <a:cxn ang="0">
                <a:pos x="1454" y="148"/>
              </a:cxn>
              <a:cxn ang="0">
                <a:pos x="1922" y="120"/>
              </a:cxn>
              <a:cxn ang="0">
                <a:pos x="2392" y="148"/>
              </a:cxn>
              <a:cxn ang="0">
                <a:pos x="2818" y="222"/>
              </a:cxn>
              <a:cxn ang="0">
                <a:pos x="3184" y="336"/>
              </a:cxn>
              <a:cxn ang="0">
                <a:pos x="3476" y="486"/>
              </a:cxn>
              <a:cxn ang="0">
                <a:pos x="3680" y="664"/>
              </a:cxn>
              <a:cxn ang="0">
                <a:pos x="3778" y="864"/>
              </a:cxn>
              <a:cxn ang="0">
                <a:pos x="3758" y="1074"/>
              </a:cxn>
              <a:cxn ang="0">
                <a:pos x="3622" y="1266"/>
              </a:cxn>
              <a:cxn ang="0">
                <a:pos x="3388" y="1436"/>
              </a:cxn>
              <a:cxn ang="0">
                <a:pos x="3070" y="1576"/>
              </a:cxn>
              <a:cxn ang="0">
                <a:pos x="2682" y="1678"/>
              </a:cxn>
              <a:cxn ang="0">
                <a:pos x="2240" y="1736"/>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1">
            <a:gsLst>
              <a:gs pos="0">
                <a:schemeClr val="bg2">
                  <a:gamma/>
                  <a:tint val="30196"/>
                  <a:invGamma/>
                  <a:alpha val="36000"/>
                </a:schemeClr>
              </a:gs>
              <a:gs pos="100000">
                <a:schemeClr val="bg2"/>
              </a:gs>
            </a:gsLst>
            <a:lin ang="0" scaled="1"/>
          </a:gradFill>
          <a:ln w="0">
            <a:noFill/>
            <a:prstDash val="solid"/>
            <a:round/>
          </a:ln>
        </p:spPr>
        <p:txBody>
          <a:bodyPr/>
          <a:lstStyle/>
          <a:p>
            <a:endParaRPr lang="zh-CN" altLang="en-US"/>
          </a:p>
        </p:txBody>
      </p:sp>
      <p:sp>
        <p:nvSpPr>
          <p:cNvPr id="44038" name="Oval 6"/>
          <p:cNvSpPr>
            <a:spLocks noChangeArrowheads="1"/>
          </p:cNvSpPr>
          <p:nvPr/>
        </p:nvSpPr>
        <p:spPr bwMode="gray">
          <a:xfrm>
            <a:off x="5135033" y="2060576"/>
            <a:ext cx="1524000" cy="1101725"/>
          </a:xfrm>
          <a:prstGeom prst="ellipse">
            <a:avLst/>
          </a:prstGeom>
          <a:gradFill rotWithShape="1">
            <a:gsLst>
              <a:gs pos="0">
                <a:schemeClr val="hlink"/>
              </a:gs>
              <a:gs pos="100000">
                <a:schemeClr val="hlink">
                  <a:gamma/>
                  <a:shade val="34510"/>
                  <a:invGamma/>
                </a:schemeClr>
              </a:gs>
            </a:gsLst>
            <a:path path="shape">
              <a:fillToRect l="50000" t="50000" r="50000" b="50000"/>
            </a:path>
          </a:gradFill>
          <a:ln w="9525">
            <a:noFill/>
            <a:round/>
          </a:ln>
          <a:effectLst/>
        </p:spPr>
        <p:txBody>
          <a:bodyPr wrap="none" anchor="ctr"/>
          <a:lstStyle/>
          <a:p>
            <a:pPr algn="ctr"/>
            <a:endParaRPr lang="zh-CN" altLang="zh-CN" sz="1800"/>
          </a:p>
        </p:txBody>
      </p:sp>
      <p:sp>
        <p:nvSpPr>
          <p:cNvPr id="44039" name="Oval 7"/>
          <p:cNvSpPr>
            <a:spLocks noChangeArrowheads="1"/>
          </p:cNvSpPr>
          <p:nvPr/>
        </p:nvSpPr>
        <p:spPr bwMode="gray">
          <a:xfrm>
            <a:off x="2114551" y="3375026"/>
            <a:ext cx="1521883" cy="1101725"/>
          </a:xfrm>
          <a:prstGeom prst="ellipse">
            <a:avLst/>
          </a:prstGeom>
          <a:gradFill rotWithShape="1">
            <a:gsLst>
              <a:gs pos="0">
                <a:srgbClr val="993366"/>
              </a:gs>
              <a:gs pos="100000">
                <a:srgbClr val="993366">
                  <a:gamma/>
                  <a:shade val="31373"/>
                  <a:invGamma/>
                </a:srgbClr>
              </a:gs>
            </a:gsLst>
            <a:path path="shape">
              <a:fillToRect l="50000" t="50000" r="50000" b="50000"/>
            </a:path>
          </a:gradFill>
          <a:ln w="9525">
            <a:noFill/>
            <a:round/>
          </a:ln>
          <a:effectLst/>
        </p:spPr>
        <p:txBody>
          <a:bodyPr wrap="none" anchor="ctr"/>
          <a:lstStyle/>
          <a:p>
            <a:pPr algn="ctr"/>
            <a:endParaRPr lang="zh-CN" altLang="zh-CN" sz="1800"/>
          </a:p>
        </p:txBody>
      </p:sp>
      <p:sp>
        <p:nvSpPr>
          <p:cNvPr id="44040" name="Oval 8"/>
          <p:cNvSpPr>
            <a:spLocks noChangeArrowheads="1"/>
          </p:cNvSpPr>
          <p:nvPr/>
        </p:nvSpPr>
        <p:spPr bwMode="gray">
          <a:xfrm>
            <a:off x="3119967" y="4868864"/>
            <a:ext cx="1521884" cy="1101725"/>
          </a:xfrm>
          <a:prstGeom prst="ellipse">
            <a:avLst/>
          </a:prstGeom>
          <a:gradFill rotWithShape="1">
            <a:gsLst>
              <a:gs pos="0">
                <a:srgbClr val="339966"/>
              </a:gs>
              <a:gs pos="100000">
                <a:srgbClr val="339966">
                  <a:gamma/>
                  <a:shade val="35686"/>
                  <a:invGamma/>
                </a:srgbClr>
              </a:gs>
            </a:gsLst>
            <a:path path="shape">
              <a:fillToRect l="50000" t="50000" r="50000" b="50000"/>
            </a:path>
          </a:gradFill>
          <a:ln w="9525">
            <a:noFill/>
            <a:round/>
          </a:ln>
          <a:effectLst/>
        </p:spPr>
        <p:txBody>
          <a:bodyPr wrap="none" anchor="ctr"/>
          <a:lstStyle/>
          <a:p>
            <a:pPr algn="ctr"/>
            <a:endParaRPr lang="zh-CN" altLang="zh-CN" sz="1800"/>
          </a:p>
        </p:txBody>
      </p:sp>
      <p:sp>
        <p:nvSpPr>
          <p:cNvPr id="44041" name="Oval 9"/>
          <p:cNvSpPr>
            <a:spLocks noChangeArrowheads="1"/>
          </p:cNvSpPr>
          <p:nvPr/>
        </p:nvSpPr>
        <p:spPr bwMode="gray">
          <a:xfrm>
            <a:off x="6451601" y="4297364"/>
            <a:ext cx="1521884" cy="1101725"/>
          </a:xfrm>
          <a:prstGeom prst="ellipse">
            <a:avLst/>
          </a:prstGeom>
          <a:gradFill rotWithShape="1">
            <a:gsLst>
              <a:gs pos="0">
                <a:schemeClr val="bg2"/>
              </a:gs>
              <a:gs pos="100000">
                <a:schemeClr val="bg2">
                  <a:gamma/>
                  <a:shade val="35686"/>
                  <a:invGamma/>
                </a:schemeClr>
              </a:gs>
            </a:gsLst>
            <a:path path="shape">
              <a:fillToRect l="50000" t="50000" r="50000" b="50000"/>
            </a:path>
          </a:gradFill>
          <a:ln w="9525">
            <a:noFill/>
            <a:round/>
          </a:ln>
          <a:effectLst/>
        </p:spPr>
        <p:txBody>
          <a:bodyPr wrap="none" anchor="ctr"/>
          <a:lstStyle/>
          <a:p>
            <a:pPr algn="ctr"/>
            <a:endParaRPr lang="zh-CN" altLang="zh-CN" sz="1800"/>
          </a:p>
        </p:txBody>
      </p:sp>
      <p:sp>
        <p:nvSpPr>
          <p:cNvPr id="44042" name="Oval 10"/>
          <p:cNvSpPr>
            <a:spLocks noChangeArrowheads="1"/>
          </p:cNvSpPr>
          <p:nvPr/>
        </p:nvSpPr>
        <p:spPr bwMode="gray">
          <a:xfrm>
            <a:off x="8619067" y="2254251"/>
            <a:ext cx="1439333" cy="1103313"/>
          </a:xfrm>
          <a:prstGeom prst="ellipse">
            <a:avLst/>
          </a:prstGeom>
          <a:gradFill rotWithShape="1">
            <a:gsLst>
              <a:gs pos="0">
                <a:schemeClr val="folHlink"/>
              </a:gs>
              <a:gs pos="100000">
                <a:schemeClr val="folHlink">
                  <a:gamma/>
                  <a:shade val="34510"/>
                  <a:invGamma/>
                </a:schemeClr>
              </a:gs>
            </a:gsLst>
            <a:path path="shape">
              <a:fillToRect l="50000" t="50000" r="50000" b="50000"/>
            </a:path>
          </a:gradFill>
          <a:ln w="9525">
            <a:noFill/>
            <a:round/>
          </a:ln>
          <a:effectLst/>
        </p:spPr>
        <p:txBody>
          <a:bodyPr wrap="none" anchor="ctr"/>
          <a:lstStyle/>
          <a:p>
            <a:pPr algn="ctr"/>
            <a:endParaRPr lang="zh-CN" altLang="zh-CN" sz="1800"/>
          </a:p>
        </p:txBody>
      </p:sp>
      <p:sp>
        <p:nvSpPr>
          <p:cNvPr id="44043" name="Text Box 11"/>
          <p:cNvSpPr txBox="1">
            <a:spLocks noChangeArrowheads="1"/>
          </p:cNvSpPr>
          <p:nvPr/>
        </p:nvSpPr>
        <p:spPr bwMode="white">
          <a:xfrm>
            <a:off x="2256367" y="3573464"/>
            <a:ext cx="1344084" cy="579437"/>
          </a:xfrm>
          <a:prstGeom prst="rect">
            <a:avLst/>
          </a:prstGeom>
          <a:noFill/>
          <a:ln w="9525">
            <a:noFill/>
            <a:miter lim="800000"/>
          </a:ln>
          <a:effectLst/>
        </p:spPr>
        <p:txBody>
          <a:bodyPr>
            <a:spAutoFit/>
          </a:bodyPr>
          <a:lstStyle/>
          <a:p>
            <a:pPr eaLnBrk="0" hangingPunct="0"/>
            <a:r>
              <a:rPr lang="zh-CN" altLang="en-US" sz="3200" b="1">
                <a:solidFill>
                  <a:schemeClr val="bg1"/>
                </a:solidFill>
                <a:latin typeface="Verdana" panose="020B0604030504040204" pitchFamily="34" charset="0"/>
                <a:ea typeface="楷体_GB2312" pitchFamily="49" charset="-122"/>
              </a:rPr>
              <a:t>标题</a:t>
            </a:r>
            <a:endParaRPr lang="zh-CN" altLang="en-US" sz="3200" b="1">
              <a:solidFill>
                <a:schemeClr val="bg1"/>
              </a:solidFill>
              <a:latin typeface="Verdana" panose="020B0604030504040204" pitchFamily="34" charset="0"/>
              <a:ea typeface="楷体_GB2312" pitchFamily="49" charset="-122"/>
            </a:endParaRPr>
          </a:p>
        </p:txBody>
      </p:sp>
      <p:sp>
        <p:nvSpPr>
          <p:cNvPr id="44044" name="Text Box 12"/>
          <p:cNvSpPr txBox="1">
            <a:spLocks noChangeArrowheads="1"/>
          </p:cNvSpPr>
          <p:nvPr/>
        </p:nvSpPr>
        <p:spPr bwMode="white">
          <a:xfrm>
            <a:off x="5327651" y="2276475"/>
            <a:ext cx="1344083" cy="579438"/>
          </a:xfrm>
          <a:prstGeom prst="rect">
            <a:avLst/>
          </a:prstGeom>
          <a:noFill/>
          <a:ln w="9525">
            <a:noFill/>
            <a:miter lim="800000"/>
          </a:ln>
          <a:effectLst/>
        </p:spPr>
        <p:txBody>
          <a:bodyPr>
            <a:spAutoFit/>
          </a:bodyPr>
          <a:lstStyle/>
          <a:p>
            <a:pPr eaLnBrk="0" hangingPunct="0"/>
            <a:r>
              <a:rPr lang="zh-CN" altLang="en-US" sz="3200" b="1">
                <a:solidFill>
                  <a:srgbClr val="FFFFFF"/>
                </a:solidFill>
                <a:latin typeface="Comic Sans MS" panose="030F0702030302020204" pitchFamily="66" charset="0"/>
              </a:rPr>
              <a:t>称呼</a:t>
            </a:r>
            <a:endParaRPr lang="zh-CN" altLang="en-US" sz="3200" b="1">
              <a:solidFill>
                <a:srgbClr val="FFFFFF"/>
              </a:solidFill>
              <a:latin typeface="Comic Sans MS" panose="030F0702030302020204" pitchFamily="66" charset="0"/>
            </a:endParaRPr>
          </a:p>
        </p:txBody>
      </p:sp>
      <p:sp>
        <p:nvSpPr>
          <p:cNvPr id="44045" name="Text Box 13"/>
          <p:cNvSpPr txBox="1">
            <a:spLocks noChangeArrowheads="1"/>
          </p:cNvSpPr>
          <p:nvPr/>
        </p:nvSpPr>
        <p:spPr bwMode="white">
          <a:xfrm>
            <a:off x="8688917" y="2454275"/>
            <a:ext cx="1005403" cy="584775"/>
          </a:xfrm>
          <a:prstGeom prst="rect">
            <a:avLst/>
          </a:prstGeom>
          <a:noFill/>
          <a:ln w="9525">
            <a:noFill/>
            <a:miter lim="800000"/>
          </a:ln>
          <a:effectLst/>
        </p:spPr>
        <p:txBody>
          <a:bodyPr wrap="none">
            <a:spAutoFit/>
          </a:bodyPr>
          <a:lstStyle/>
          <a:p>
            <a:pPr eaLnBrk="0" hangingPunct="0"/>
            <a:r>
              <a:rPr lang="zh-CN" altLang="en-US" sz="3200" b="1">
                <a:solidFill>
                  <a:srgbClr val="FFFFFF"/>
                </a:solidFill>
                <a:latin typeface="Comic Sans MS" panose="030F0702030302020204" pitchFamily="66" charset="0"/>
              </a:rPr>
              <a:t>正文</a:t>
            </a:r>
            <a:endParaRPr lang="zh-CN" altLang="en-US" sz="3200" b="1">
              <a:solidFill>
                <a:srgbClr val="FFFFFF"/>
              </a:solidFill>
              <a:latin typeface="Comic Sans MS" panose="030F0702030302020204" pitchFamily="66" charset="0"/>
            </a:endParaRPr>
          </a:p>
        </p:txBody>
      </p:sp>
      <p:sp>
        <p:nvSpPr>
          <p:cNvPr id="44046" name="Text Box 14"/>
          <p:cNvSpPr txBox="1">
            <a:spLocks noChangeArrowheads="1"/>
          </p:cNvSpPr>
          <p:nvPr/>
        </p:nvSpPr>
        <p:spPr bwMode="white">
          <a:xfrm>
            <a:off x="6576484" y="4508500"/>
            <a:ext cx="1344083" cy="579438"/>
          </a:xfrm>
          <a:prstGeom prst="rect">
            <a:avLst/>
          </a:prstGeom>
          <a:noFill/>
          <a:ln w="9525">
            <a:noFill/>
            <a:miter lim="800000"/>
          </a:ln>
          <a:effectLst/>
        </p:spPr>
        <p:txBody>
          <a:bodyPr>
            <a:spAutoFit/>
          </a:bodyPr>
          <a:lstStyle/>
          <a:p>
            <a:pPr eaLnBrk="0" hangingPunct="0"/>
            <a:r>
              <a:rPr lang="zh-CN" altLang="en-US" sz="3200" b="1">
                <a:solidFill>
                  <a:schemeClr val="bg1"/>
                </a:solidFill>
                <a:latin typeface="Verdana" panose="020B0604030504040204" pitchFamily="34" charset="0"/>
                <a:ea typeface="楷体_GB2312" pitchFamily="49" charset="-122"/>
              </a:rPr>
              <a:t>结尾</a:t>
            </a:r>
            <a:endParaRPr lang="zh-CN" altLang="en-US" sz="3200" b="1">
              <a:solidFill>
                <a:schemeClr val="bg1"/>
              </a:solidFill>
              <a:latin typeface="Verdana" panose="020B0604030504040204" pitchFamily="34" charset="0"/>
              <a:ea typeface="楷体_GB2312" pitchFamily="49" charset="-122"/>
            </a:endParaRPr>
          </a:p>
        </p:txBody>
      </p:sp>
      <p:sp>
        <p:nvSpPr>
          <p:cNvPr id="44047" name="Text Box 15"/>
          <p:cNvSpPr txBox="1">
            <a:spLocks noChangeArrowheads="1"/>
          </p:cNvSpPr>
          <p:nvPr/>
        </p:nvSpPr>
        <p:spPr bwMode="white">
          <a:xfrm>
            <a:off x="3149600" y="5029200"/>
            <a:ext cx="1008609" cy="584775"/>
          </a:xfrm>
          <a:prstGeom prst="rect">
            <a:avLst/>
          </a:prstGeom>
          <a:noFill/>
          <a:ln w="9525">
            <a:noFill/>
            <a:miter lim="800000"/>
          </a:ln>
          <a:effectLst/>
        </p:spPr>
        <p:txBody>
          <a:bodyPr wrap="none">
            <a:spAutoFit/>
          </a:bodyPr>
          <a:lstStyle/>
          <a:p>
            <a:pPr eaLnBrk="0" hangingPunct="0"/>
            <a:r>
              <a:rPr lang="zh-CN" altLang="en-US" sz="3200" b="1">
                <a:solidFill>
                  <a:schemeClr val="bg1"/>
                </a:solidFill>
                <a:latin typeface="Verdana" panose="020B0604030504040204" pitchFamily="34" charset="0"/>
                <a:ea typeface="楷体_GB2312" pitchFamily="49" charset="-122"/>
              </a:rPr>
              <a:t>落款</a:t>
            </a:r>
            <a:endParaRPr lang="zh-CN" altLang="en-US" sz="3200" b="1">
              <a:solidFill>
                <a:schemeClr val="bg1"/>
              </a:solidFill>
              <a:latin typeface="Verdana" panose="020B0604030504040204" pitchFamily="34" charset="0"/>
              <a:ea typeface="楷体_GB2312" pitchFamily="49" charset="-122"/>
            </a:endParaRPr>
          </a:p>
        </p:txBody>
      </p:sp>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037"/>
                                        </p:tgtEl>
                                        <p:attrNameLst>
                                          <p:attrName>style.visibility</p:attrName>
                                        </p:attrNameLst>
                                      </p:cBhvr>
                                      <p:to>
                                        <p:strVal val="visible"/>
                                      </p:to>
                                    </p:set>
                                    <p:animEffect transition="in" filter="blinds(horizontal)">
                                      <p:cBhvr>
                                        <p:cTn id="7" dur="500"/>
                                        <p:tgtEl>
                                          <p:spTgt spid="440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403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404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403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4404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404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404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404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4404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404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40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animBg="1"/>
      <p:bldP spid="44038" grpId="0" animBg="1"/>
      <p:bldP spid="44039" grpId="0" animBg="1"/>
      <p:bldP spid="44040" grpId="0" animBg="1"/>
      <p:bldP spid="44041" grpId="0" animBg="1"/>
      <p:bldP spid="44042" grpId="0" animBg="1"/>
      <p:bldP spid="44043" grpId="0"/>
      <p:bldP spid="44044" grpId="0"/>
      <p:bldP spid="44045" grpId="0"/>
      <p:bldP spid="44046" grpId="0"/>
      <p:bldP spid="440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未标题-4"/>
          <p:cNvPicPr>
            <a:picLocks noChangeAspect="1" noChangeArrowheads="1"/>
          </p:cNvPicPr>
          <p:nvPr/>
        </p:nvPicPr>
        <p:blipFill>
          <a:blip r:embed="rId1"/>
          <a:srcRect/>
          <a:stretch>
            <a:fillRect/>
          </a:stretch>
        </p:blipFill>
        <p:spPr bwMode="auto">
          <a:xfrm>
            <a:off x="205273" y="-38100"/>
            <a:ext cx="12192000" cy="6896100"/>
          </a:xfrm>
          <a:prstGeom prst="rect">
            <a:avLst/>
          </a:prstGeom>
          <a:noFill/>
        </p:spPr>
      </p:pic>
      <p:sp>
        <p:nvSpPr>
          <p:cNvPr id="45059" name="Rectangle 3"/>
          <p:cNvSpPr>
            <a:spLocks noGrp="1" noChangeArrowheads="1"/>
          </p:cNvSpPr>
          <p:nvPr>
            <p:ph type="title"/>
          </p:nvPr>
        </p:nvSpPr>
        <p:spPr>
          <a:xfrm>
            <a:off x="0" y="0"/>
            <a:ext cx="10972800" cy="792162"/>
          </a:xfrm>
        </p:spPr>
        <p:txBody>
          <a:bodyPr/>
          <a:lstStyle/>
          <a:p>
            <a:r>
              <a:rPr lang="en-US" altLang="zh-CN" sz="4800" b="1" dirty="0"/>
              <a:t>[</a:t>
            </a:r>
            <a:r>
              <a:rPr lang="zh-CN" altLang="en-US" sz="4800" b="1" dirty="0"/>
              <a:t>格式</a:t>
            </a:r>
            <a:r>
              <a:rPr lang="en-US" altLang="zh-CN" sz="4800" b="1" dirty="0"/>
              <a:t>]</a:t>
            </a:r>
            <a:endParaRPr lang="en-US" altLang="zh-CN" sz="4800" b="1" dirty="0"/>
          </a:p>
        </p:txBody>
      </p:sp>
      <p:sp>
        <p:nvSpPr>
          <p:cNvPr id="45060" name="Rectangle 4"/>
          <p:cNvSpPr>
            <a:spLocks noGrp="1" noChangeArrowheads="1"/>
          </p:cNvSpPr>
          <p:nvPr>
            <p:ph type="body" idx="1"/>
          </p:nvPr>
        </p:nvSpPr>
        <p:spPr>
          <a:xfrm>
            <a:off x="0" y="768221"/>
            <a:ext cx="11700588" cy="5638800"/>
          </a:xfrm>
        </p:spPr>
        <p:txBody>
          <a:bodyPr/>
          <a:lstStyle/>
          <a:p>
            <a:pPr>
              <a:buFontTx/>
              <a:buNone/>
            </a:pPr>
            <a:r>
              <a:rPr lang="en-US" altLang="zh-CN" sz="900" dirty="0"/>
              <a:t>         </a:t>
            </a:r>
            <a:endParaRPr lang="en-US" altLang="zh-CN" sz="900" dirty="0"/>
          </a:p>
          <a:p>
            <a:pPr>
              <a:buFontTx/>
              <a:buNone/>
            </a:pPr>
            <a:r>
              <a:rPr lang="en-US" altLang="zh-CN" sz="2800" dirty="0">
                <a:latin typeface="黑体" panose="02010609060101010101" pitchFamily="49" charset="-122"/>
                <a:ea typeface="黑体" panose="02010609060101010101" pitchFamily="49" charset="-122"/>
              </a:rPr>
              <a:t>  </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一</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标题     </a:t>
            </a:r>
            <a:endParaRPr lang="zh-CN" altLang="en-US" sz="2800" b="1" dirty="0">
              <a:latin typeface="黑体" panose="02010609060101010101" pitchFamily="49" charset="-122"/>
              <a:ea typeface="黑体" panose="02010609060101010101" pitchFamily="49" charset="-122"/>
            </a:endParaRPr>
          </a:p>
          <a:p>
            <a:pPr>
              <a:buFontTx/>
              <a:buNone/>
            </a:pPr>
            <a:r>
              <a:rPr lang="zh-CN" altLang="en-US" sz="2800" b="1" dirty="0">
                <a:latin typeface="黑体" panose="02010609060101010101" pitchFamily="49" charset="-122"/>
                <a:ea typeface="黑体" panose="02010609060101010101" pitchFamily="49" charset="-122"/>
              </a:rPr>
              <a:t>      倡议书标题</a:t>
            </a:r>
            <a:r>
              <a:rPr lang="zh-CN" altLang="en-US" sz="2800" b="1" dirty="0">
                <a:solidFill>
                  <a:srgbClr val="FF3300"/>
                </a:solidFill>
                <a:latin typeface="黑体" panose="02010609060101010101" pitchFamily="49" charset="-122"/>
                <a:ea typeface="黑体" panose="02010609060101010101" pitchFamily="49" charset="-122"/>
              </a:rPr>
              <a:t>一般由文种名独自组成</a:t>
            </a:r>
            <a:r>
              <a:rPr lang="zh-CN" altLang="en-US" sz="2800" b="1" dirty="0">
                <a:latin typeface="黑体" panose="02010609060101010101" pitchFamily="49" charset="-122"/>
                <a:ea typeface="黑体" panose="02010609060101010101" pitchFamily="49" charset="-122"/>
              </a:rPr>
              <a:t>，即在第一行正中用较大的字体写“倡议书”三个字。 </a:t>
            </a:r>
            <a:endParaRPr lang="zh-CN" altLang="en-US" sz="2800" b="1" dirty="0">
              <a:latin typeface="黑体" panose="02010609060101010101" pitchFamily="49" charset="-122"/>
              <a:ea typeface="黑体" panose="02010609060101010101" pitchFamily="49" charset="-122"/>
            </a:endParaRPr>
          </a:p>
          <a:p>
            <a:pPr>
              <a:buFontTx/>
              <a:buNone/>
            </a:pPr>
            <a:r>
              <a:rPr lang="zh-CN" altLang="en-US" sz="2800" b="1" dirty="0">
                <a:latin typeface="黑体" panose="02010609060101010101" pitchFamily="49" charset="-122"/>
                <a:ea typeface="黑体" panose="02010609060101010101" pitchFamily="49" charset="-122"/>
              </a:rPr>
              <a:t>      另外，标题还可以</a:t>
            </a:r>
            <a:r>
              <a:rPr lang="zh-CN" altLang="en-US" sz="2800" b="1" dirty="0">
                <a:solidFill>
                  <a:srgbClr val="FF3300"/>
                </a:solidFill>
                <a:latin typeface="黑体" panose="02010609060101010101" pitchFamily="49" charset="-122"/>
                <a:ea typeface="黑体" panose="02010609060101010101" pitchFamily="49" charset="-122"/>
              </a:rPr>
              <a:t>由倡议内容和文种名共同组成</a:t>
            </a:r>
            <a:r>
              <a:rPr lang="zh-CN" altLang="en-US" sz="2800" b="1" dirty="0">
                <a:latin typeface="黑体" panose="02010609060101010101" pitchFamily="49" charset="-122"/>
                <a:ea typeface="黑体" panose="02010609060101010101" pitchFamily="49" charset="-122"/>
              </a:rPr>
              <a:t>。如“保护野生动物的倡议书 ”“关于环境保护的倡议书”等。 </a:t>
            </a:r>
            <a:endParaRPr lang="zh-CN" altLang="en-US" sz="2800" b="1" dirty="0">
              <a:latin typeface="黑体" panose="02010609060101010101" pitchFamily="49" charset="-122"/>
              <a:ea typeface="黑体" panose="02010609060101010101" pitchFamily="49" charset="-122"/>
            </a:endParaRPr>
          </a:p>
          <a:p>
            <a:pPr>
              <a:buFontTx/>
              <a:buNone/>
            </a:pPr>
            <a:r>
              <a:rPr lang="zh-CN" altLang="en-US" sz="2800" b="1" dirty="0">
                <a:latin typeface="黑体" panose="02010609060101010101" pitchFamily="49" charset="-122"/>
                <a:ea typeface="黑体" panose="02010609060101010101" pitchFamily="49" charset="-122"/>
              </a:rPr>
              <a:t>  </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二</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称呼 </a:t>
            </a:r>
            <a:endParaRPr lang="zh-CN" altLang="en-US" sz="2800" b="1" dirty="0">
              <a:latin typeface="黑体" panose="02010609060101010101" pitchFamily="49" charset="-122"/>
              <a:ea typeface="黑体" panose="02010609060101010101" pitchFamily="49" charset="-122"/>
            </a:endParaRPr>
          </a:p>
          <a:p>
            <a:pPr>
              <a:buFontTx/>
              <a:buNone/>
            </a:pPr>
            <a:r>
              <a:rPr lang="zh-CN" altLang="en-US" sz="2800" b="1" dirty="0">
                <a:latin typeface="黑体" panose="02010609060101010101" pitchFamily="49" charset="-122"/>
                <a:ea typeface="黑体" panose="02010609060101010101" pitchFamily="49" charset="-122"/>
              </a:rPr>
              <a:t>      倡议书的称呼可根据倡议的对象而选用适当的称呼。如“广大的青少年朋友们：”、“亲爱的同学们：”等等。</a:t>
            </a:r>
            <a:r>
              <a:rPr lang="zh-CN" altLang="en-US" sz="2800" b="1" dirty="0">
                <a:solidFill>
                  <a:srgbClr val="FF0000"/>
                </a:solidFill>
                <a:latin typeface="黑体" panose="02010609060101010101" pitchFamily="49" charset="-122"/>
                <a:ea typeface="黑体" panose="02010609060101010101" pitchFamily="49" charset="-122"/>
              </a:rPr>
              <a:t>有的倡议书也可不用称呼，而在正文中指出。</a:t>
            </a:r>
            <a:r>
              <a:rPr lang="zh-CN" altLang="en-US" sz="2800" b="1" dirty="0">
                <a:latin typeface="黑体" panose="02010609060101010101" pitchFamily="49" charset="-122"/>
                <a:ea typeface="黑体" panose="02010609060101010101" pitchFamily="49" charset="-122"/>
              </a:rPr>
              <a:t>称呼在第二行开头顶格写，并加冒号。 </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ransition>
    <p:comb/>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未标题-4"/>
          <p:cNvPicPr>
            <a:picLocks noChangeAspect="1" noChangeArrowheads="1"/>
          </p:cNvPicPr>
          <p:nvPr/>
        </p:nvPicPr>
        <p:blipFill>
          <a:blip r:embed="rId1"/>
          <a:srcRect/>
          <a:stretch>
            <a:fillRect/>
          </a:stretch>
        </p:blipFill>
        <p:spPr bwMode="auto">
          <a:xfrm>
            <a:off x="0" y="-38100"/>
            <a:ext cx="12192000" cy="6896100"/>
          </a:xfrm>
          <a:prstGeom prst="rect">
            <a:avLst/>
          </a:prstGeom>
          <a:noFill/>
        </p:spPr>
      </p:pic>
      <p:sp>
        <p:nvSpPr>
          <p:cNvPr id="46083" name="Rectangle 3"/>
          <p:cNvSpPr>
            <a:spLocks noGrp="1" noChangeArrowheads="1"/>
          </p:cNvSpPr>
          <p:nvPr>
            <p:ph type="title"/>
          </p:nvPr>
        </p:nvSpPr>
        <p:spPr>
          <a:xfrm>
            <a:off x="0" y="0"/>
            <a:ext cx="10972800" cy="639762"/>
          </a:xfrm>
        </p:spPr>
        <p:txBody>
          <a:bodyPr/>
          <a:lstStyle/>
          <a:p>
            <a:r>
              <a:rPr lang="en-US" altLang="zh-CN" sz="4800" b="1" dirty="0"/>
              <a:t>[</a:t>
            </a:r>
            <a:r>
              <a:rPr lang="zh-CN" altLang="en-US" sz="4800" b="1" dirty="0"/>
              <a:t>格式</a:t>
            </a:r>
            <a:r>
              <a:rPr lang="en-US" altLang="zh-CN" sz="4800" b="1" dirty="0"/>
              <a:t>]</a:t>
            </a:r>
            <a:endParaRPr lang="en-US" altLang="zh-CN" sz="4800" b="1" dirty="0"/>
          </a:p>
        </p:txBody>
      </p:sp>
      <p:sp>
        <p:nvSpPr>
          <p:cNvPr id="46084" name="Rectangle 4"/>
          <p:cNvSpPr>
            <a:spLocks noGrp="1" noChangeArrowheads="1"/>
          </p:cNvSpPr>
          <p:nvPr>
            <p:ph type="body" idx="1"/>
          </p:nvPr>
        </p:nvSpPr>
        <p:spPr>
          <a:xfrm>
            <a:off x="0" y="814874"/>
            <a:ext cx="11887200" cy="6043126"/>
          </a:xfrm>
        </p:spPr>
        <p:txBody>
          <a:bodyPr/>
          <a:lstStyle/>
          <a:p>
            <a:pPr>
              <a:lnSpc>
                <a:spcPct val="90000"/>
              </a:lnSpc>
              <a:buFontTx/>
              <a:buNone/>
            </a:pPr>
            <a:r>
              <a:rPr lang="en-US" altLang="zh-CN" sz="2800" dirty="0">
                <a:latin typeface="黑体" panose="02010609060101010101" pitchFamily="49" charset="-122"/>
                <a:ea typeface="黑体" panose="02010609060101010101" pitchFamily="49" charset="-122"/>
              </a:rPr>
              <a:t>  </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三</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正文（第三行空两格写） </a:t>
            </a:r>
            <a:endParaRPr lang="zh-CN" altLang="en-US" sz="2800" b="1" dirty="0">
              <a:latin typeface="黑体" panose="02010609060101010101" pitchFamily="49" charset="-122"/>
              <a:ea typeface="黑体" panose="02010609060101010101" pitchFamily="49" charset="-122"/>
            </a:endParaRPr>
          </a:p>
          <a:p>
            <a:pPr>
              <a:lnSpc>
                <a:spcPct val="90000"/>
              </a:lnSpc>
              <a:buFontTx/>
              <a:buNone/>
            </a:pPr>
            <a:r>
              <a:rPr lang="zh-CN" altLang="en-US" sz="2800" b="1" dirty="0">
                <a:latin typeface="黑体" panose="02010609060101010101" pitchFamily="49" charset="-122"/>
                <a:ea typeface="黑体" panose="02010609060101010101" pitchFamily="49" charset="-122"/>
              </a:rPr>
              <a:t>  正文内容一般包括以下两方面： </a:t>
            </a:r>
            <a:endParaRPr lang="zh-CN" altLang="en-US" sz="2800" b="1" dirty="0">
              <a:latin typeface="黑体" panose="02010609060101010101" pitchFamily="49" charset="-122"/>
              <a:ea typeface="黑体" panose="02010609060101010101" pitchFamily="49" charset="-122"/>
            </a:endParaRPr>
          </a:p>
          <a:p>
            <a:pPr>
              <a:lnSpc>
                <a:spcPct val="90000"/>
              </a:lnSpc>
              <a:buFontTx/>
              <a:buNone/>
            </a:pPr>
            <a:r>
              <a:rPr lang="zh-CN" altLang="en-US" sz="2800" b="1" dirty="0">
                <a:solidFill>
                  <a:srgbClr val="FF0000"/>
                </a:solidFill>
                <a:latin typeface="黑体" panose="02010609060101010101" pitchFamily="49" charset="-122"/>
                <a:ea typeface="黑体" panose="02010609060101010101" pitchFamily="49" charset="-122"/>
              </a:rPr>
              <a:t>      首先，要写清楚发倡议的原因和目的</a:t>
            </a:r>
            <a:r>
              <a:rPr lang="zh-CN" altLang="en-US" sz="2800" b="1" dirty="0">
                <a:latin typeface="黑体" panose="02010609060101010101" pitchFamily="49" charset="-122"/>
                <a:ea typeface="黑体" panose="02010609060101010101" pitchFamily="49" charset="-122"/>
              </a:rPr>
              <a:t> </a:t>
            </a:r>
            <a:endParaRPr lang="zh-CN" altLang="en-US" sz="2800" b="1" dirty="0">
              <a:latin typeface="黑体" panose="02010609060101010101" pitchFamily="49" charset="-122"/>
              <a:ea typeface="黑体" panose="02010609060101010101" pitchFamily="49" charset="-122"/>
            </a:endParaRPr>
          </a:p>
          <a:p>
            <a:pPr>
              <a:lnSpc>
                <a:spcPct val="90000"/>
              </a:lnSpc>
              <a:buFontTx/>
              <a:buNone/>
            </a:pPr>
            <a:r>
              <a:rPr lang="zh-CN" altLang="en-US" sz="2800" b="1" dirty="0">
                <a:latin typeface="黑体" panose="02010609060101010101" pitchFamily="49" charset="-122"/>
                <a:ea typeface="黑体" panose="02010609060101010101" pitchFamily="49" charset="-122"/>
              </a:rPr>
              <a:t>      倡议书的发出贵在引起广泛的响应，只有交代清楚发倡议的原因和目的，人们才会理解和信服，才会自觉的行动。这些因素交代不清就会使人觉得莫名其妙，难以响应。 </a:t>
            </a:r>
            <a:endParaRPr lang="zh-CN" altLang="en-US" sz="2800" b="1" dirty="0">
              <a:latin typeface="黑体" panose="02010609060101010101" pitchFamily="49" charset="-122"/>
              <a:ea typeface="黑体" panose="02010609060101010101" pitchFamily="49" charset="-122"/>
            </a:endParaRPr>
          </a:p>
          <a:p>
            <a:pPr>
              <a:lnSpc>
                <a:spcPct val="90000"/>
              </a:lnSpc>
              <a:buFontTx/>
              <a:buNone/>
            </a:pPr>
            <a:r>
              <a:rPr lang="zh-CN" altLang="en-US" sz="2800" b="1" dirty="0">
                <a:solidFill>
                  <a:srgbClr val="FF0000"/>
                </a:solidFill>
                <a:latin typeface="黑体" panose="02010609060101010101" pitchFamily="49" charset="-122"/>
                <a:ea typeface="黑体" panose="02010609060101010101" pitchFamily="49" charset="-122"/>
              </a:rPr>
              <a:t>      其次，要写明倡议的具体内容和要求 </a:t>
            </a:r>
            <a:endParaRPr lang="zh-CN" altLang="en-US" sz="2800" b="1" dirty="0">
              <a:solidFill>
                <a:srgbClr val="FF0000"/>
              </a:solidFill>
              <a:latin typeface="黑体" panose="02010609060101010101" pitchFamily="49" charset="-122"/>
              <a:ea typeface="黑体" panose="02010609060101010101" pitchFamily="49" charset="-122"/>
            </a:endParaRPr>
          </a:p>
          <a:p>
            <a:pPr>
              <a:lnSpc>
                <a:spcPct val="90000"/>
              </a:lnSpc>
              <a:buFontTx/>
              <a:buNone/>
            </a:pPr>
            <a:r>
              <a:rPr lang="zh-CN" altLang="en-US" sz="2800" b="1" dirty="0">
                <a:latin typeface="黑体" panose="02010609060101010101" pitchFamily="49" charset="-122"/>
                <a:ea typeface="黑体" panose="02010609060101010101" pitchFamily="49" charset="-122"/>
              </a:rPr>
              <a:t>      这是正文的重点部分。倡议的内容一定要具体化。开展什么样的活动，要做哪些事情，具体要求是什么等等均需一一写明。</a:t>
            </a:r>
            <a:r>
              <a:rPr lang="zh-CN" altLang="en-US" sz="2800" b="1" dirty="0">
                <a:solidFill>
                  <a:srgbClr val="FF0000"/>
                </a:solidFill>
                <a:latin typeface="黑体" panose="02010609060101010101" pitchFamily="49" charset="-122"/>
                <a:ea typeface="黑体" panose="02010609060101010101" pitchFamily="49" charset="-122"/>
              </a:rPr>
              <a:t>倡议的具体内容一般是分条开列的，</a:t>
            </a:r>
            <a:r>
              <a:rPr lang="zh-CN" altLang="en-US" sz="2800" b="1" dirty="0">
                <a:latin typeface="黑体" panose="02010609060101010101" pitchFamily="49" charset="-122"/>
                <a:ea typeface="黑体" panose="02010609060101010101" pitchFamily="49" charset="-122"/>
              </a:rPr>
              <a:t>这样写往往清晰明确，一目了然。</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ransition>
    <p:comb/>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descr="未标题-4"/>
          <p:cNvPicPr>
            <a:picLocks noChangeAspect="1" noChangeArrowheads="1"/>
          </p:cNvPicPr>
          <p:nvPr/>
        </p:nvPicPr>
        <p:blipFill>
          <a:blip r:embed="rId1"/>
          <a:srcRect/>
          <a:stretch>
            <a:fillRect/>
          </a:stretch>
        </p:blipFill>
        <p:spPr bwMode="auto">
          <a:xfrm>
            <a:off x="0" y="-38100"/>
            <a:ext cx="12192000" cy="6896100"/>
          </a:xfrm>
          <a:prstGeom prst="rect">
            <a:avLst/>
          </a:prstGeom>
          <a:noFill/>
        </p:spPr>
      </p:pic>
      <p:sp>
        <p:nvSpPr>
          <p:cNvPr id="48131" name="Rectangle 3"/>
          <p:cNvSpPr>
            <a:spLocks noGrp="1" noChangeArrowheads="1"/>
          </p:cNvSpPr>
          <p:nvPr>
            <p:ph type="title"/>
          </p:nvPr>
        </p:nvSpPr>
        <p:spPr>
          <a:xfrm>
            <a:off x="609600" y="274638"/>
            <a:ext cx="10972800" cy="639762"/>
          </a:xfrm>
        </p:spPr>
        <p:txBody>
          <a:bodyPr/>
          <a:lstStyle/>
          <a:p>
            <a:r>
              <a:rPr lang="en-US" altLang="zh-CN" sz="4000" b="1" dirty="0"/>
              <a:t>[</a:t>
            </a:r>
            <a:r>
              <a:rPr lang="zh-CN" altLang="en-US" sz="4000" b="1" dirty="0"/>
              <a:t>格式</a:t>
            </a:r>
            <a:r>
              <a:rPr lang="en-US" altLang="zh-CN" sz="4000" b="1" dirty="0"/>
              <a:t>]</a:t>
            </a:r>
            <a:endParaRPr lang="en-US" altLang="zh-CN" sz="4000" b="1" dirty="0"/>
          </a:p>
        </p:txBody>
      </p:sp>
      <p:sp>
        <p:nvSpPr>
          <p:cNvPr id="48132" name="Rectangle 4"/>
          <p:cNvSpPr>
            <a:spLocks noGrp="1" noChangeArrowheads="1"/>
          </p:cNvSpPr>
          <p:nvPr>
            <p:ph type="body" idx="1"/>
          </p:nvPr>
        </p:nvSpPr>
        <p:spPr>
          <a:xfrm>
            <a:off x="304800" y="1447800"/>
            <a:ext cx="11582400" cy="5257800"/>
          </a:xfrm>
        </p:spPr>
        <p:txBody>
          <a:bodyPr/>
          <a:lstStyle/>
          <a:p>
            <a:pPr>
              <a:buFontTx/>
              <a:buNone/>
            </a:pP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四</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结尾 </a:t>
            </a:r>
            <a:endParaRPr lang="zh-CN" altLang="en-US" sz="2800" b="1" dirty="0">
              <a:latin typeface="黑体" panose="02010609060101010101" pitchFamily="49" charset="-122"/>
              <a:ea typeface="黑体" panose="02010609060101010101" pitchFamily="49" charset="-122"/>
            </a:endParaRPr>
          </a:p>
          <a:p>
            <a:pPr>
              <a:buFontTx/>
              <a:buNone/>
            </a:pPr>
            <a:r>
              <a:rPr lang="zh-CN" altLang="en-US" sz="2800" b="1" dirty="0">
                <a:latin typeface="黑体" panose="02010609060101010101" pitchFamily="49" charset="-122"/>
                <a:ea typeface="黑体" panose="02010609060101010101" pitchFamily="49" charset="-122"/>
              </a:rPr>
              <a:t>    </a:t>
            </a:r>
            <a:r>
              <a:rPr lang="zh-CN" altLang="en-US" sz="2800" b="1" dirty="0" smtClean="0">
                <a:latin typeface="黑体" panose="02010609060101010101" pitchFamily="49" charset="-122"/>
                <a:ea typeface="黑体" panose="02010609060101010101" pitchFamily="49" charset="-122"/>
              </a:rPr>
              <a:t>结尾</a:t>
            </a:r>
            <a:r>
              <a:rPr lang="zh-CN" altLang="en-US" sz="2800" b="1" dirty="0">
                <a:latin typeface="黑体" panose="02010609060101010101" pitchFamily="49" charset="-122"/>
                <a:ea typeface="黑体" panose="02010609060101010101" pitchFamily="49" charset="-122"/>
              </a:rPr>
              <a:t>要用一些富有</a:t>
            </a:r>
            <a:r>
              <a:rPr lang="zh-CN" altLang="en-US" sz="2800" b="1" dirty="0">
                <a:solidFill>
                  <a:srgbClr val="FF0000"/>
                </a:solidFill>
                <a:latin typeface="黑体" panose="02010609060101010101" pitchFamily="49" charset="-122"/>
                <a:ea typeface="黑体" panose="02010609060101010101" pitchFamily="49" charset="-122"/>
              </a:rPr>
              <a:t>鼓动性</a:t>
            </a:r>
            <a:r>
              <a:rPr lang="zh-CN" altLang="en-US" sz="2800" b="1" dirty="0">
                <a:latin typeface="黑体" panose="02010609060101010101" pitchFamily="49" charset="-122"/>
                <a:ea typeface="黑体" panose="02010609060101010101" pitchFamily="49" charset="-122"/>
              </a:rPr>
              <a:t>的语言表示倡议者的决心和希望或者写出某种建议。</a:t>
            </a:r>
            <a:endParaRPr lang="zh-CN" altLang="en-US" sz="2800" b="1" dirty="0">
              <a:latin typeface="黑体" panose="02010609060101010101" pitchFamily="49" charset="-122"/>
              <a:ea typeface="黑体" panose="02010609060101010101" pitchFamily="49" charset="-122"/>
            </a:endParaRPr>
          </a:p>
          <a:p>
            <a:pPr>
              <a:buFontTx/>
              <a:buNone/>
            </a:pPr>
            <a:r>
              <a:rPr lang="zh-CN" altLang="en-US" sz="2800" b="1" dirty="0">
                <a:latin typeface="黑体" panose="02010609060101010101" pitchFamily="49" charset="-122"/>
                <a:ea typeface="黑体" panose="02010609060101010101" pitchFamily="49" charset="-122"/>
              </a:rPr>
              <a:t>    </a:t>
            </a:r>
            <a:r>
              <a:rPr lang="zh-CN" altLang="en-US" sz="2800" b="1" dirty="0" smtClean="0">
                <a:solidFill>
                  <a:srgbClr val="FF0000"/>
                </a:solidFill>
                <a:latin typeface="黑体" panose="02010609060101010101" pitchFamily="49" charset="-122"/>
                <a:ea typeface="黑体" panose="02010609060101010101" pitchFamily="49" charset="-122"/>
              </a:rPr>
              <a:t>倡议书</a:t>
            </a:r>
            <a:r>
              <a:rPr lang="zh-CN" altLang="en-US" sz="2800" b="1" dirty="0">
                <a:solidFill>
                  <a:srgbClr val="FF0000"/>
                </a:solidFill>
                <a:latin typeface="黑体" panose="02010609060101010101" pitchFamily="49" charset="-122"/>
                <a:ea typeface="黑体" panose="02010609060101010101" pitchFamily="49" charset="-122"/>
              </a:rPr>
              <a:t>一般不在结尾写表示敬意或祝愿的话。</a:t>
            </a:r>
            <a:r>
              <a:rPr lang="zh-CN" altLang="en-US" sz="2800" b="1" dirty="0">
                <a:latin typeface="黑体" panose="02010609060101010101" pitchFamily="49" charset="-122"/>
                <a:ea typeface="黑体" panose="02010609060101010101" pitchFamily="49" charset="-122"/>
              </a:rPr>
              <a:t> </a:t>
            </a:r>
            <a:endParaRPr lang="zh-CN" altLang="en-US" sz="2800" b="1" dirty="0">
              <a:latin typeface="黑体" panose="02010609060101010101" pitchFamily="49" charset="-122"/>
              <a:ea typeface="黑体" panose="02010609060101010101" pitchFamily="49" charset="-122"/>
            </a:endParaRPr>
          </a:p>
          <a:p>
            <a:pPr>
              <a:buFontTx/>
              <a:buNone/>
            </a:pP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五</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落款（署名和日期） </a:t>
            </a:r>
            <a:endParaRPr lang="zh-CN" altLang="en-US" sz="2800" b="1" dirty="0">
              <a:latin typeface="黑体" panose="02010609060101010101" pitchFamily="49" charset="-122"/>
              <a:ea typeface="黑体" panose="02010609060101010101" pitchFamily="49" charset="-122"/>
            </a:endParaRPr>
          </a:p>
          <a:p>
            <a:pPr>
              <a:buFontTx/>
              <a:buNone/>
            </a:pPr>
            <a:r>
              <a:rPr lang="zh-CN" altLang="en-US" sz="2800" b="1" dirty="0">
                <a:latin typeface="黑体" panose="02010609060101010101" pitchFamily="49" charset="-122"/>
                <a:ea typeface="黑体" panose="02010609060101010101" pitchFamily="49" charset="-122"/>
              </a:rPr>
              <a:t>    </a:t>
            </a:r>
            <a:r>
              <a:rPr lang="zh-CN" altLang="en-US" sz="2800" b="1" dirty="0" smtClean="0">
                <a:latin typeface="黑体" panose="02010609060101010101" pitchFamily="49" charset="-122"/>
                <a:ea typeface="黑体" panose="02010609060101010101" pitchFamily="49" charset="-122"/>
              </a:rPr>
              <a:t>落款</a:t>
            </a:r>
            <a:r>
              <a:rPr lang="zh-CN" altLang="en-US" sz="2800" b="1" dirty="0">
                <a:latin typeface="黑体" panose="02010609060101010101" pitchFamily="49" charset="-122"/>
                <a:ea typeface="黑体" panose="02010609060101010101" pitchFamily="49" charset="-122"/>
              </a:rPr>
              <a:t>即在右下方写明发倡议的单位、集体或个人的名称，在署名下面另起一行右下方署上发倡议的日期。</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ransition>
    <p:comb/>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descr="未标题-4"/>
          <p:cNvPicPr>
            <a:picLocks noChangeAspect="1" noChangeArrowheads="1"/>
          </p:cNvPicPr>
          <p:nvPr/>
        </p:nvPicPr>
        <p:blipFill>
          <a:blip r:embed="rId1"/>
          <a:srcRect/>
          <a:stretch>
            <a:fillRect/>
          </a:stretch>
        </p:blipFill>
        <p:spPr bwMode="auto">
          <a:xfrm>
            <a:off x="0" y="-38100"/>
            <a:ext cx="12192000" cy="6896100"/>
          </a:xfrm>
          <a:prstGeom prst="rect">
            <a:avLst/>
          </a:prstGeom>
          <a:noFill/>
        </p:spPr>
      </p:pic>
      <p:sp>
        <p:nvSpPr>
          <p:cNvPr id="48132" name="Rectangle 4"/>
          <p:cNvSpPr>
            <a:spLocks noGrp="1" noChangeArrowheads="1"/>
          </p:cNvSpPr>
          <p:nvPr>
            <p:ph type="body" idx="1"/>
          </p:nvPr>
        </p:nvSpPr>
        <p:spPr>
          <a:xfrm>
            <a:off x="463421" y="300134"/>
            <a:ext cx="11582400" cy="5257800"/>
          </a:xfrm>
        </p:spPr>
        <p:txBody>
          <a:bodyPr/>
          <a:lstStyle/>
          <a:p>
            <a:pPr algn="ctr"/>
            <a:r>
              <a:rPr sz="2400" b="1" dirty="0" smtClean="0">
                <a:ea typeface="黑体" panose="02010609060101010101" pitchFamily="49" charset="-122"/>
              </a:rPr>
              <a:t>保护野生动物的倡议书</a:t>
            </a:r>
            <a:endParaRPr sz="2400" b="1" dirty="0" smtClean="0">
              <a:ea typeface="黑体" panose="02010609060101010101" pitchFamily="49" charset="-122"/>
            </a:endParaRPr>
          </a:p>
          <a:p>
            <a:r>
              <a:rPr sz="2000" b="1" dirty="0" smtClean="0">
                <a:latin typeface="宋体" panose="02010600030101010101" pitchFamily="2" charset="-122"/>
              </a:rPr>
              <a:t>全县人民：</a:t>
            </a:r>
            <a:endParaRPr sz="2000" b="1" dirty="0" smtClean="0">
              <a:latin typeface="宋体" panose="02010600030101010101" pitchFamily="2" charset="-122"/>
            </a:endParaRPr>
          </a:p>
          <a:p>
            <a:r>
              <a:rPr sz="2000" b="1" dirty="0" smtClean="0">
                <a:latin typeface="宋体" panose="02010600030101010101" pitchFamily="2" charset="-122"/>
              </a:rPr>
              <a:t>    野生动物是人类的朋友，是自然生态系统的重要组成部分，是大自然赋予人类的宝贵资源。我国是一个野生动物资源丰富的国家，但是，这些年来许多种野生动物濒临灭绝，为了保护野生动物，创造人与动物和谐相处的美好家园，我倡议： </a:t>
            </a:r>
            <a:endParaRPr sz="2000" b="1" dirty="0" smtClean="0">
              <a:latin typeface="宋体" panose="02010600030101010101" pitchFamily="2" charset="-122"/>
            </a:endParaRPr>
          </a:p>
          <a:p>
            <a:r>
              <a:rPr sz="2000" b="1" dirty="0" smtClean="0">
                <a:latin typeface="宋体" panose="02010600030101010101" pitchFamily="2" charset="-122"/>
              </a:rPr>
              <a:t>    </a:t>
            </a:r>
            <a:r>
              <a:rPr lang="en-US" altLang="zh-CN" sz="2000" b="1" dirty="0" smtClean="0">
                <a:latin typeface="宋体" panose="02010600030101010101" pitchFamily="2" charset="-122"/>
              </a:rPr>
              <a:t>1.</a:t>
            </a:r>
            <a:r>
              <a:rPr sz="2000" b="1" dirty="0" smtClean="0">
                <a:latin typeface="宋体" panose="02010600030101010101" pitchFamily="2" charset="-122"/>
              </a:rPr>
              <a:t>关爱野生动物，保护森林。</a:t>
            </a:r>
            <a:endParaRPr sz="2000" b="1" dirty="0" smtClean="0">
              <a:latin typeface="宋体" panose="02010600030101010101" pitchFamily="2" charset="-122"/>
            </a:endParaRPr>
          </a:p>
          <a:p>
            <a:r>
              <a:rPr sz="2000" b="1" dirty="0" smtClean="0">
                <a:latin typeface="宋体" panose="02010600030101010101" pitchFamily="2" charset="-122"/>
              </a:rPr>
              <a:t>    </a:t>
            </a:r>
            <a:r>
              <a:rPr lang="en-US" altLang="zh-CN" sz="2000" b="1" dirty="0" smtClean="0">
                <a:latin typeface="宋体" panose="02010600030101010101" pitchFamily="2" charset="-122"/>
              </a:rPr>
              <a:t>2.</a:t>
            </a:r>
            <a:r>
              <a:rPr sz="2000" b="1" dirty="0" smtClean="0">
                <a:latin typeface="宋体" panose="02010600030101010101" pitchFamily="2" charset="-122"/>
              </a:rPr>
              <a:t>做一名保护野生动物的积极宣传者。</a:t>
            </a:r>
            <a:endParaRPr sz="2000" b="1" dirty="0" smtClean="0">
              <a:latin typeface="宋体" panose="02010600030101010101" pitchFamily="2" charset="-122"/>
            </a:endParaRPr>
          </a:p>
          <a:p>
            <a:r>
              <a:rPr sz="2000" b="1" dirty="0" smtClean="0">
                <a:latin typeface="宋体" panose="02010600030101010101" pitchFamily="2" charset="-122"/>
              </a:rPr>
              <a:t>    </a:t>
            </a:r>
            <a:r>
              <a:rPr lang="en-US" altLang="zh-CN" sz="2000" b="1" dirty="0" smtClean="0">
                <a:latin typeface="宋体" panose="02010600030101010101" pitchFamily="2" charset="-122"/>
              </a:rPr>
              <a:t>3.</a:t>
            </a:r>
            <a:r>
              <a:rPr sz="2000" b="1" dirty="0" smtClean="0">
                <a:latin typeface="宋体" panose="02010600030101010101" pitchFamily="2" charset="-122"/>
              </a:rPr>
              <a:t>提倡不食野生动物。 </a:t>
            </a:r>
            <a:endParaRPr sz="2000" b="1" dirty="0" smtClean="0">
              <a:latin typeface="宋体" panose="02010600030101010101" pitchFamily="2" charset="-122"/>
            </a:endParaRPr>
          </a:p>
          <a:p>
            <a:r>
              <a:rPr sz="2000" b="1" dirty="0" smtClean="0">
                <a:latin typeface="宋体" panose="02010600030101010101" pitchFamily="2" charset="-122"/>
              </a:rPr>
              <a:t>    </a:t>
            </a:r>
            <a:r>
              <a:rPr lang="en-US" altLang="zh-CN" sz="2000" b="1" dirty="0" smtClean="0">
                <a:latin typeface="宋体" panose="02010600030101010101" pitchFamily="2" charset="-122"/>
              </a:rPr>
              <a:t>4.</a:t>
            </a:r>
            <a:r>
              <a:rPr sz="2000" b="1" dirty="0" smtClean="0">
                <a:latin typeface="宋体" panose="02010600030101010101" pitchFamily="2" charset="-122"/>
              </a:rPr>
              <a:t>劝说、阻止伤害野生动物的人和事。</a:t>
            </a:r>
            <a:endParaRPr sz="2000" b="1" dirty="0" smtClean="0">
              <a:latin typeface="宋体" panose="02010600030101010101" pitchFamily="2" charset="-122"/>
            </a:endParaRPr>
          </a:p>
          <a:p>
            <a:r>
              <a:rPr sz="2000" b="1" dirty="0" smtClean="0"/>
              <a:t>       朋友们，让我们大家行动起来，</a:t>
            </a:r>
            <a:r>
              <a:rPr sz="2000" b="1" dirty="0" smtClean="0">
                <a:latin typeface="宋体" panose="02010600030101010101" pitchFamily="2" charset="-122"/>
              </a:rPr>
              <a:t>从我做起，从现在做起，大家共同保护野生动物。</a:t>
            </a:r>
            <a:endParaRPr sz="2000" b="1" dirty="0" smtClean="0">
              <a:latin typeface="宋体" panose="02010600030101010101" pitchFamily="2" charset="-122"/>
            </a:endParaRPr>
          </a:p>
          <a:p>
            <a:r>
              <a:rPr sz="2000" b="1" dirty="0" smtClean="0">
                <a:latin typeface="宋体" panose="02010600030101010101" pitchFamily="2" charset="-122"/>
              </a:rPr>
              <a:t>                                                    倡议人：张伟</a:t>
            </a:r>
            <a:endParaRPr sz="2000" b="1" dirty="0" smtClean="0">
              <a:latin typeface="宋体" panose="02010600030101010101" pitchFamily="2" charset="-122"/>
            </a:endParaRPr>
          </a:p>
          <a:p>
            <a:r>
              <a:rPr sz="2000" b="1" dirty="0" smtClean="0">
                <a:latin typeface="宋体" panose="02010600030101010101" pitchFamily="2" charset="-122"/>
              </a:rPr>
              <a:t>                                                    </a:t>
            </a:r>
            <a:r>
              <a:rPr lang="en-US" altLang="zh-CN" sz="2000" b="1" dirty="0" smtClean="0"/>
              <a:t>2012</a:t>
            </a:r>
            <a:r>
              <a:rPr sz="2000" b="1" dirty="0" smtClean="0"/>
              <a:t>年</a:t>
            </a:r>
            <a:r>
              <a:rPr lang="en-US" altLang="zh-CN" sz="2000" b="1" dirty="0" smtClean="0"/>
              <a:t>5</a:t>
            </a:r>
            <a:r>
              <a:rPr sz="2000" b="1" dirty="0" smtClean="0"/>
              <a:t>月</a:t>
            </a:r>
            <a:r>
              <a:rPr lang="en-US" altLang="zh-CN" sz="2000" b="1" dirty="0" smtClean="0"/>
              <a:t>24</a:t>
            </a:r>
            <a:r>
              <a:rPr sz="1800" b="1" dirty="0" smtClean="0"/>
              <a:t>日 </a:t>
            </a:r>
            <a:endParaRPr sz="2800" b="1" dirty="0" smtClean="0">
              <a:latin typeface="宋体" panose="02010600030101010101" pitchFamily="2" charset="-122"/>
            </a:endParaRPr>
          </a:p>
          <a:p>
            <a:r>
              <a:rPr sz="2800" b="1" dirty="0" smtClean="0">
                <a:solidFill>
                  <a:schemeClr val="bg1"/>
                </a:solidFill>
                <a:latin typeface="黑体" panose="02010609060101010101" pitchFamily="49" charset="-122"/>
                <a:ea typeface="黑体" panose="02010609060101010101" pitchFamily="49" charset="-122"/>
              </a:rPr>
              <a:t>                                                                         </a:t>
            </a:r>
            <a:endParaRPr sz="2800" b="1" dirty="0" smtClean="0">
              <a:solidFill>
                <a:schemeClr val="bg1"/>
              </a:solidFill>
              <a:latin typeface="黑体" panose="02010609060101010101" pitchFamily="49" charset="-122"/>
              <a:ea typeface="黑体" panose="02010609060101010101" pitchFamily="49" charset="-122"/>
            </a:endParaRPr>
          </a:p>
          <a:p>
            <a:pPr>
              <a:buFontTx/>
              <a:buNone/>
            </a:pPr>
            <a:endParaRPr lang="zh-CN" altLang="en-US" sz="2800" b="1" dirty="0">
              <a:latin typeface="黑体" panose="02010609060101010101" pitchFamily="49" charset="-122"/>
              <a:ea typeface="黑体" panose="02010609060101010101" pitchFamily="49" charset="-122"/>
            </a:endParaRPr>
          </a:p>
        </p:txBody>
      </p:sp>
      <p:sp>
        <p:nvSpPr>
          <p:cNvPr id="5" name="标题 4"/>
          <p:cNvSpPr>
            <a:spLocks noGrp="1"/>
          </p:cNvSpPr>
          <p:nvPr>
            <p:ph type="title"/>
          </p:nvPr>
        </p:nvSpPr>
        <p:spPr/>
        <p:txBody>
          <a:bodyPr/>
          <a:lstStyle/>
          <a:p>
            <a:endParaRPr lang="zh-CN" altLang="en-US"/>
          </a:p>
        </p:txBody>
      </p:sp>
    </p:spTree>
  </p:cSld>
  <p:clrMapOvr>
    <a:masterClrMapping/>
  </p:clrMapOvr>
  <p:transition>
    <p:comb/>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descr="未标题-4"/>
          <p:cNvPicPr>
            <a:picLocks noChangeAspect="1" noChangeArrowheads="1"/>
          </p:cNvPicPr>
          <p:nvPr/>
        </p:nvPicPr>
        <p:blipFill>
          <a:blip r:embed="rId1"/>
          <a:srcRect/>
          <a:stretch>
            <a:fillRect/>
          </a:stretch>
        </p:blipFill>
        <p:spPr bwMode="auto">
          <a:xfrm>
            <a:off x="0" y="-38100"/>
            <a:ext cx="12192000" cy="6896100"/>
          </a:xfrm>
          <a:prstGeom prst="rect">
            <a:avLst/>
          </a:prstGeom>
          <a:noFill/>
        </p:spPr>
      </p:pic>
      <p:sp>
        <p:nvSpPr>
          <p:cNvPr id="48131" name="Rectangle 3"/>
          <p:cNvSpPr>
            <a:spLocks noGrp="1" noChangeArrowheads="1"/>
          </p:cNvSpPr>
          <p:nvPr>
            <p:ph type="title"/>
          </p:nvPr>
        </p:nvSpPr>
        <p:spPr>
          <a:xfrm>
            <a:off x="609600" y="274638"/>
            <a:ext cx="10972800" cy="639762"/>
          </a:xfrm>
        </p:spPr>
        <p:txBody>
          <a:bodyPr/>
          <a:lstStyle/>
          <a:p>
            <a:r>
              <a:rPr lang="en-US" altLang="zh-CN" sz="4000" b="1" dirty="0"/>
              <a:t>[</a:t>
            </a:r>
            <a:r>
              <a:rPr lang="zh-CN" altLang="en-US" sz="4000" b="1" dirty="0"/>
              <a:t>格式</a:t>
            </a:r>
            <a:r>
              <a:rPr lang="en-US" altLang="zh-CN" sz="4000" b="1" dirty="0"/>
              <a:t>]</a:t>
            </a:r>
            <a:endParaRPr lang="en-US" altLang="zh-CN" sz="4000" b="1" dirty="0"/>
          </a:p>
        </p:txBody>
      </p:sp>
      <p:sp>
        <p:nvSpPr>
          <p:cNvPr id="48132" name="Rectangle 4"/>
          <p:cNvSpPr>
            <a:spLocks noGrp="1" noChangeArrowheads="1"/>
          </p:cNvSpPr>
          <p:nvPr>
            <p:ph type="body" idx="1"/>
          </p:nvPr>
        </p:nvSpPr>
        <p:spPr>
          <a:xfrm>
            <a:off x="304800" y="1009261"/>
            <a:ext cx="11582400" cy="5257800"/>
          </a:xfrm>
        </p:spPr>
        <p:txBody>
          <a:bodyPr/>
          <a:lstStyle/>
          <a:p>
            <a:pPr algn="ctr"/>
            <a:r>
              <a:rPr sz="3200" b="1" dirty="0" smtClean="0">
                <a:latin typeface="黑体" panose="02010609060101010101" pitchFamily="49" charset="-122"/>
                <a:ea typeface="黑体" panose="02010609060101010101" pitchFamily="49" charset="-122"/>
              </a:rPr>
              <a:t>环保倡议书</a:t>
            </a:r>
            <a:endParaRPr sz="3200" b="1" dirty="0" smtClean="0">
              <a:latin typeface="黑体" panose="02010609060101010101" pitchFamily="49" charset="-122"/>
              <a:ea typeface="黑体" panose="02010609060101010101" pitchFamily="49" charset="-122"/>
            </a:endParaRPr>
          </a:p>
          <a:p>
            <a:r>
              <a:rPr sz="2400" b="1" dirty="0" smtClean="0">
                <a:latin typeface="黑体" panose="02010609060101010101" pitchFamily="49" charset="-122"/>
                <a:ea typeface="黑体" panose="02010609060101010101" pitchFamily="49" charset="-122"/>
              </a:rPr>
              <a:t>亲爱的同学们：</a:t>
            </a:r>
            <a:endParaRPr sz="2400" b="1" dirty="0" smtClean="0">
              <a:latin typeface="黑体" panose="02010609060101010101" pitchFamily="49" charset="-122"/>
              <a:ea typeface="黑体" panose="02010609060101010101" pitchFamily="49" charset="-122"/>
            </a:endParaRPr>
          </a:p>
          <a:p>
            <a:r>
              <a:rPr sz="2400" b="1" dirty="0" smtClean="0">
                <a:latin typeface="黑体" panose="02010609060101010101" pitchFamily="49" charset="-122"/>
                <a:ea typeface="黑体" panose="02010609060101010101" pitchFamily="49" charset="-122"/>
              </a:rPr>
              <a:t>    在新的世纪里，我们渴望美丽的地球，绿色的家园，湛蓝的天空，清新的空气。但是，由于人类的肆意破坏、污染、浪费，使地球变得千疮百孔、遍体鳞伤。现在该是我们吸取教训的时候了，为了地球，为了人类的将来，也为了让我们永远拥有一个美好的生存环境，我真诚地向大家发出如下倡议：  </a:t>
            </a:r>
            <a:endParaRPr sz="2400" b="1" dirty="0" smtClean="0">
              <a:latin typeface="黑体" panose="02010609060101010101" pitchFamily="49" charset="-122"/>
              <a:ea typeface="黑体" panose="02010609060101010101" pitchFamily="49" charset="-122"/>
            </a:endParaRPr>
          </a:p>
          <a:p>
            <a:r>
              <a:rPr sz="2400" b="1" dirty="0" smtClean="0">
                <a:latin typeface="黑体" panose="02010609060101010101" pitchFamily="49" charset="-122"/>
                <a:ea typeface="黑体" panose="02010609060101010101" pitchFamily="49" charset="-122"/>
              </a:rPr>
              <a:t>    一、共同建设“节约型社会”，节约一滴水，节约一度电，节约一张纸</a:t>
            </a:r>
            <a:r>
              <a:rPr lang="en-US" altLang="zh-CN" sz="2400" b="1" dirty="0" smtClean="0">
                <a:latin typeface="黑体" panose="02010609060101010101" pitchFamily="49" charset="-122"/>
                <a:ea typeface="黑体" panose="02010609060101010101" pitchFamily="49" charset="-122"/>
              </a:rPr>
              <a:t>……</a:t>
            </a:r>
            <a:endParaRPr lang="en-US" altLang="zh-CN" sz="2400" b="1" dirty="0" smtClean="0">
              <a:latin typeface="黑体" panose="02010609060101010101" pitchFamily="49" charset="-122"/>
              <a:ea typeface="黑体" panose="02010609060101010101" pitchFamily="49" charset="-122"/>
            </a:endParaRPr>
          </a:p>
          <a:p>
            <a:r>
              <a:rPr lang="en-US" altLang="zh-CN" sz="2400" b="1" dirty="0" smtClean="0">
                <a:latin typeface="黑体" panose="02010609060101010101" pitchFamily="49" charset="-122"/>
                <a:ea typeface="黑体" panose="02010609060101010101" pitchFamily="49" charset="-122"/>
              </a:rPr>
              <a:t>    </a:t>
            </a:r>
            <a:r>
              <a:rPr sz="2400" b="1" dirty="0" smtClean="0">
                <a:latin typeface="黑体" panose="02010609060101010101" pitchFamily="49" charset="-122"/>
                <a:ea typeface="黑体" panose="02010609060101010101" pitchFamily="49" charset="-122"/>
              </a:rPr>
              <a:t>二、为减少空气污染、节约能源，尽量使用公共交通工具、自行车或步行。  </a:t>
            </a:r>
            <a:endParaRPr sz="2400" b="1" dirty="0" smtClean="0">
              <a:latin typeface="黑体" panose="02010609060101010101" pitchFamily="49" charset="-122"/>
              <a:ea typeface="黑体" panose="02010609060101010101" pitchFamily="49" charset="-122"/>
            </a:endParaRPr>
          </a:p>
          <a:p>
            <a:r>
              <a:rPr sz="2800" dirty="0" smtClean="0">
                <a:latin typeface="黑体" panose="02010609060101010101" pitchFamily="49" charset="-122"/>
                <a:ea typeface="黑体" panose="02010609060101010101" pitchFamily="49" charset="-122"/>
              </a:rPr>
              <a:t>    </a:t>
            </a:r>
            <a:endParaRPr sz="2800" dirty="0" smtClean="0">
              <a:latin typeface="黑体" panose="02010609060101010101" pitchFamily="49" charset="-122"/>
              <a:ea typeface="黑体" panose="02010609060101010101" pitchFamily="49" charset="-122"/>
            </a:endParaRPr>
          </a:p>
          <a:p>
            <a:pPr>
              <a:buFontTx/>
              <a:buNone/>
            </a:pP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ransition>
    <p:comb/>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descr="未标题-4"/>
          <p:cNvPicPr>
            <a:picLocks noChangeAspect="1" noChangeArrowheads="1"/>
          </p:cNvPicPr>
          <p:nvPr/>
        </p:nvPicPr>
        <p:blipFill>
          <a:blip r:embed="rId1"/>
          <a:srcRect/>
          <a:stretch>
            <a:fillRect/>
          </a:stretch>
        </p:blipFill>
        <p:spPr bwMode="auto">
          <a:xfrm>
            <a:off x="0" y="-38100"/>
            <a:ext cx="12192000" cy="6896100"/>
          </a:xfrm>
          <a:prstGeom prst="rect">
            <a:avLst/>
          </a:prstGeom>
          <a:noFill/>
        </p:spPr>
      </p:pic>
      <p:sp>
        <p:nvSpPr>
          <p:cNvPr id="48131" name="Rectangle 3"/>
          <p:cNvSpPr>
            <a:spLocks noGrp="1" noChangeArrowheads="1"/>
          </p:cNvSpPr>
          <p:nvPr>
            <p:ph type="title"/>
          </p:nvPr>
        </p:nvSpPr>
        <p:spPr>
          <a:xfrm>
            <a:off x="609600" y="274638"/>
            <a:ext cx="10972800" cy="639762"/>
          </a:xfrm>
        </p:spPr>
        <p:txBody>
          <a:bodyPr/>
          <a:lstStyle/>
          <a:p>
            <a:r>
              <a:rPr lang="en-US" altLang="zh-CN" sz="4000" b="1" dirty="0"/>
              <a:t>[</a:t>
            </a:r>
            <a:r>
              <a:rPr lang="zh-CN" altLang="en-US" sz="4000" b="1" dirty="0"/>
              <a:t>格式</a:t>
            </a:r>
            <a:r>
              <a:rPr lang="en-US" altLang="zh-CN" sz="4000" b="1" dirty="0"/>
              <a:t>]</a:t>
            </a:r>
            <a:endParaRPr lang="en-US" altLang="zh-CN" sz="4000" b="1" dirty="0"/>
          </a:p>
        </p:txBody>
      </p:sp>
      <p:sp>
        <p:nvSpPr>
          <p:cNvPr id="48132" name="Rectangle 4"/>
          <p:cNvSpPr>
            <a:spLocks noGrp="1" noChangeArrowheads="1"/>
          </p:cNvSpPr>
          <p:nvPr>
            <p:ph type="body" idx="1"/>
          </p:nvPr>
        </p:nvSpPr>
        <p:spPr>
          <a:xfrm>
            <a:off x="304800" y="1009261"/>
            <a:ext cx="11582400" cy="5257800"/>
          </a:xfrm>
        </p:spPr>
        <p:txBody>
          <a:bodyPr/>
          <a:lstStyle/>
          <a:p>
            <a:r>
              <a:rPr sz="2800" dirty="0" smtClean="0">
                <a:latin typeface="黑体" panose="02010609060101010101" pitchFamily="49" charset="-122"/>
                <a:ea typeface="黑体" panose="02010609060101010101" pitchFamily="49" charset="-122"/>
              </a:rPr>
              <a:t>  </a:t>
            </a:r>
            <a:r>
              <a:rPr lang="en-US" altLang="zh-CN" sz="2800" dirty="0" smtClean="0">
                <a:latin typeface="黑体" panose="02010609060101010101" pitchFamily="49" charset="-122"/>
                <a:ea typeface="黑体" panose="02010609060101010101" pitchFamily="49" charset="-122"/>
              </a:rPr>
              <a:t> </a:t>
            </a:r>
            <a:r>
              <a:rPr sz="2000" b="1" dirty="0" smtClean="0">
                <a:latin typeface="黑体" panose="02010609060101010101" pitchFamily="49" charset="-122"/>
                <a:ea typeface="黑体" panose="02010609060101010101" pitchFamily="49" charset="-122"/>
              </a:rPr>
              <a:t>三、为保护森林、矿产等自然资源，尽量购买使用再生材料制成的、可多次长期使用的商品；减少使用一次性纸杯、一次性木筷和餐盒等。 </a:t>
            </a:r>
            <a:endParaRPr sz="2000" b="1" dirty="0" smtClean="0">
              <a:latin typeface="黑体" panose="02010609060101010101" pitchFamily="49" charset="-122"/>
              <a:ea typeface="黑体" panose="02010609060101010101" pitchFamily="49" charset="-122"/>
            </a:endParaRPr>
          </a:p>
          <a:p>
            <a:r>
              <a:rPr sz="2000" b="1" dirty="0" smtClean="0">
                <a:latin typeface="黑体" panose="02010609060101010101" pitchFamily="49" charset="-122"/>
                <a:ea typeface="黑体" panose="02010609060101010101" pitchFamily="49" charset="-122"/>
              </a:rPr>
              <a:t>    四、减少使用塑料袋，它是白色污染的元凶。    </a:t>
            </a:r>
            <a:endParaRPr sz="2000" b="1" dirty="0" smtClean="0">
              <a:latin typeface="黑体" panose="02010609060101010101" pitchFamily="49" charset="-122"/>
              <a:ea typeface="黑体" panose="02010609060101010101" pitchFamily="49" charset="-122"/>
            </a:endParaRPr>
          </a:p>
          <a:p>
            <a:r>
              <a:rPr sz="2000" b="1" dirty="0" smtClean="0">
                <a:latin typeface="黑体" panose="02010609060101010101" pitchFamily="49" charset="-122"/>
                <a:ea typeface="黑体" panose="02010609060101010101" pitchFamily="49" charset="-122"/>
              </a:rPr>
              <a:t>    五、加强环保的宣传教育，从小培养环保意识，积极投入到保护环境的活动当中。     </a:t>
            </a:r>
            <a:endParaRPr sz="2000" b="1" dirty="0" smtClean="0">
              <a:latin typeface="黑体" panose="02010609060101010101" pitchFamily="49" charset="-122"/>
              <a:ea typeface="黑体" panose="02010609060101010101" pitchFamily="49" charset="-122"/>
            </a:endParaRPr>
          </a:p>
          <a:p>
            <a:r>
              <a:rPr sz="2000" b="1" dirty="0" smtClean="0">
                <a:latin typeface="黑体" panose="02010609060101010101" pitchFamily="49" charset="-122"/>
                <a:ea typeface="黑体" panose="02010609060101010101" pitchFamily="49" charset="-122"/>
              </a:rPr>
              <a:t>    六、自觉保护生态环境，积极参与绿化美化活动。  </a:t>
            </a:r>
            <a:endParaRPr sz="2000" b="1" dirty="0" smtClean="0">
              <a:latin typeface="黑体" panose="02010609060101010101" pitchFamily="49" charset="-122"/>
              <a:ea typeface="黑体" panose="02010609060101010101" pitchFamily="49" charset="-122"/>
            </a:endParaRPr>
          </a:p>
          <a:p>
            <a:r>
              <a:rPr sz="2000" b="1" dirty="0" smtClean="0">
                <a:latin typeface="黑体" panose="02010609060101010101" pitchFamily="49" charset="-122"/>
                <a:ea typeface="黑体" panose="02010609060101010101" pitchFamily="49" charset="-122"/>
              </a:rPr>
              <a:t>    地球只有一个，她的生命是脆弱的。请记住，保护地球，就是保护我们自己！</a:t>
            </a:r>
            <a:r>
              <a:rPr sz="2000" b="1" dirty="0" smtClean="0">
                <a:solidFill>
                  <a:srgbClr val="800000"/>
                </a:solidFill>
                <a:latin typeface="黑体" panose="02010609060101010101" pitchFamily="49" charset="-122"/>
                <a:ea typeface="黑体" panose="02010609060101010101" pitchFamily="49" charset="-122"/>
              </a:rPr>
              <a:t> </a:t>
            </a:r>
            <a:endParaRPr sz="2000" b="1" dirty="0" smtClean="0">
              <a:solidFill>
                <a:srgbClr val="800000"/>
              </a:solidFill>
              <a:latin typeface="黑体" panose="02010609060101010101" pitchFamily="49" charset="-122"/>
              <a:ea typeface="黑体" panose="02010609060101010101" pitchFamily="49" charset="-122"/>
            </a:endParaRPr>
          </a:p>
          <a:p>
            <a:pPr algn="r"/>
            <a:r>
              <a:rPr sz="2000" b="1" dirty="0" smtClean="0">
                <a:latin typeface="黑体" panose="02010609060101010101" pitchFamily="49" charset="-122"/>
                <a:ea typeface="黑体" panose="02010609060101010101" pitchFamily="49" charset="-122"/>
              </a:rPr>
              <a:t>连云港大港中等专业学校</a:t>
            </a:r>
            <a:endParaRPr sz="2000" b="1" dirty="0" smtClean="0">
              <a:latin typeface="黑体" panose="02010609060101010101" pitchFamily="49" charset="-122"/>
              <a:ea typeface="黑体" panose="02010609060101010101" pitchFamily="49" charset="-122"/>
            </a:endParaRPr>
          </a:p>
          <a:p>
            <a:pPr algn="r"/>
            <a:r>
              <a:rPr lang="en-US" altLang="zh-CN" sz="2000" b="1" dirty="0" smtClean="0">
                <a:latin typeface="黑体" panose="02010609060101010101" pitchFamily="49" charset="-122"/>
                <a:ea typeface="黑体" panose="02010609060101010101" pitchFamily="49" charset="-122"/>
              </a:rPr>
              <a:t>xx</a:t>
            </a:r>
            <a:r>
              <a:rPr sz="2000" b="1" dirty="0" smtClean="0">
                <a:latin typeface="黑体" panose="02010609060101010101" pitchFamily="49" charset="-122"/>
                <a:ea typeface="黑体" panose="02010609060101010101" pitchFamily="49" charset="-122"/>
              </a:rPr>
              <a:t>班全体同学</a:t>
            </a:r>
            <a:endParaRPr sz="2000" b="1" dirty="0" smtClean="0">
              <a:latin typeface="黑体" panose="02010609060101010101" pitchFamily="49" charset="-122"/>
              <a:ea typeface="黑体" panose="02010609060101010101" pitchFamily="49" charset="-122"/>
            </a:endParaRPr>
          </a:p>
          <a:p>
            <a:pPr algn="r"/>
            <a:r>
              <a:rPr lang="en-US" altLang="zh-CN" sz="2000" b="1" dirty="0" smtClean="0">
                <a:latin typeface="黑体" panose="02010609060101010101" pitchFamily="49" charset="-122"/>
                <a:ea typeface="黑体" panose="02010609060101010101" pitchFamily="49" charset="-122"/>
              </a:rPr>
              <a:t>x</a:t>
            </a:r>
            <a:r>
              <a:rPr sz="2000" b="1" dirty="0" smtClean="0">
                <a:latin typeface="黑体" panose="02010609060101010101" pitchFamily="49" charset="-122"/>
                <a:ea typeface="黑体" panose="02010609060101010101" pitchFamily="49" charset="-122"/>
              </a:rPr>
              <a:t>年</a:t>
            </a:r>
            <a:r>
              <a:rPr lang="en-US" altLang="zh-CN" sz="2000" b="1" dirty="0" smtClean="0">
                <a:latin typeface="黑体" panose="02010609060101010101" pitchFamily="49" charset="-122"/>
                <a:ea typeface="黑体" panose="02010609060101010101" pitchFamily="49" charset="-122"/>
              </a:rPr>
              <a:t>x</a:t>
            </a:r>
            <a:r>
              <a:rPr sz="2000" b="1" dirty="0" smtClean="0">
                <a:latin typeface="黑体" panose="02010609060101010101" pitchFamily="49" charset="-122"/>
                <a:ea typeface="黑体" panose="02010609060101010101" pitchFamily="49" charset="-122"/>
              </a:rPr>
              <a:t>月</a:t>
            </a:r>
            <a:r>
              <a:rPr lang="en-US" altLang="zh-CN" sz="2000" b="1" dirty="0" smtClean="0">
                <a:latin typeface="黑体" panose="02010609060101010101" pitchFamily="49" charset="-122"/>
                <a:ea typeface="黑体" panose="02010609060101010101" pitchFamily="49" charset="-122"/>
              </a:rPr>
              <a:t>x</a:t>
            </a:r>
            <a:r>
              <a:rPr sz="2000" b="1" dirty="0" smtClean="0">
                <a:latin typeface="黑体" panose="02010609060101010101" pitchFamily="49" charset="-122"/>
                <a:ea typeface="黑体" panose="02010609060101010101" pitchFamily="49" charset="-122"/>
              </a:rPr>
              <a:t>日</a:t>
            </a:r>
            <a:endParaRPr sz="2000" b="1" dirty="0" smtClean="0">
              <a:latin typeface="黑体" panose="02010609060101010101" pitchFamily="49" charset="-122"/>
              <a:ea typeface="黑体" panose="02010609060101010101" pitchFamily="49" charset="-122"/>
            </a:endParaRPr>
          </a:p>
          <a:p>
            <a:endParaRPr sz="2000" dirty="0" smtClean="0">
              <a:latin typeface="黑体" panose="02010609060101010101" pitchFamily="49" charset="-122"/>
              <a:ea typeface="黑体" panose="02010609060101010101" pitchFamily="49" charset="-122"/>
            </a:endParaRPr>
          </a:p>
          <a:p>
            <a:r>
              <a:rPr sz="2000" dirty="0" smtClean="0">
                <a:latin typeface="黑体" panose="02010609060101010101" pitchFamily="49" charset="-122"/>
                <a:ea typeface="黑体" panose="02010609060101010101" pitchFamily="49" charset="-122"/>
              </a:rPr>
              <a:t>    </a:t>
            </a:r>
            <a:r>
              <a:rPr sz="2000" dirty="0" smtClean="0">
                <a:latin typeface="黑体" panose="02010609060101010101" pitchFamily="49" charset="-122"/>
                <a:ea typeface="黑体" panose="02010609060101010101" pitchFamily="49" charset="-122"/>
              </a:rPr>
              <a:t>  </a:t>
            </a:r>
            <a:endParaRPr sz="2000" dirty="0" smtClean="0">
              <a:latin typeface="黑体" panose="02010609060101010101" pitchFamily="49" charset="-122"/>
              <a:ea typeface="黑体" panose="02010609060101010101" pitchFamily="49" charset="-122"/>
            </a:endParaRPr>
          </a:p>
          <a:p>
            <a:pPr>
              <a:buFontTx/>
              <a:buNone/>
            </a:pPr>
            <a:endParaRPr lang="zh-CN" altLang="en-US" sz="2000" b="1" dirty="0">
              <a:latin typeface="黑体" panose="02010609060101010101" pitchFamily="49" charset="-122"/>
              <a:ea typeface="黑体" panose="02010609060101010101" pitchFamily="49" charset="-122"/>
            </a:endParaRPr>
          </a:p>
        </p:txBody>
      </p:sp>
    </p:spTree>
  </p:cSld>
  <p:clrMapOvr>
    <a:masterClrMapping/>
  </p:clrMapOvr>
  <p:transition>
    <p:comb/>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239184" y="0"/>
            <a:ext cx="11952816" cy="457200"/>
          </a:xfrm>
          <a:solidFill>
            <a:schemeClr val="bg1"/>
          </a:solidFill>
        </p:spPr>
        <p:txBody>
          <a:bodyPr/>
          <a:lstStyle/>
          <a:p>
            <a:r>
              <a:rPr lang="zh-CN" altLang="en-US" sz="2800" b="1">
                <a:solidFill>
                  <a:srgbClr val="FF0000"/>
                </a:solidFill>
              </a:rPr>
              <a:t>这份倡议书，在格式上有几处错误，请指出来</a:t>
            </a:r>
            <a:endParaRPr lang="zh-CN" altLang="en-US" sz="2800" b="1">
              <a:solidFill>
                <a:srgbClr val="FF0000"/>
              </a:solidFill>
            </a:endParaRPr>
          </a:p>
        </p:txBody>
      </p:sp>
      <p:sp>
        <p:nvSpPr>
          <p:cNvPr id="57347" name="Text Box 3"/>
          <p:cNvSpPr txBox="1">
            <a:spLocks noChangeArrowheads="1"/>
          </p:cNvSpPr>
          <p:nvPr/>
        </p:nvSpPr>
        <p:spPr bwMode="auto">
          <a:xfrm>
            <a:off x="240394" y="942390"/>
            <a:ext cx="11114960" cy="5262979"/>
          </a:xfrm>
          <a:prstGeom prst="rect">
            <a:avLst/>
          </a:prstGeom>
          <a:noFill/>
          <a:ln w="7938">
            <a:noFill/>
            <a:miter lim="800000"/>
          </a:ln>
          <a:effectLst/>
        </p:spPr>
        <p:txBody>
          <a:bodyPr wrap="square">
            <a:spAutoFit/>
          </a:bodyPr>
          <a:lstStyle/>
          <a:p>
            <a:pPr latinLnBrk="1"/>
            <a:r>
              <a:rPr kumimoji="1" lang="en-US" altLang="zh-CN" sz="2800" b="1" dirty="0">
                <a:latin typeface="Gulim" panose="020B0600000101010101" pitchFamily="34" charset="-127"/>
              </a:rPr>
              <a:t>     </a:t>
            </a:r>
            <a:r>
              <a:rPr kumimoji="1" lang="zh-CN" altLang="en-US" sz="2400" b="1" dirty="0" smtClean="0">
                <a:latin typeface="华文楷体" pitchFamily="2" charset="-122"/>
                <a:ea typeface="华文楷体" pitchFamily="2" charset="-122"/>
              </a:rPr>
              <a:t>鸟</a:t>
            </a:r>
            <a:r>
              <a:rPr kumimoji="1" lang="zh-CN" altLang="en-US" sz="2400" b="1" dirty="0">
                <a:latin typeface="华文楷体" pitchFamily="2" charset="-122"/>
                <a:ea typeface="华文楷体" pitchFamily="2" charset="-122"/>
              </a:rPr>
              <a:t>是人类的好朋友。在我国辽阔的土地上，有一支庞大的义务灭虫队伍，这就是常年守卫在森林、果园和田野之中的食虫鸟类。它们为捕捉各种害虫而奔波，是一些称职的“天兵天将”，为保护庄稼和森林作出了很大的贡献。</a:t>
            </a:r>
            <a:endParaRPr kumimoji="1" lang="zh-CN" altLang="en-US" sz="2400" b="1" dirty="0">
              <a:latin typeface="华文楷体" pitchFamily="2" charset="-122"/>
              <a:ea typeface="华文楷体" pitchFamily="2" charset="-122"/>
            </a:endParaRPr>
          </a:p>
          <a:p>
            <a:pPr latinLnBrk="1"/>
            <a:r>
              <a:rPr kumimoji="1" lang="zh-CN" altLang="en-US" sz="2400" b="1" dirty="0">
                <a:latin typeface="华文楷体" pitchFamily="2" charset="-122"/>
                <a:ea typeface="华文楷体" pitchFamily="2" charset="-122"/>
              </a:rPr>
              <a:t>    目前，春回大地，正是百鸟做窝的季节。喜鹊、燕子和山雀等许多鸟都要在树上或屋檐下做窝、下蛋、孵小鸟。我们向全县小朋友发出以下倡议：</a:t>
            </a:r>
            <a:endParaRPr kumimoji="1" lang="zh-CN" altLang="en-US" sz="2400" b="1" dirty="0">
              <a:latin typeface="华文楷体" pitchFamily="2" charset="-122"/>
              <a:ea typeface="华文楷体" pitchFamily="2" charset="-122"/>
            </a:endParaRPr>
          </a:p>
          <a:p>
            <a:pPr latinLnBrk="1"/>
            <a:r>
              <a:rPr kumimoji="1" lang="en-US" altLang="zh-CN" sz="2400" b="1" dirty="0">
                <a:latin typeface="华文楷体" pitchFamily="2" charset="-122"/>
                <a:ea typeface="华文楷体" pitchFamily="2" charset="-122"/>
              </a:rPr>
              <a:t>1</a:t>
            </a:r>
            <a:r>
              <a:rPr kumimoji="1" lang="zh-CN" altLang="en-US" sz="2400" b="1" dirty="0">
                <a:latin typeface="华文楷体" pitchFamily="2" charset="-122"/>
                <a:ea typeface="华文楷体" pitchFamily="2" charset="-122"/>
              </a:rPr>
              <a:t>、不掏鸟窝，不摸鸟蛋，不捕捉益鸟。</a:t>
            </a:r>
            <a:endParaRPr kumimoji="1" lang="zh-CN" altLang="en-US" sz="2400" b="1" dirty="0">
              <a:latin typeface="华文楷体" pitchFamily="2" charset="-122"/>
              <a:ea typeface="华文楷体" pitchFamily="2" charset="-122"/>
            </a:endParaRPr>
          </a:p>
          <a:p>
            <a:pPr latinLnBrk="1"/>
            <a:r>
              <a:rPr kumimoji="1" lang="en-US" altLang="zh-CN" sz="2400" b="1" dirty="0">
                <a:latin typeface="华文楷体" pitchFamily="2" charset="-122"/>
                <a:ea typeface="华文楷体" pitchFamily="2" charset="-122"/>
              </a:rPr>
              <a:t>2</a:t>
            </a:r>
            <a:r>
              <a:rPr kumimoji="1" lang="zh-CN" altLang="en-US" sz="2400" b="1" dirty="0">
                <a:latin typeface="华文楷体" pitchFamily="2" charset="-122"/>
                <a:ea typeface="华文楷体" pitchFamily="2" charset="-122"/>
              </a:rPr>
              <a:t>、多栽树，多种草，为鸟类创造生活繁殖的良好环境。</a:t>
            </a:r>
            <a:endParaRPr kumimoji="1" lang="zh-CN" altLang="en-US" sz="2400" b="1" dirty="0">
              <a:latin typeface="华文楷体" pitchFamily="2" charset="-122"/>
              <a:ea typeface="华文楷体" pitchFamily="2" charset="-122"/>
            </a:endParaRPr>
          </a:p>
          <a:p>
            <a:pPr latinLnBrk="1"/>
            <a:r>
              <a:rPr kumimoji="1" lang="en-US" altLang="zh-CN" sz="2400" b="1" dirty="0">
                <a:latin typeface="华文楷体" pitchFamily="2" charset="-122"/>
                <a:ea typeface="华文楷体" pitchFamily="2" charset="-122"/>
              </a:rPr>
              <a:t>3</a:t>
            </a:r>
            <a:r>
              <a:rPr kumimoji="1" lang="zh-CN" altLang="en-US" sz="2400" b="1" dirty="0">
                <a:latin typeface="华文楷体" pitchFamily="2" charset="-122"/>
                <a:ea typeface="华文楷体" pitchFamily="2" charset="-122"/>
              </a:rPr>
              <a:t>、向人们宣传保护益鸟的重要意义。</a:t>
            </a:r>
            <a:endParaRPr kumimoji="1" lang="zh-CN" altLang="en-US" sz="2400" b="1" dirty="0">
              <a:latin typeface="华文楷体" pitchFamily="2" charset="-122"/>
              <a:ea typeface="华文楷体" pitchFamily="2" charset="-122"/>
            </a:endParaRPr>
          </a:p>
          <a:p>
            <a:pPr latinLnBrk="1"/>
            <a:r>
              <a:rPr kumimoji="1" lang="en-US" altLang="zh-CN" sz="2400" b="1" dirty="0">
                <a:latin typeface="华文楷体" pitchFamily="2" charset="-122"/>
                <a:ea typeface="华文楷体" pitchFamily="2" charset="-122"/>
              </a:rPr>
              <a:t>4</a:t>
            </a:r>
            <a:r>
              <a:rPr kumimoji="1" lang="zh-CN" altLang="en-US" sz="2400" b="1" dirty="0">
                <a:latin typeface="华文楷体" pitchFamily="2" charset="-122"/>
                <a:ea typeface="华文楷体" pitchFamily="2" charset="-122"/>
              </a:rPr>
              <a:t>、认真观察和研究鸟类的生活习性，学习保护益鸟的知识。</a:t>
            </a:r>
            <a:endParaRPr kumimoji="1" lang="zh-CN" altLang="en-US" sz="2400" b="1" dirty="0">
              <a:latin typeface="华文楷体" pitchFamily="2" charset="-122"/>
              <a:ea typeface="华文楷体" pitchFamily="2" charset="-122"/>
            </a:endParaRPr>
          </a:p>
          <a:p>
            <a:pPr latinLnBrk="1"/>
            <a:r>
              <a:rPr kumimoji="1" lang="zh-CN" altLang="en-US" sz="2400" b="1" dirty="0">
                <a:latin typeface="华文楷体" pitchFamily="2" charset="-122"/>
                <a:ea typeface="华文楷体" pitchFamily="2" charset="-122"/>
              </a:rPr>
              <a:t>    少年朋友们！让我们立即行动起来，保护益鸟，为四化建设出力！</a:t>
            </a:r>
            <a:endParaRPr kumimoji="1" lang="zh-CN" altLang="en-US" sz="2400" b="1" dirty="0">
              <a:latin typeface="华文楷体" pitchFamily="2" charset="-122"/>
              <a:ea typeface="华文楷体" pitchFamily="2" charset="-122"/>
            </a:endParaRPr>
          </a:p>
          <a:p>
            <a:pPr latinLnBrk="1"/>
            <a:r>
              <a:rPr kumimoji="1" lang="zh-CN" altLang="en-US" sz="2400" b="1" dirty="0">
                <a:latin typeface="华文楷体" pitchFamily="2" charset="-122"/>
                <a:ea typeface="华文楷体" pitchFamily="2" charset="-122"/>
              </a:rPr>
              <a:t>    此致</a:t>
            </a:r>
            <a:endParaRPr kumimoji="1" lang="zh-CN" altLang="en-US" sz="2400" b="1" dirty="0">
              <a:latin typeface="华文楷体" pitchFamily="2" charset="-122"/>
              <a:ea typeface="华文楷体" pitchFamily="2" charset="-122"/>
            </a:endParaRPr>
          </a:p>
          <a:p>
            <a:pPr latinLnBrk="1"/>
            <a:r>
              <a:rPr kumimoji="1" lang="zh-CN" altLang="en-US" sz="2400" b="1" dirty="0">
                <a:latin typeface="华文楷体" pitchFamily="2" charset="-122"/>
                <a:ea typeface="华文楷体" pitchFamily="2" charset="-122"/>
              </a:rPr>
              <a:t>敬礼</a:t>
            </a:r>
            <a:endParaRPr kumimoji="1" lang="zh-CN" altLang="en-US" sz="2400" b="1" dirty="0">
              <a:latin typeface="华文楷体" pitchFamily="2" charset="-122"/>
              <a:ea typeface="华文楷体" pitchFamily="2" charset="-122"/>
            </a:endParaRPr>
          </a:p>
          <a:p>
            <a:pPr algn="r" latinLnBrk="1"/>
            <a:r>
              <a:rPr kumimoji="1" lang="en-US" altLang="zh-CN" sz="2400" b="1" dirty="0">
                <a:latin typeface="华文楷体" pitchFamily="2" charset="-122"/>
                <a:ea typeface="华文楷体" pitchFamily="2" charset="-122"/>
              </a:rPr>
              <a:t>××</a:t>
            </a:r>
            <a:r>
              <a:rPr kumimoji="1" lang="zh-CN" altLang="en-US" sz="2400" b="1" dirty="0">
                <a:latin typeface="华文楷体" pitchFamily="2" charset="-122"/>
                <a:ea typeface="华文楷体" pitchFamily="2" charset="-122"/>
              </a:rPr>
              <a:t>县</a:t>
            </a:r>
            <a:r>
              <a:rPr kumimoji="1" lang="en-US" altLang="zh-CN" sz="2400" b="1" dirty="0">
                <a:latin typeface="华文楷体" pitchFamily="2" charset="-122"/>
                <a:ea typeface="华文楷体" pitchFamily="2" charset="-122"/>
              </a:rPr>
              <a:t>××</a:t>
            </a:r>
            <a:r>
              <a:rPr kumimoji="1" lang="zh-CN" altLang="en-US" sz="2400" b="1" dirty="0">
                <a:latin typeface="华文楷体" pitchFamily="2" charset="-122"/>
                <a:ea typeface="华文楷体" pitchFamily="2" charset="-122"/>
              </a:rPr>
              <a:t>中学</a:t>
            </a:r>
            <a:endParaRPr kumimoji="1" lang="zh-CN" altLang="en-US" sz="2400" b="1" dirty="0">
              <a:latin typeface="华文楷体" pitchFamily="2" charset="-122"/>
              <a:ea typeface="华文楷体" pitchFamily="2" charset="-122"/>
            </a:endParaRPr>
          </a:p>
          <a:p>
            <a:pPr algn="r" latinLnBrk="1"/>
            <a:r>
              <a:rPr kumimoji="1" lang="zh-CN" altLang="en-US" b="1" dirty="0">
                <a:latin typeface="华文楷体" pitchFamily="2" charset="-122"/>
                <a:ea typeface="华文楷体" pitchFamily="2" charset="-122"/>
              </a:rPr>
              <a:t>    初三年级全体同学</a:t>
            </a:r>
            <a:endParaRPr kumimoji="1" lang="zh-CN" altLang="en-US" b="1" dirty="0">
              <a:latin typeface="华文楷体" pitchFamily="2" charset="-122"/>
              <a:ea typeface="华文楷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7347"/>
                                        </p:tgtEl>
                                        <p:attrNameLst>
                                          <p:attrName>style.visibility</p:attrName>
                                        </p:attrNameLst>
                                      </p:cBhvr>
                                      <p:to>
                                        <p:strVal val="visible"/>
                                      </p:to>
                                    </p:set>
                                    <p:animEffect transition="in" filter="box(in)">
                                      <p:cBhvr>
                                        <p:cTn id="7" dur="500"/>
                                        <p:tgtEl>
                                          <p:spTgt spid="57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39184" y="0"/>
            <a:ext cx="11952816" cy="914400"/>
          </a:xfrm>
          <a:solidFill>
            <a:schemeClr val="bg1"/>
          </a:solidFill>
        </p:spPr>
        <p:txBody>
          <a:bodyPr/>
          <a:lstStyle/>
          <a:p>
            <a:endParaRPr lang="zh-CN" altLang="zh-CN" sz="2800" b="1"/>
          </a:p>
        </p:txBody>
      </p:sp>
      <p:sp>
        <p:nvSpPr>
          <p:cNvPr id="58372" name="Text Box 4"/>
          <p:cNvSpPr txBox="1">
            <a:spLocks noChangeArrowheads="1"/>
          </p:cNvSpPr>
          <p:nvPr/>
        </p:nvSpPr>
        <p:spPr bwMode="auto">
          <a:xfrm>
            <a:off x="711200" y="1219201"/>
            <a:ext cx="10464800" cy="4238625"/>
          </a:xfrm>
          <a:prstGeom prst="rect">
            <a:avLst/>
          </a:prstGeom>
          <a:solidFill>
            <a:schemeClr val="bg1"/>
          </a:solidFill>
          <a:ln w="7938">
            <a:noFill/>
            <a:miter lim="800000"/>
          </a:ln>
          <a:effectLst/>
        </p:spPr>
        <p:txBody>
          <a:bodyPr>
            <a:spAutoFit/>
          </a:bodyPr>
          <a:lstStyle/>
          <a:p>
            <a:pPr latinLnBrk="1">
              <a:spcBef>
                <a:spcPct val="50000"/>
              </a:spcBef>
            </a:pPr>
            <a:r>
              <a:rPr kumimoji="1" lang="zh-CN" altLang="en-US" sz="3200" b="1">
                <a:solidFill>
                  <a:srgbClr val="FF0000"/>
                </a:solidFill>
                <a:latin typeface="Gulim" panose="020B0600000101010101" pitchFamily="34" charset="-127"/>
              </a:rPr>
              <a:t>五处错误是：</a:t>
            </a:r>
            <a:endParaRPr kumimoji="1" lang="zh-CN" altLang="en-US" sz="3200" b="1">
              <a:solidFill>
                <a:srgbClr val="FF0000"/>
              </a:solidFill>
              <a:latin typeface="Gulim" panose="020B0600000101010101" pitchFamily="34" charset="-127"/>
            </a:endParaRPr>
          </a:p>
          <a:p>
            <a:pPr latinLnBrk="1">
              <a:spcBef>
                <a:spcPct val="50000"/>
              </a:spcBef>
            </a:pPr>
            <a:r>
              <a:rPr kumimoji="1" lang="zh-CN" altLang="en-US" sz="3200" b="1">
                <a:solidFill>
                  <a:srgbClr val="FF0000"/>
                </a:solidFill>
                <a:latin typeface="Gulim" panose="020B0600000101010101" pitchFamily="34" charset="-127"/>
              </a:rPr>
              <a:t>（</a:t>
            </a:r>
            <a:r>
              <a:rPr kumimoji="1" lang="en-US" altLang="zh-CN" sz="3200" b="1">
                <a:solidFill>
                  <a:srgbClr val="FF0000"/>
                </a:solidFill>
                <a:latin typeface="Gulim" panose="020B0600000101010101" pitchFamily="34" charset="-127"/>
              </a:rPr>
              <a:t>1</a:t>
            </a:r>
            <a:r>
              <a:rPr kumimoji="1" lang="zh-CN" altLang="en-US" sz="3200" b="1">
                <a:solidFill>
                  <a:srgbClr val="FF0000"/>
                </a:solidFill>
                <a:latin typeface="Gulim" panose="020B0600000101010101" pitchFamily="34" charset="-127"/>
              </a:rPr>
              <a:t>）缺标题；</a:t>
            </a:r>
            <a:endParaRPr kumimoji="1" lang="zh-CN" altLang="en-US" sz="3200" b="1">
              <a:solidFill>
                <a:srgbClr val="FF0000"/>
              </a:solidFill>
              <a:latin typeface="Gulim" panose="020B0600000101010101" pitchFamily="34" charset="-127"/>
            </a:endParaRPr>
          </a:p>
          <a:p>
            <a:pPr latinLnBrk="1">
              <a:spcBef>
                <a:spcPct val="50000"/>
              </a:spcBef>
            </a:pPr>
            <a:r>
              <a:rPr kumimoji="1" lang="zh-CN" altLang="en-US" sz="3200" b="1">
                <a:solidFill>
                  <a:srgbClr val="FF0000"/>
                </a:solidFill>
                <a:latin typeface="Gulim" panose="020B0600000101010101" pitchFamily="34" charset="-127"/>
              </a:rPr>
              <a:t>（</a:t>
            </a:r>
            <a:r>
              <a:rPr kumimoji="1" lang="en-US" altLang="zh-CN" sz="3200" b="1">
                <a:solidFill>
                  <a:srgbClr val="FF0000"/>
                </a:solidFill>
                <a:latin typeface="Gulim" panose="020B0600000101010101" pitchFamily="34" charset="-127"/>
              </a:rPr>
              <a:t>2</a:t>
            </a:r>
            <a:r>
              <a:rPr kumimoji="1" lang="zh-CN" altLang="en-US" sz="3200" b="1">
                <a:solidFill>
                  <a:srgbClr val="FF0000"/>
                </a:solidFill>
                <a:latin typeface="Gulim" panose="020B0600000101010101" pitchFamily="34" charset="-127"/>
              </a:rPr>
              <a:t>）缺有关</a:t>
            </a:r>
            <a:r>
              <a:rPr kumimoji="1" lang="zh-CN" altLang="en-US" sz="3200" b="1">
                <a:solidFill>
                  <a:srgbClr val="FF0000"/>
                </a:solidFill>
                <a:latin typeface="Times New Roman" panose="02020603050405020304"/>
              </a:rPr>
              <a:t>“</a:t>
            </a:r>
            <a:r>
              <a:rPr kumimoji="1" lang="zh-CN" altLang="en-US" sz="3200" b="1">
                <a:solidFill>
                  <a:srgbClr val="FF0000"/>
                </a:solidFill>
                <a:latin typeface="Gulim" panose="020B0600000101010101" pitchFamily="34" charset="-127"/>
              </a:rPr>
              <a:t>目的</a:t>
            </a:r>
            <a:r>
              <a:rPr kumimoji="1" lang="zh-CN" altLang="en-US" sz="3200" b="1">
                <a:solidFill>
                  <a:srgbClr val="FF0000"/>
                </a:solidFill>
                <a:latin typeface="Times New Roman" panose="02020603050405020304"/>
              </a:rPr>
              <a:t>”</a:t>
            </a:r>
            <a:r>
              <a:rPr kumimoji="1" lang="zh-CN" altLang="en-US" sz="3200" b="1">
                <a:solidFill>
                  <a:srgbClr val="FF0000"/>
                </a:solidFill>
                <a:latin typeface="Gulim" panose="020B0600000101010101" pitchFamily="34" charset="-127"/>
              </a:rPr>
              <a:t>的内容；</a:t>
            </a:r>
            <a:endParaRPr kumimoji="1" lang="zh-CN" altLang="en-US" sz="3200" b="1">
              <a:solidFill>
                <a:srgbClr val="FF0000"/>
              </a:solidFill>
              <a:latin typeface="Gulim" panose="020B0600000101010101" pitchFamily="34" charset="-127"/>
            </a:endParaRPr>
          </a:p>
          <a:p>
            <a:pPr latinLnBrk="1">
              <a:spcBef>
                <a:spcPct val="50000"/>
              </a:spcBef>
            </a:pPr>
            <a:r>
              <a:rPr kumimoji="1" lang="zh-CN" altLang="en-US" sz="3200" b="1">
                <a:solidFill>
                  <a:srgbClr val="FF0000"/>
                </a:solidFill>
                <a:latin typeface="Gulim" panose="020B0600000101010101" pitchFamily="34" charset="-127"/>
              </a:rPr>
              <a:t>（</a:t>
            </a:r>
            <a:r>
              <a:rPr kumimoji="1" lang="en-US" altLang="zh-CN" sz="3200" b="1">
                <a:solidFill>
                  <a:srgbClr val="FF0000"/>
                </a:solidFill>
                <a:latin typeface="Gulim" panose="020B0600000101010101" pitchFamily="34" charset="-127"/>
              </a:rPr>
              <a:t>3</a:t>
            </a:r>
            <a:r>
              <a:rPr kumimoji="1" lang="zh-CN" altLang="en-US" sz="3200" b="1">
                <a:solidFill>
                  <a:srgbClr val="FF0000"/>
                </a:solidFill>
                <a:latin typeface="Gulim" panose="020B0600000101010101" pitchFamily="34" charset="-127"/>
              </a:rPr>
              <a:t>）分条列出的倡议内容前面要空两格；</a:t>
            </a:r>
            <a:endParaRPr kumimoji="1" lang="zh-CN" altLang="en-US" sz="3200" b="1">
              <a:solidFill>
                <a:srgbClr val="FF0000"/>
              </a:solidFill>
              <a:latin typeface="Gulim" panose="020B0600000101010101" pitchFamily="34" charset="-127"/>
            </a:endParaRPr>
          </a:p>
          <a:p>
            <a:pPr latinLnBrk="1">
              <a:spcBef>
                <a:spcPct val="50000"/>
              </a:spcBef>
            </a:pPr>
            <a:r>
              <a:rPr kumimoji="1" lang="zh-CN" altLang="en-US" sz="3200" b="1">
                <a:solidFill>
                  <a:srgbClr val="FF0000"/>
                </a:solidFill>
                <a:latin typeface="Gulim" panose="020B0600000101010101" pitchFamily="34" charset="-127"/>
              </a:rPr>
              <a:t>（</a:t>
            </a:r>
            <a:r>
              <a:rPr kumimoji="1" lang="en-US" altLang="zh-CN" sz="3200" b="1">
                <a:solidFill>
                  <a:srgbClr val="FF0000"/>
                </a:solidFill>
                <a:latin typeface="Gulim" panose="020B0600000101010101" pitchFamily="34" charset="-127"/>
              </a:rPr>
              <a:t>4</a:t>
            </a:r>
            <a:r>
              <a:rPr kumimoji="1" lang="zh-CN" altLang="en-US" sz="3200" b="1">
                <a:solidFill>
                  <a:srgbClr val="FF0000"/>
                </a:solidFill>
                <a:latin typeface="Gulim" panose="020B0600000101010101" pitchFamily="34" charset="-127"/>
              </a:rPr>
              <a:t>）</a:t>
            </a:r>
            <a:r>
              <a:rPr kumimoji="1" lang="zh-CN" altLang="en-US" sz="3200" b="1">
                <a:solidFill>
                  <a:srgbClr val="FF0000"/>
                </a:solidFill>
                <a:latin typeface="Times New Roman" panose="02020603050405020304"/>
              </a:rPr>
              <a:t>“</a:t>
            </a:r>
            <a:r>
              <a:rPr kumimoji="1" lang="zh-CN" altLang="en-US" sz="3200" b="1">
                <a:solidFill>
                  <a:srgbClr val="FF0000"/>
                </a:solidFill>
                <a:latin typeface="Gulim" panose="020B0600000101010101" pitchFamily="34" charset="-127"/>
              </a:rPr>
              <a:t>此致    敬礼</a:t>
            </a:r>
            <a:r>
              <a:rPr kumimoji="1" lang="zh-CN" altLang="en-US" sz="3200" b="1">
                <a:solidFill>
                  <a:srgbClr val="FF0000"/>
                </a:solidFill>
                <a:latin typeface="Times New Roman" panose="02020603050405020304"/>
              </a:rPr>
              <a:t>”</a:t>
            </a:r>
            <a:r>
              <a:rPr kumimoji="1" lang="zh-CN" altLang="en-US" sz="3200" b="1">
                <a:solidFill>
                  <a:srgbClr val="FF0000"/>
                </a:solidFill>
                <a:latin typeface="Gulim" panose="020B0600000101010101" pitchFamily="34" charset="-127"/>
              </a:rPr>
              <a:t>可删去；</a:t>
            </a:r>
            <a:endParaRPr kumimoji="1" lang="zh-CN" altLang="en-US" sz="3200" b="1">
              <a:solidFill>
                <a:srgbClr val="FF0000"/>
              </a:solidFill>
              <a:latin typeface="Gulim" panose="020B0600000101010101" pitchFamily="34" charset="-127"/>
            </a:endParaRPr>
          </a:p>
          <a:p>
            <a:pPr latinLnBrk="1">
              <a:spcBef>
                <a:spcPct val="50000"/>
              </a:spcBef>
            </a:pPr>
            <a:r>
              <a:rPr kumimoji="1" lang="zh-CN" altLang="en-US" sz="3200" b="1">
                <a:solidFill>
                  <a:srgbClr val="FF0000"/>
                </a:solidFill>
                <a:latin typeface="Gulim" panose="020B0600000101010101" pitchFamily="34" charset="-127"/>
              </a:rPr>
              <a:t>（</a:t>
            </a:r>
            <a:r>
              <a:rPr kumimoji="1" lang="en-US" altLang="zh-CN" sz="3200" b="1">
                <a:solidFill>
                  <a:srgbClr val="FF0000"/>
                </a:solidFill>
                <a:latin typeface="Gulim" panose="020B0600000101010101" pitchFamily="34" charset="-127"/>
              </a:rPr>
              <a:t>5</a:t>
            </a:r>
            <a:r>
              <a:rPr kumimoji="1" lang="zh-CN" altLang="en-US" sz="3200" b="1">
                <a:solidFill>
                  <a:srgbClr val="FF0000"/>
                </a:solidFill>
                <a:latin typeface="Gulim" panose="020B0600000101010101" pitchFamily="34" charset="-127"/>
              </a:rPr>
              <a:t>）缺日期。</a:t>
            </a:r>
            <a:endParaRPr kumimoji="1" lang="zh-CN" altLang="en-US" sz="3200" b="1">
              <a:solidFill>
                <a:srgbClr val="FF0000"/>
              </a:solidFill>
              <a:latin typeface="Gulim" panose="020B0600000101010101" pitchFamily="34" charset="-127"/>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09527" y="432000"/>
            <a:ext cx="7612592" cy="648000"/>
          </a:xfrm>
        </p:spPr>
        <p:txBody>
          <a:bodyPr/>
          <a:lstStyle/>
          <a:p>
            <a:r>
              <a:rPr dirty="0" smtClean="0">
                <a:solidFill>
                  <a:srgbClr val="FF0000"/>
                </a:solidFill>
              </a:rPr>
              <a:t>平等</a:t>
            </a:r>
            <a:r>
              <a:rPr lang="en-US" dirty="0" smtClean="0">
                <a:solidFill>
                  <a:srgbClr val="FF0000"/>
                </a:solidFill>
              </a:rPr>
              <a:t>·</a:t>
            </a:r>
            <a:r>
              <a:rPr dirty="0" smtClean="0">
                <a:solidFill>
                  <a:srgbClr val="FF0000"/>
                </a:solidFill>
              </a:rPr>
              <a:t>善待</a:t>
            </a:r>
            <a:r>
              <a:rPr lang="en-US" dirty="0" smtClean="0">
                <a:solidFill>
                  <a:srgbClr val="FF0000"/>
                </a:solidFill>
              </a:rPr>
              <a:t>·</a:t>
            </a:r>
            <a:r>
              <a:rPr dirty="0" smtClean="0">
                <a:solidFill>
                  <a:srgbClr val="FF0000"/>
                </a:solidFill>
              </a:rPr>
              <a:t>和谐</a:t>
            </a:r>
            <a:br>
              <a:rPr dirty="0" smtClean="0">
                <a:solidFill>
                  <a:srgbClr val="FF0000"/>
                </a:solidFill>
              </a:rPr>
            </a:br>
            <a:r>
              <a:rPr lang="en-US" dirty="0" smtClean="0">
                <a:solidFill>
                  <a:srgbClr val="FF0000"/>
                </a:solidFill>
              </a:rPr>
              <a:t>——</a:t>
            </a:r>
            <a:r>
              <a:rPr dirty="0" smtClean="0">
                <a:solidFill>
                  <a:srgbClr val="FF0000"/>
                </a:solidFill>
              </a:rPr>
              <a:t>向野味说</a:t>
            </a:r>
            <a:r>
              <a:rPr lang="en-US" dirty="0" smtClean="0">
                <a:solidFill>
                  <a:srgbClr val="FF0000"/>
                </a:solidFill>
              </a:rPr>
              <a:t>“</a:t>
            </a:r>
            <a:r>
              <a:rPr dirty="0" smtClean="0">
                <a:solidFill>
                  <a:srgbClr val="FF0000"/>
                </a:solidFill>
              </a:rPr>
              <a:t>不</a:t>
            </a:r>
            <a:r>
              <a:rPr lang="en-US" dirty="0" smtClean="0">
                <a:solidFill>
                  <a:srgbClr val="FF0000"/>
                </a:solidFill>
              </a:rPr>
              <a:t>”</a:t>
            </a:r>
            <a:r>
              <a:rPr dirty="0" smtClean="0">
                <a:solidFill>
                  <a:srgbClr val="FF0000"/>
                </a:solidFill>
              </a:rPr>
              <a:t>的倡议书</a:t>
            </a:r>
            <a:br>
              <a:rPr dirty="0" smtClean="0">
                <a:solidFill>
                  <a:srgbClr val="FF0000"/>
                </a:solidFill>
              </a:rPr>
            </a:br>
            <a:endParaRPr lang="zh-CN" altLang="en-US" dirty="0">
              <a:solidFill>
                <a:srgbClr val="FF0000"/>
              </a:solidFill>
            </a:endParaRPr>
          </a:p>
        </p:txBody>
      </p:sp>
      <p:sp>
        <p:nvSpPr>
          <p:cNvPr id="3" name="内容占位符 2"/>
          <p:cNvSpPr>
            <a:spLocks noGrp="1"/>
          </p:cNvSpPr>
          <p:nvPr>
            <p:ph idx="1"/>
          </p:nvPr>
        </p:nvSpPr>
        <p:spPr>
          <a:xfrm>
            <a:off x="1390261" y="1296000"/>
            <a:ext cx="8892074" cy="5041355"/>
          </a:xfrm>
        </p:spPr>
        <p:txBody>
          <a:bodyPr/>
          <a:lstStyle/>
          <a:p>
            <a:pPr>
              <a:buNone/>
            </a:pPr>
            <a:r>
              <a:rPr sz="2400" b="1" dirty="0" smtClean="0">
                <a:solidFill>
                  <a:srgbClr val="FF0000"/>
                </a:solidFill>
                <a:latin typeface="华文楷体" pitchFamily="2" charset="-122"/>
                <a:ea typeface="华文楷体" pitchFamily="2" charset="-122"/>
              </a:rPr>
              <a:t>广大网友朋友：</a:t>
            </a:r>
            <a:endParaRPr sz="2400" b="1" dirty="0" smtClean="0">
              <a:solidFill>
                <a:srgbClr val="FF0000"/>
              </a:solidFill>
              <a:latin typeface="华文楷体" pitchFamily="2" charset="-122"/>
              <a:ea typeface="华文楷体" pitchFamily="2" charset="-122"/>
            </a:endParaRPr>
          </a:p>
          <a:p>
            <a:pPr>
              <a:buNone/>
            </a:pPr>
            <a:r>
              <a:rPr sz="2400" b="1" dirty="0" smtClean="0">
                <a:latin typeface="华文楷体" pitchFamily="2" charset="-122"/>
                <a:ea typeface="华文楷体" pitchFamily="2" charset="-122"/>
              </a:rPr>
              <a:t>        大家好</a:t>
            </a:r>
            <a:r>
              <a:rPr sz="2400" b="1" dirty="0" smtClean="0">
                <a:latin typeface="华文楷体" pitchFamily="2" charset="-122"/>
                <a:ea typeface="华文楷体" pitchFamily="2" charset="-122"/>
              </a:rPr>
              <a:t>！</a:t>
            </a:r>
            <a:r>
              <a:rPr sz="2400" b="1" dirty="0" smtClean="0">
                <a:solidFill>
                  <a:srgbClr val="FF0000"/>
                </a:solidFill>
                <a:latin typeface="华文楷体" pitchFamily="2" charset="-122"/>
                <a:ea typeface="华文楷体" pitchFamily="2" charset="-122"/>
              </a:rPr>
              <a:t>为了</a:t>
            </a:r>
            <a:r>
              <a:rPr sz="2400" b="1" dirty="0" smtClean="0">
                <a:latin typeface="华文楷体" pitchFamily="2" charset="-122"/>
                <a:ea typeface="华文楷体" pitchFamily="2" charset="-122"/>
              </a:rPr>
              <a:t>保证大家的健康和生活的美满，同时</a:t>
            </a:r>
            <a:r>
              <a:rPr sz="2400" b="1" dirty="0" smtClean="0">
                <a:solidFill>
                  <a:srgbClr val="FF0000"/>
                </a:solidFill>
                <a:latin typeface="华文楷体" pitchFamily="2" charset="-122"/>
                <a:ea typeface="华文楷体" pitchFamily="2" charset="-122"/>
              </a:rPr>
              <a:t>为了</a:t>
            </a:r>
            <a:r>
              <a:rPr sz="2400" b="1" dirty="0" smtClean="0">
                <a:latin typeface="华文楷体" pitchFamily="2" charset="-122"/>
                <a:ea typeface="华文楷体" pitchFamily="2" charset="-122"/>
              </a:rPr>
              <a:t>维护生态的和谐和家园的温馨</a:t>
            </a:r>
            <a:r>
              <a:rPr sz="2400" b="1" dirty="0" smtClean="0">
                <a:latin typeface="华文楷体" pitchFamily="2" charset="-122"/>
                <a:ea typeface="华文楷体" pitchFamily="2" charset="-122"/>
              </a:rPr>
              <a:t>，</a:t>
            </a:r>
            <a:r>
              <a:rPr sz="2400" b="1" dirty="0" smtClean="0">
                <a:solidFill>
                  <a:srgbClr val="FF0000"/>
                </a:solidFill>
                <a:latin typeface="华文楷体" pitchFamily="2" charset="-122"/>
                <a:ea typeface="华文楷体" pitchFamily="2" charset="-122"/>
              </a:rPr>
              <a:t>请允许我发出向野味说</a:t>
            </a:r>
            <a:r>
              <a:rPr lang="en-US" sz="2400" b="1" dirty="0" smtClean="0">
                <a:solidFill>
                  <a:srgbClr val="FF0000"/>
                </a:solidFill>
                <a:latin typeface="华文楷体" pitchFamily="2" charset="-122"/>
                <a:ea typeface="华文楷体" pitchFamily="2" charset="-122"/>
              </a:rPr>
              <a:t>“</a:t>
            </a:r>
            <a:r>
              <a:rPr sz="2400" b="1" dirty="0" smtClean="0">
                <a:solidFill>
                  <a:srgbClr val="FF0000"/>
                </a:solidFill>
                <a:latin typeface="华文楷体" pitchFamily="2" charset="-122"/>
                <a:ea typeface="华文楷体" pitchFamily="2" charset="-122"/>
              </a:rPr>
              <a:t>不</a:t>
            </a:r>
            <a:r>
              <a:rPr lang="en-US" sz="2400" b="1" dirty="0" smtClean="0">
                <a:solidFill>
                  <a:srgbClr val="FF0000"/>
                </a:solidFill>
                <a:latin typeface="华文楷体" pitchFamily="2" charset="-122"/>
                <a:ea typeface="华文楷体" pitchFamily="2" charset="-122"/>
              </a:rPr>
              <a:t>”</a:t>
            </a:r>
            <a:r>
              <a:rPr sz="2400" b="1" dirty="0" smtClean="0">
                <a:solidFill>
                  <a:srgbClr val="FF0000"/>
                </a:solidFill>
                <a:latin typeface="华文楷体" pitchFamily="2" charset="-122"/>
                <a:ea typeface="华文楷体" pitchFamily="2" charset="-122"/>
              </a:rPr>
              <a:t>的倡议！</a:t>
            </a:r>
            <a:endParaRPr sz="2400" b="1" dirty="0" smtClean="0">
              <a:solidFill>
                <a:srgbClr val="FF0000"/>
              </a:solidFill>
              <a:latin typeface="华文楷体" pitchFamily="2" charset="-122"/>
              <a:ea typeface="华文楷体" pitchFamily="2" charset="-122"/>
            </a:endParaRPr>
          </a:p>
          <a:p>
            <a:pPr>
              <a:buNone/>
            </a:pPr>
            <a:r>
              <a:rPr sz="2400" b="1" dirty="0" smtClean="0">
                <a:latin typeface="华文楷体" pitchFamily="2" charset="-122"/>
                <a:ea typeface="华文楷体" pitchFamily="2" charset="-122"/>
              </a:rPr>
              <a:t>        近来限制了我们的行动</a:t>
            </a:r>
            <a:r>
              <a:rPr sz="2400" b="1" dirty="0" smtClean="0">
                <a:latin typeface="华文楷体" pitchFamily="2" charset="-122"/>
                <a:ea typeface="华文楷体" pitchFamily="2" charset="-122"/>
              </a:rPr>
              <a:t>，妨碍了人们的生活，甚而危及了人类的健康和生命的新冠病毒已经肆虐全球，据悉，可能源于某些人对野生动物的贪婪和掠杀，真是</a:t>
            </a:r>
            <a:r>
              <a:rPr lang="en-US" sz="2400" b="1" dirty="0" smtClean="0">
                <a:latin typeface="华文楷体" pitchFamily="2" charset="-122"/>
                <a:ea typeface="华文楷体" pitchFamily="2" charset="-122"/>
              </a:rPr>
              <a:t>“</a:t>
            </a:r>
            <a:r>
              <a:rPr sz="2400" b="1" dirty="0" smtClean="0">
                <a:latin typeface="华文楷体" pitchFamily="2" charset="-122"/>
                <a:ea typeface="华文楷体" pitchFamily="2" charset="-122"/>
              </a:rPr>
              <a:t>天作孽，犹可违；自作孽，不可活</a:t>
            </a:r>
            <a:r>
              <a:rPr lang="en-US" sz="2400" b="1" dirty="0" smtClean="0">
                <a:latin typeface="华文楷体" pitchFamily="2" charset="-122"/>
                <a:ea typeface="华文楷体" pitchFamily="2" charset="-122"/>
              </a:rPr>
              <a:t>”</a:t>
            </a:r>
            <a:r>
              <a:rPr sz="2400" b="1" dirty="0" smtClean="0">
                <a:latin typeface="华文楷体" pitchFamily="2" charset="-122"/>
                <a:ea typeface="华文楷体" pitchFamily="2" charset="-122"/>
              </a:rPr>
              <a:t>呀</a:t>
            </a:r>
            <a:r>
              <a:rPr sz="2400" b="1" dirty="0" smtClean="0">
                <a:latin typeface="华文楷体" pitchFamily="2" charset="-122"/>
                <a:ea typeface="华文楷体" pitchFamily="2" charset="-122"/>
              </a:rPr>
              <a:t>！</a:t>
            </a:r>
            <a:endParaRPr lang="en-US" sz="2400" b="1" dirty="0" smtClean="0">
              <a:latin typeface="华文楷体" pitchFamily="2" charset="-122"/>
              <a:ea typeface="华文楷体" pitchFamily="2" charset="-122"/>
            </a:endParaRPr>
          </a:p>
          <a:p>
            <a:pPr>
              <a:buNone/>
            </a:pPr>
            <a:r>
              <a:rPr lang="en-US" sz="2400" b="1" dirty="0" smtClean="0">
                <a:latin typeface="华文楷体" pitchFamily="2" charset="-122"/>
                <a:ea typeface="华文楷体" pitchFamily="2" charset="-122"/>
              </a:rPr>
              <a:t> </a:t>
            </a:r>
            <a:r>
              <a:rPr lang="en-US" sz="2400" b="1" dirty="0" smtClean="0">
                <a:latin typeface="华文楷体" pitchFamily="2" charset="-122"/>
                <a:ea typeface="华文楷体" pitchFamily="2" charset="-122"/>
              </a:rPr>
              <a:t>     </a:t>
            </a:r>
            <a:endParaRPr sz="2400" b="1" dirty="0" smtClean="0">
              <a:latin typeface="华文楷体" pitchFamily="2" charset="-122"/>
              <a:ea typeface="华文楷体" pitchFamily="2" charset="-122"/>
            </a:endParaRPr>
          </a:p>
          <a:p>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203651" y="484236"/>
            <a:ext cx="9974424" cy="6075184"/>
          </a:xfrm>
        </p:spPr>
        <p:txBody>
          <a:bodyPr/>
          <a:lstStyle/>
          <a:p>
            <a:r>
              <a:rPr lang="en-US" sz="2000" b="1" dirty="0" smtClean="0">
                <a:latin typeface="华文楷体" pitchFamily="2" charset="-122"/>
                <a:ea typeface="华文楷体" pitchFamily="2" charset="-122"/>
              </a:rPr>
              <a:t>    “</a:t>
            </a:r>
            <a:r>
              <a:rPr sz="2000" b="1" dirty="0" smtClean="0">
                <a:latin typeface="华文楷体" pitchFamily="2" charset="-122"/>
                <a:ea typeface="华文楷体" pitchFamily="2" charset="-122"/>
              </a:rPr>
              <a:t>贪如火，不遏则燎原；欲如水，不遏则滔天。</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为了满足个人的私欲，有些人任意砍伐，胡乱猎杀，任性剥夺，尽情享受用野生动植物做成</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带血的馒头</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：君不见，与恐龙同时代的中华鲟因为贪婪将近灭绝；君不知，珍贵的物种藏羚羊因为私欲濒临灭绝；君不闻，数千万年定期迁徙的斑头雁因为射杀大量减少；君不晓，成群结队的鲨鱼因为鱼翅而血染海洋</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肆虐全球的新冠病毒世人皆已知晓，但有没有想到澳大利亚的大火熊熊燃烧好几个月仍在冒烟，亚非的蝗灾遮天蔽日蚕食弥足可贵的农作物，加拿大的暴雪铺天盖地让人们只能呆在家里</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冬眠</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中国有</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牵一发而动全身</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的观点，西方有</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蝴蝶效应</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的理论，出现的天灾绝不是自然本身作为，它是与人为有着密切的关系，睿智的古人早就让</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天灾</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与</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人祸</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联系在一起，人类呀，</a:t>
            </a:r>
            <a:r>
              <a:rPr sz="2000" b="1" dirty="0" smtClean="0">
                <a:latin typeface="华文楷体" pitchFamily="2" charset="-122"/>
                <a:ea typeface="华文楷体" pitchFamily="2" charset="-122"/>
              </a:rPr>
              <a:t>谨慎自己的行为吧</a:t>
            </a:r>
            <a:r>
              <a:rPr sz="2000" b="1" dirty="0" smtClean="0">
                <a:latin typeface="华文楷体" pitchFamily="2" charset="-122"/>
                <a:ea typeface="华文楷体" pitchFamily="2" charset="-122"/>
              </a:rPr>
              <a:t>！</a:t>
            </a:r>
            <a:endParaRPr sz="2000" b="1" dirty="0" smtClean="0">
              <a:latin typeface="华文楷体" pitchFamily="2" charset="-122"/>
              <a:ea typeface="华文楷体" pitchFamily="2" charset="-122"/>
            </a:endParaRPr>
          </a:p>
          <a:p>
            <a:r>
              <a:rPr sz="2000" b="1" dirty="0" smtClean="0">
                <a:latin typeface="华文楷体" pitchFamily="2" charset="-122"/>
                <a:ea typeface="华文楷体" pitchFamily="2" charset="-122"/>
              </a:rPr>
              <a:t> </a:t>
            </a:r>
            <a:r>
              <a:rPr sz="2000" b="1" dirty="0" smtClean="0">
                <a:latin typeface="华文楷体" pitchFamily="2" charset="-122"/>
                <a:ea typeface="华文楷体" pitchFamily="2" charset="-122"/>
              </a:rPr>
              <a:t>“枪响之后，没有赢家。”人类和野生动植物共处一个平台，大家都是一个生物链上的分子，保护野生动植物的实质就是保护人类自己。为之，我倡议：</a:t>
            </a:r>
            <a:endParaRPr sz="2000" b="1" dirty="0" smtClean="0">
              <a:latin typeface="华文楷体" pitchFamily="2" charset="-122"/>
              <a:ea typeface="华文楷体" pitchFamily="2" charset="-122"/>
            </a:endParaRPr>
          </a:p>
          <a:p>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dirty="0" smtClean="0"/>
              <a:t>    </a:t>
            </a:r>
            <a:r>
              <a:rPr sz="2000" b="1" dirty="0" smtClean="0">
                <a:latin typeface="华文楷体" pitchFamily="2" charset="-122"/>
                <a:ea typeface="华文楷体" pitchFamily="2" charset="-122"/>
              </a:rPr>
              <a:t>一是对于万物</a:t>
            </a:r>
            <a:r>
              <a:rPr sz="2000" b="1" dirty="0" smtClean="0">
                <a:latin typeface="华文楷体" pitchFamily="2" charset="-122"/>
                <a:ea typeface="华文楷体" pitchFamily="2" charset="-122"/>
              </a:rPr>
              <a:t>，要有平等的观念。先哲庄周讲的</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以道观之，物无贵贱</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思想和大儒张载说的</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民，吾同胞；物，吾与也</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内容同出一辙，的确有先见之明，真是英雄所见略同！人们，是我的兄弟姐妹；万物，是我们的同类。人是地球上的生灵，地球的一部分，并非是地球的主宰；而生活在地球上的还有动物和植物，也是地球的一部分，拥有独特的生命，与人类共处一个星球，并无高低贵贱之分，难怪方景山感慨</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昆鹏奋云霄，尺鷃栖野草。物各适其天，夫岂论大小？</a:t>
            </a:r>
            <a:r>
              <a:rPr lang="en-US" sz="2000" b="1" dirty="0" smtClean="0">
                <a:latin typeface="华文楷体" pitchFamily="2" charset="-122"/>
                <a:ea typeface="华文楷体" pitchFamily="2" charset="-122"/>
              </a:rPr>
              <a:t>” </a:t>
            </a:r>
            <a:r>
              <a:rPr sz="2000" b="1" dirty="0" smtClean="0">
                <a:latin typeface="华文楷体" pitchFamily="2" charset="-122"/>
                <a:ea typeface="华文楷体" pitchFamily="2" charset="-122"/>
              </a:rPr>
              <a:t>地球上现存的所有物种都是一个不可或缺的个体，彼此息息相关，互相牵制，人类只有与万物平等相待，相处和谐，才能拥有相安无事的生活。那些自认为</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人是地球的中心</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其实自命不凡和高看自己，没有敬畏心理，在天灾人祸面前，人只不过是微乎其微得微不足道罢了；殊不知，大自然一点也不需要人类，而人类却一会儿也离不开大自然。心无平等，狂妄自大和为非作歹的人，自然不仅会打烂他的膝盖骨，还会敲碎他的天灵盖！</a:t>
            </a:r>
            <a:endParaRPr b="1" dirty="0" smtClean="0">
              <a:latin typeface="华文楷体" pitchFamily="2" charset="-122"/>
              <a:ea typeface="华文楷体" pitchFamily="2" charset="-122"/>
            </a:endParaRPr>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sz="2000" b="1" dirty="0" smtClean="0">
                <a:latin typeface="华文楷体" pitchFamily="2" charset="-122"/>
                <a:ea typeface="华文楷体" pitchFamily="2" charset="-122"/>
              </a:rPr>
              <a:t>     二要善待野生动植物</a:t>
            </a:r>
            <a:r>
              <a:rPr sz="2000" b="1" dirty="0" smtClean="0">
                <a:latin typeface="华文楷体" pitchFamily="2" charset="-122"/>
                <a:ea typeface="华文楷体" pitchFamily="2" charset="-122"/>
              </a:rPr>
              <a:t>。</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爱人者，人恒爱之；敬人者，人恒敬之。</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人们只有怀有爱心，树立平等观念，我们的家园才能和谐友善，生活才会美好温馨；如果</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把爱拿走，我们的地球就变成一座坟墓</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。且说</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生材贵适用，慎勿多苛求</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，生存的温饱问题解决后，理应</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仓廪实而知礼节，衣食足而知荣辱</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，而不是为了满足私欲和弥补空虚，就寻求刺激而放肆乱为，殊不知，有时好奇会害死人！再说</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奉法者强则国强，奉法者弱则国弱</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，为了</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维护全球生命共同体</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，国内全面禁止和惩治非法野生动物交易行为；为</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维护地球所有生命</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，国际上明确从</a:t>
            </a:r>
            <a:r>
              <a:rPr lang="en-US" sz="2000" b="1" dirty="0" smtClean="0">
                <a:latin typeface="华文楷体" pitchFamily="2" charset="-122"/>
                <a:ea typeface="华文楷体" pitchFamily="2" charset="-122"/>
              </a:rPr>
              <a:t>2014</a:t>
            </a:r>
            <a:r>
              <a:rPr sz="2000" b="1" dirty="0" smtClean="0">
                <a:latin typeface="华文楷体" pitchFamily="2" charset="-122"/>
                <a:ea typeface="华文楷体" pitchFamily="2" charset="-122"/>
              </a:rPr>
              <a:t>年开始每年的</a:t>
            </a:r>
            <a:r>
              <a:rPr lang="en-US" sz="2000" b="1" dirty="0" smtClean="0">
                <a:latin typeface="华文楷体" pitchFamily="2" charset="-122"/>
                <a:ea typeface="华文楷体" pitchFamily="2" charset="-122"/>
              </a:rPr>
              <a:t>3</a:t>
            </a:r>
            <a:r>
              <a:rPr sz="2000" b="1" dirty="0" smtClean="0">
                <a:latin typeface="华文楷体" pitchFamily="2" charset="-122"/>
                <a:ea typeface="华文楷体" pitchFamily="2" charset="-122"/>
              </a:rPr>
              <a:t>月</a:t>
            </a:r>
            <a:r>
              <a:rPr lang="en-US" sz="2000" b="1" dirty="0" smtClean="0">
                <a:latin typeface="华文楷体" pitchFamily="2" charset="-122"/>
                <a:ea typeface="华文楷体" pitchFamily="2" charset="-122"/>
              </a:rPr>
              <a:t>3</a:t>
            </a:r>
            <a:r>
              <a:rPr sz="2000" b="1" dirty="0" smtClean="0">
                <a:latin typeface="华文楷体" pitchFamily="2" charset="-122"/>
                <a:ea typeface="华文楷体" pitchFamily="2" charset="-122"/>
              </a:rPr>
              <a:t>日是野生动植物日：既然有了法律，我们就应当遵循；既然有了明文的规定，我们就要有做事的依据。何况</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伤敌一千，自损八百</a:t>
            </a:r>
            <a:r>
              <a:rPr lang="en-US" sz="2000" b="1" dirty="0" smtClean="0">
                <a:latin typeface="华文楷体" pitchFamily="2" charset="-122"/>
                <a:ea typeface="华文楷体" pitchFamily="2" charset="-122"/>
              </a:rPr>
              <a:t>”</a:t>
            </a:r>
            <a:r>
              <a:rPr sz="2000" b="1" dirty="0" smtClean="0">
                <a:latin typeface="华文楷体" pitchFamily="2" charset="-122"/>
                <a:ea typeface="华文楷体" pitchFamily="2" charset="-122"/>
              </a:rPr>
              <a:t>，任何事物都有适得其反的反噬现象，有些人与万物为敌相斗，其结果无外乎两败俱伤，鱼死网破；想要生命安全和身心健康，想要生态和谐和家园平安，那就要善待万物！</a:t>
            </a:r>
            <a:endParaRPr sz="2000" b="1" dirty="0" smtClean="0">
              <a:latin typeface="华文楷体" pitchFamily="2" charset="-122"/>
              <a:ea typeface="华文楷体" pitchFamily="2" charset="-122"/>
            </a:endParaRPr>
          </a:p>
          <a:p>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buNone/>
            </a:pPr>
            <a:r>
              <a:rPr lang="en-US" sz="1800" b="1" dirty="0" smtClean="0">
                <a:latin typeface="华文楷体" pitchFamily="2" charset="-122"/>
                <a:ea typeface="华文楷体" pitchFamily="2" charset="-122"/>
              </a:rPr>
              <a:t>      “</a:t>
            </a:r>
            <a:r>
              <a:rPr sz="1800" b="1" dirty="0" smtClean="0">
                <a:latin typeface="华文楷体" pitchFamily="2" charset="-122"/>
                <a:ea typeface="华文楷体" pitchFamily="2" charset="-122"/>
              </a:rPr>
              <a:t>泛爱万物，天地一体也。</a:t>
            </a:r>
            <a:r>
              <a:rPr lang="en-US" sz="1800" b="1" dirty="0" smtClean="0">
                <a:latin typeface="华文楷体" pitchFamily="2" charset="-122"/>
                <a:ea typeface="华文楷体" pitchFamily="2" charset="-122"/>
              </a:rPr>
              <a:t>”</a:t>
            </a:r>
            <a:r>
              <a:rPr sz="1800" b="1" dirty="0" smtClean="0">
                <a:latin typeface="华文楷体" pitchFamily="2" charset="-122"/>
                <a:ea typeface="华文楷体" pitchFamily="2" charset="-122"/>
              </a:rPr>
              <a:t>人类只有具备平等的思想，才会有善待动物的行为，才有资格和能力快乐而幸福地生存于这个和谐的家园！</a:t>
            </a:r>
            <a:endParaRPr sz="1800" b="1" dirty="0" smtClean="0">
              <a:latin typeface="华文楷体" pitchFamily="2" charset="-122"/>
              <a:ea typeface="华文楷体" pitchFamily="2" charset="-122"/>
            </a:endParaRPr>
          </a:p>
          <a:p>
            <a:pPr>
              <a:buNone/>
            </a:pPr>
            <a:r>
              <a:rPr sz="1800" b="1" dirty="0" smtClean="0">
                <a:latin typeface="华文楷体" pitchFamily="2" charset="-122"/>
                <a:ea typeface="华文楷体" pitchFamily="2" charset="-122"/>
              </a:rPr>
              <a:t>       广大网民朋友</a:t>
            </a:r>
            <a:r>
              <a:rPr sz="1800" b="1" dirty="0" smtClean="0">
                <a:latin typeface="华文楷体" pitchFamily="2" charset="-122"/>
                <a:ea typeface="华文楷体" pitchFamily="2" charset="-122"/>
              </a:rPr>
              <a:t>，为了我们和谐的家园，要勇敢地倡议向野味说</a:t>
            </a:r>
            <a:r>
              <a:rPr lang="en-US" sz="1800" b="1" dirty="0" smtClean="0">
                <a:latin typeface="华文楷体" pitchFamily="2" charset="-122"/>
                <a:ea typeface="华文楷体" pitchFamily="2" charset="-122"/>
              </a:rPr>
              <a:t>‘</a:t>
            </a:r>
            <a:r>
              <a:rPr sz="1800" b="1" dirty="0" smtClean="0">
                <a:latin typeface="华文楷体" pitchFamily="2" charset="-122"/>
                <a:ea typeface="华文楷体" pitchFamily="2" charset="-122"/>
              </a:rPr>
              <a:t>不</a:t>
            </a:r>
            <a:r>
              <a:rPr lang="en-US" sz="1800" b="1" dirty="0" smtClean="0">
                <a:latin typeface="华文楷体" pitchFamily="2" charset="-122"/>
                <a:ea typeface="华文楷体" pitchFamily="2" charset="-122"/>
              </a:rPr>
              <a:t>’</a:t>
            </a:r>
            <a:r>
              <a:rPr sz="1800" b="1" dirty="0" smtClean="0">
                <a:latin typeface="华文楷体" pitchFamily="2" charset="-122"/>
                <a:ea typeface="华文楷体" pitchFamily="2" charset="-122"/>
              </a:rPr>
              <a:t>！</a:t>
            </a:r>
            <a:endParaRPr sz="1800" b="1" dirty="0" smtClean="0">
              <a:latin typeface="华文楷体" pitchFamily="2" charset="-122"/>
              <a:ea typeface="华文楷体" pitchFamily="2" charset="-122"/>
            </a:endParaRPr>
          </a:p>
          <a:p>
            <a:pPr>
              <a:buNone/>
            </a:pPr>
            <a:r>
              <a:rPr sz="1800" b="1" dirty="0" smtClean="0">
                <a:latin typeface="华文楷体" pitchFamily="2" charset="-122"/>
                <a:ea typeface="华文楷体" pitchFamily="2" charset="-122"/>
              </a:rPr>
              <a:t>                                                                                                                   倡议人</a:t>
            </a:r>
            <a:r>
              <a:rPr sz="1800" b="1" dirty="0" smtClean="0">
                <a:latin typeface="华文楷体" pitchFamily="2" charset="-122"/>
                <a:ea typeface="华文楷体" pitchFamily="2" charset="-122"/>
              </a:rPr>
              <a:t>：某某某</a:t>
            </a:r>
            <a:endParaRPr sz="1800" b="1" dirty="0" smtClean="0">
              <a:latin typeface="华文楷体" pitchFamily="2" charset="-122"/>
              <a:ea typeface="华文楷体" pitchFamily="2" charset="-122"/>
            </a:endParaRPr>
          </a:p>
          <a:p>
            <a:pPr>
              <a:buNone/>
            </a:pPr>
            <a:r>
              <a:rPr sz="1800" b="1" dirty="0" smtClean="0">
                <a:latin typeface="华文楷体" pitchFamily="2" charset="-122"/>
                <a:ea typeface="华文楷体" pitchFamily="2" charset="-122"/>
              </a:rPr>
              <a:t>                                                                                                                          月</a:t>
            </a:r>
            <a:r>
              <a:rPr lang="en-US" sz="1800" b="1" dirty="0" smtClean="0">
                <a:latin typeface="华文楷体" pitchFamily="2" charset="-122"/>
                <a:ea typeface="华文楷体" pitchFamily="2" charset="-122"/>
              </a:rPr>
              <a:t>    </a:t>
            </a:r>
            <a:r>
              <a:rPr sz="1800" b="1" dirty="0" smtClean="0">
                <a:latin typeface="华文楷体" pitchFamily="2" charset="-122"/>
                <a:ea typeface="华文楷体" pitchFamily="2" charset="-122"/>
              </a:rPr>
              <a:t>日</a:t>
            </a:r>
            <a:endParaRPr b="1" dirty="0" smtClean="0">
              <a:latin typeface="华文楷体" pitchFamily="2" charset="-122"/>
              <a:ea typeface="华文楷体" pitchFamily="2" charset="-122"/>
            </a:endParaRPr>
          </a:p>
          <a:p>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12065" y="27940"/>
            <a:ext cx="12150090" cy="6800850"/>
          </a:xfrm>
          <a:prstGeom prst="rect">
            <a:avLst/>
          </a:prstGeom>
        </p:spPr>
      </p:pic>
      <p:sp>
        <p:nvSpPr>
          <p:cNvPr id="5" name="矩形 4"/>
          <p:cNvSpPr/>
          <p:nvPr/>
        </p:nvSpPr>
        <p:spPr>
          <a:xfrm>
            <a:off x="5002530" y="27940"/>
            <a:ext cx="1452880" cy="860425"/>
          </a:xfrm>
          <a:prstGeom prst="rect">
            <a:avLst/>
          </a:prstGeom>
          <a:noFill/>
          <a:ln>
            <a:noFill/>
          </a:ln>
        </p:spPr>
        <p:txBody>
          <a:bodyPr wrap="none" rtlCol="0" anchor="t">
            <a:spAutoFit/>
            <a:scene3d>
              <a:camera prst="orthographicFront"/>
              <a:lightRig rig="soft" dir="t">
                <a:rot lat="0" lon="0" rev="15600000"/>
              </a:lightRig>
            </a:scene3d>
            <a:sp3d extrusionH="57150" prstMaterial="softEdge">
              <a:bevelT w="25400" h="38100"/>
            </a:sp3d>
          </a:bodyPr>
          <a:lstStyle/>
          <a:p>
            <a:pPr algn="ctr"/>
            <a:r>
              <a:rPr lang="zh-CN" altLang="en-US" sz="5000" b="1">
                <a:solidFill>
                  <a:schemeClr val="accent4"/>
                </a:solidFill>
                <a:effectLst/>
              </a:rPr>
              <a:t>范例</a:t>
            </a:r>
            <a:endParaRPr lang="zh-CN" altLang="en-US" sz="5000" b="1">
              <a:solidFill>
                <a:schemeClr val="accent4"/>
              </a:solidFill>
              <a:effectLst/>
            </a:endParaRPr>
          </a:p>
        </p:txBody>
      </p:sp>
      <p:sp>
        <p:nvSpPr>
          <p:cNvPr id="6" name="文本框 5"/>
          <p:cNvSpPr txBox="1"/>
          <p:nvPr/>
        </p:nvSpPr>
        <p:spPr>
          <a:xfrm>
            <a:off x="11430" y="888365"/>
            <a:ext cx="12150725" cy="4892675"/>
          </a:xfrm>
          <a:prstGeom prst="rect">
            <a:avLst/>
          </a:prstGeom>
          <a:noFill/>
        </p:spPr>
        <p:txBody>
          <a:bodyPr wrap="square" rtlCol="0">
            <a:spAutoFit/>
          </a:bodyPr>
          <a:lstStyle/>
          <a:p>
            <a:pPr lvl="0" algn="l">
              <a:buClrTx/>
              <a:buSzTx/>
              <a:buFontTx/>
            </a:pPr>
            <a:r>
              <a:rPr lang="zh-CN" altLang="en-US" sz="2400" b="1">
                <a:sym typeface="+mn-ea"/>
              </a:rPr>
              <a:t>阅读下面的材料，根据要求写作。(60分)</a:t>
            </a:r>
            <a:endParaRPr lang="zh-CN" altLang="en-US" sz="2400" b="1">
              <a:sym typeface="+mn-ea"/>
            </a:endParaRPr>
          </a:p>
          <a:p>
            <a:pPr lvl="0" algn="l">
              <a:buClrTx/>
              <a:buSzTx/>
              <a:buFontTx/>
            </a:pPr>
            <a:r>
              <a:rPr lang="zh-CN" altLang="en-US" sz="2400" b="1">
                <a:sym typeface="+mn-ea"/>
              </a:rPr>
              <a:t>       2019年6月6日下午，南京33路公交车上人多拥挤，一名男性乘客上车时大喊被门夹了。驾驶员王师傅道歉后，没想到男子一路都在责骂。为了乘客的安全，王师傅一直克制。</a:t>
            </a:r>
            <a:endParaRPr lang="zh-CN" altLang="en-US" sz="2400" b="1">
              <a:sym typeface="+mn-ea"/>
            </a:endParaRPr>
          </a:p>
          <a:p>
            <a:pPr lvl="0" algn="l">
              <a:buClrTx/>
              <a:buSzTx/>
              <a:buFontTx/>
            </a:pPr>
            <a:r>
              <a:rPr lang="zh-CN" altLang="en-US" sz="2400" b="1">
                <a:sym typeface="+mn-ea"/>
              </a:rPr>
              <a:t>       更没想到的是，几站后，一名中学生给王师傅递来一张小纸条……</a:t>
            </a:r>
            <a:endParaRPr lang="zh-CN" altLang="en-US" sz="2400" b="1">
              <a:sym typeface="+mn-ea"/>
            </a:endParaRPr>
          </a:p>
          <a:p>
            <a:pPr lvl="0" algn="l">
              <a:buClrTx/>
              <a:buSzTx/>
              <a:buFontTx/>
            </a:pPr>
            <a:r>
              <a:rPr lang="zh-CN" altLang="en-US" sz="2400" b="1">
                <a:sym typeface="+mn-ea"/>
              </a:rPr>
              <a:t>       王师傅称，他至今还保留着这张小纸条，纸条上写着：“爷爷，您是好司机，赞！！！”</a:t>
            </a:r>
            <a:endParaRPr lang="zh-CN" altLang="en-US" sz="2400" b="1">
              <a:sym typeface="+mn-ea"/>
            </a:endParaRPr>
          </a:p>
          <a:p>
            <a:pPr lvl="0" algn="l">
              <a:buClrTx/>
              <a:buSzTx/>
              <a:buFontTx/>
            </a:pPr>
            <a:r>
              <a:rPr lang="zh-CN" altLang="en-US" sz="2400" b="1">
                <a:sym typeface="+mn-ea"/>
              </a:rPr>
              <a:t>       王师傅说：“拿到纸条我感到心里暖暖的，眼泪都要出来了。”</a:t>
            </a:r>
            <a:endParaRPr lang="zh-CN" altLang="en-US" sz="2400" b="1">
              <a:sym typeface="+mn-ea"/>
            </a:endParaRPr>
          </a:p>
          <a:p>
            <a:pPr lvl="0" algn="l">
              <a:buClrTx/>
              <a:buSzTx/>
              <a:buFontTx/>
            </a:pPr>
            <a:r>
              <a:rPr lang="zh-CN" altLang="en-US" sz="2400" b="1">
                <a:sym typeface="+mn-ea"/>
              </a:rPr>
              <a:t>       后来，调取车上监控发现，当时只是人多拥挤，车门并没有夹到这名男子。这引起了人们的深思。</a:t>
            </a:r>
            <a:endParaRPr lang="zh-CN" altLang="en-US" sz="2400" b="1">
              <a:sym typeface="+mn-ea"/>
            </a:endParaRPr>
          </a:p>
          <a:p>
            <a:pPr lvl="0" algn="l">
              <a:buClrTx/>
              <a:buSzTx/>
              <a:buFontTx/>
            </a:pPr>
            <a:r>
              <a:rPr lang="zh-CN" altLang="en-US" sz="2400" b="1">
                <a:sym typeface="+mn-ea"/>
              </a:rPr>
              <a:t>       请结合材料内容，面向本校(统称“理智中学”)同学写一篇倡议书，倡议大家“理解温暖社会，其中必定有我”，体现你的认识与思考，并提出希望与建议。</a:t>
            </a:r>
            <a:endParaRPr lang="zh-CN" altLang="en-US" sz="2400" b="1">
              <a:sym typeface="+mn-ea"/>
            </a:endParaRPr>
          </a:p>
          <a:p>
            <a:pPr lvl="0" algn="l">
              <a:buClrTx/>
              <a:buSzTx/>
              <a:buFontTx/>
            </a:pPr>
            <a:r>
              <a:rPr lang="zh-CN" altLang="en-US" sz="2400" b="1">
                <a:sym typeface="+mn-ea"/>
              </a:rPr>
              <a:t>      要求：自拟标题，自选角度，确定立意；不要套作，不得抄袭；不得泄露个人信息；不少于800字。</a:t>
            </a:r>
            <a:endParaRPr lang="zh-CN" altLang="en-US" sz="2400" b="1">
              <a:sym typeface="+mn-ea"/>
            </a:endParaRPr>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0" y="299162"/>
            <a:ext cx="12150090" cy="6800850"/>
          </a:xfrm>
          <a:prstGeom prst="rect">
            <a:avLst/>
          </a:prstGeom>
        </p:spPr>
      </p:pic>
      <p:sp>
        <p:nvSpPr>
          <p:cNvPr id="5" name="矩形 4"/>
          <p:cNvSpPr/>
          <p:nvPr/>
        </p:nvSpPr>
        <p:spPr>
          <a:xfrm>
            <a:off x="4050030" y="289560"/>
            <a:ext cx="3357880" cy="860425"/>
          </a:xfrm>
          <a:prstGeom prst="rect">
            <a:avLst/>
          </a:prstGeom>
          <a:noFill/>
          <a:ln>
            <a:noFill/>
          </a:ln>
        </p:spPr>
        <p:txBody>
          <a:bodyPr wrap="none" rtlCol="0" anchor="t">
            <a:spAutoFit/>
            <a:scene3d>
              <a:camera prst="orthographicFront"/>
              <a:lightRig rig="soft" dir="t">
                <a:rot lat="0" lon="0" rev="15600000"/>
              </a:lightRig>
            </a:scene3d>
            <a:sp3d extrusionH="57150" prstMaterial="softEdge">
              <a:bevelT w="25400" h="38100"/>
            </a:sp3d>
          </a:bodyPr>
          <a:lstStyle/>
          <a:p>
            <a:pPr algn="ctr"/>
            <a:r>
              <a:rPr lang="zh-CN" altLang="en-US" sz="5000" b="1">
                <a:solidFill>
                  <a:schemeClr val="accent4"/>
                </a:solidFill>
                <a:effectLst/>
              </a:rPr>
              <a:t>审题分析：</a:t>
            </a:r>
            <a:endParaRPr lang="zh-CN" altLang="en-US" sz="5000" b="1">
              <a:solidFill>
                <a:schemeClr val="accent4"/>
              </a:solidFill>
              <a:effectLst/>
            </a:endParaRPr>
          </a:p>
        </p:txBody>
      </p:sp>
      <p:sp>
        <p:nvSpPr>
          <p:cNvPr id="2" name="文本框 1"/>
          <p:cNvSpPr txBox="1"/>
          <p:nvPr/>
        </p:nvSpPr>
        <p:spPr>
          <a:xfrm>
            <a:off x="769866" y="1281338"/>
            <a:ext cx="10596880" cy="3785652"/>
          </a:xfrm>
          <a:prstGeom prst="rect">
            <a:avLst/>
          </a:prstGeom>
          <a:noFill/>
        </p:spPr>
        <p:txBody>
          <a:bodyPr wrap="square" rtlCol="0">
            <a:spAutoFit/>
          </a:bodyPr>
          <a:lstStyle/>
          <a:p>
            <a:pPr lvl="0" algn="l">
              <a:buClrTx/>
              <a:buSzTx/>
              <a:buFontTx/>
            </a:pPr>
            <a:r>
              <a:rPr lang="zh-CN" altLang="en-US" sz="3000" b="1" dirty="0">
                <a:sym typeface="+mn-ea"/>
              </a:rPr>
              <a:t>1、分析作文的构成要素：材料+写作要求</a:t>
            </a:r>
            <a:endParaRPr lang="zh-CN" altLang="en-US" sz="3000" b="1" dirty="0">
              <a:sym typeface="+mn-ea"/>
            </a:endParaRPr>
          </a:p>
          <a:p>
            <a:pPr lvl="0" algn="l">
              <a:buClrTx/>
              <a:buSzTx/>
              <a:buFontTx/>
            </a:pPr>
            <a:r>
              <a:rPr lang="zh-CN" altLang="en-US" sz="3000" b="1" dirty="0">
                <a:sym typeface="+mn-ea"/>
              </a:rPr>
              <a:t>2、读懂写作要求，明确写作任务</a:t>
            </a:r>
            <a:endParaRPr lang="zh-CN" altLang="en-US" sz="3000" b="1" dirty="0">
              <a:sym typeface="+mn-ea"/>
            </a:endParaRPr>
          </a:p>
          <a:p>
            <a:pPr lvl="0" algn="l">
              <a:buClrTx/>
              <a:buSzTx/>
              <a:buFontTx/>
            </a:pPr>
            <a:r>
              <a:rPr lang="zh-CN" altLang="en-US" sz="3000" b="1" dirty="0">
                <a:sym typeface="+mn-ea"/>
              </a:rPr>
              <a:t>（1）请结合材料内容,面向本校(统称“理智中学”)同学写一篇倡议书</a:t>
            </a:r>
            <a:endParaRPr lang="zh-CN" altLang="en-US" sz="3000" b="1" dirty="0">
              <a:sym typeface="+mn-ea"/>
            </a:endParaRPr>
          </a:p>
          <a:p>
            <a:pPr lvl="0" algn="l">
              <a:buClrTx/>
              <a:buSzTx/>
              <a:buFontTx/>
            </a:pPr>
            <a:r>
              <a:rPr lang="zh-CN" altLang="en-US" sz="3000" b="1" dirty="0">
                <a:sym typeface="+mn-ea"/>
              </a:rPr>
              <a:t>（2）倡议大家“理解温暖社会,其中必定有我”</a:t>
            </a:r>
            <a:endParaRPr lang="zh-CN" altLang="en-US" sz="3000" b="1" dirty="0">
              <a:sym typeface="+mn-ea"/>
            </a:endParaRPr>
          </a:p>
          <a:p>
            <a:pPr lvl="0" algn="l">
              <a:buClrTx/>
              <a:buSzTx/>
              <a:buFontTx/>
            </a:pPr>
            <a:r>
              <a:rPr lang="zh-CN" altLang="en-US" sz="3000" b="1" dirty="0">
                <a:sym typeface="+mn-ea"/>
              </a:rPr>
              <a:t>（3）体现你的认识与思考,并提出希望与建议</a:t>
            </a:r>
            <a:endParaRPr lang="zh-CN" altLang="en-US" sz="3000" b="1" dirty="0">
              <a:sym typeface="+mn-ea"/>
            </a:endParaRPr>
          </a:p>
          <a:p>
            <a:pPr lvl="0" algn="l">
              <a:buClrTx/>
              <a:buSzTx/>
              <a:buFontTx/>
            </a:pPr>
            <a:r>
              <a:rPr lang="zh-CN" altLang="en-US" sz="3000" b="1" dirty="0">
                <a:sym typeface="+mn-ea"/>
              </a:rPr>
              <a:t>3、解读材料</a:t>
            </a:r>
            <a:endParaRPr lang="zh-CN" altLang="en-US" sz="3000" b="1" dirty="0">
              <a:sym typeface="+mn-ea"/>
            </a:endParaRPr>
          </a:p>
          <a:p>
            <a:pPr lvl="0" algn="l">
              <a:buClrTx/>
              <a:buSzTx/>
              <a:buFontTx/>
            </a:pPr>
            <a:r>
              <a:rPr lang="zh-CN" altLang="en-US" sz="3000" b="1" dirty="0">
                <a:sym typeface="+mn-ea"/>
              </a:rPr>
              <a:t>4、关注作者的情感倾向（写作意图）</a:t>
            </a:r>
            <a:endParaRPr lang="zh-CN" altLang="en-US" sz="3000" b="1" dirty="0">
              <a:sym typeface="+mn-ea"/>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20955" y="28575"/>
            <a:ext cx="12150090" cy="6800850"/>
          </a:xfrm>
          <a:prstGeom prst="rect">
            <a:avLst/>
          </a:prstGeom>
        </p:spPr>
      </p:pic>
      <p:sp>
        <p:nvSpPr>
          <p:cNvPr id="2" name="矩形 1"/>
          <p:cNvSpPr/>
          <p:nvPr/>
        </p:nvSpPr>
        <p:spPr>
          <a:xfrm>
            <a:off x="4396105" y="247650"/>
            <a:ext cx="2976880" cy="937260"/>
          </a:xfrm>
          <a:prstGeom prst="rect">
            <a:avLst/>
          </a:prstGeom>
          <a:noFill/>
          <a:ln>
            <a:noFill/>
          </a:ln>
        </p:spPr>
        <p:txBody>
          <a:bodyPr wrap="none" rtlCol="0" anchor="t">
            <a:spAutoFit/>
            <a:scene3d>
              <a:camera prst="orthographicFront"/>
              <a:lightRig rig="soft" dir="t">
                <a:rot lat="0" lon="0" rev="15600000"/>
              </a:lightRig>
            </a:scene3d>
            <a:sp3d extrusionH="57150" prstMaterial="softEdge">
              <a:bevelT w="25400" h="38100"/>
            </a:sp3d>
          </a:bodyPr>
          <a:lstStyle/>
          <a:p>
            <a:pPr algn="ctr"/>
            <a:r>
              <a:rPr lang="zh-CN" altLang="en-US" sz="5500" b="1">
                <a:solidFill>
                  <a:schemeClr val="accent4"/>
                </a:solidFill>
                <a:effectLst/>
              </a:rPr>
              <a:t>写作指导</a:t>
            </a:r>
            <a:endParaRPr lang="zh-CN" altLang="en-US" sz="5500" b="1">
              <a:solidFill>
                <a:schemeClr val="accent4"/>
              </a:solidFill>
              <a:effectLst/>
            </a:endParaRPr>
          </a:p>
        </p:txBody>
      </p:sp>
      <p:sp>
        <p:nvSpPr>
          <p:cNvPr id="3" name="文本框 2"/>
          <p:cNvSpPr txBox="1"/>
          <p:nvPr/>
        </p:nvSpPr>
        <p:spPr>
          <a:xfrm>
            <a:off x="356235" y="1565910"/>
            <a:ext cx="11358880" cy="4030980"/>
          </a:xfrm>
          <a:prstGeom prst="rect">
            <a:avLst/>
          </a:prstGeom>
          <a:noFill/>
        </p:spPr>
        <p:txBody>
          <a:bodyPr wrap="square" rtlCol="0">
            <a:spAutoFit/>
          </a:bodyPr>
          <a:lstStyle/>
          <a:p>
            <a:pPr lvl="0" algn="l">
              <a:buClrTx/>
              <a:buSzTx/>
              <a:buFontTx/>
            </a:pPr>
            <a:r>
              <a:rPr lang="zh-CN" altLang="en-US" sz="3200" b="1">
                <a:sym typeface="+mn-ea"/>
              </a:rPr>
              <a:t>1、写作本题要注意以下两点：</a:t>
            </a:r>
            <a:endParaRPr lang="zh-CN" altLang="en-US" sz="3200" b="1">
              <a:sym typeface="+mn-ea"/>
            </a:endParaRPr>
          </a:p>
          <a:p>
            <a:pPr lvl="0" algn="l">
              <a:buClrTx/>
              <a:buSzTx/>
              <a:buFontTx/>
            </a:pPr>
            <a:r>
              <a:rPr lang="zh-CN" altLang="en-US" sz="3200" b="1">
                <a:sym typeface="+mn-ea"/>
              </a:rPr>
              <a:t>一是从文体看，要求写倡议书，因此所写文章必须符合倡议书的格式要求。如：标题可以为“关于……的倡议书”；下面第一行为称呼语，要顶格写；第二行空两格写正文；结尾要有署名和日期；等等。</a:t>
            </a:r>
            <a:endParaRPr lang="zh-CN" altLang="en-US" sz="3200" b="1">
              <a:sym typeface="+mn-ea"/>
            </a:endParaRPr>
          </a:p>
          <a:p>
            <a:pPr lvl="0" algn="l">
              <a:buClrTx/>
              <a:buSzTx/>
              <a:buFontTx/>
            </a:pPr>
            <a:r>
              <a:rPr lang="zh-CN" altLang="en-US" sz="3200" b="1">
                <a:sym typeface="+mn-ea"/>
              </a:rPr>
              <a:t>二是从内容看，要以“理解温暖社会，其中必定有我”为主题，同时结合材料内容体现对事件的“认识与思考”，并且针对如何“理解温暖社会，其中必定有我”提出希望与建议。  </a:t>
            </a:r>
            <a:endParaRPr lang="zh-CN" altLang="en-US" sz="3200" b="1">
              <a:sym typeface="+mn-ea"/>
            </a:endParaRPr>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20955" y="28575"/>
            <a:ext cx="12150090" cy="6800850"/>
          </a:xfrm>
          <a:prstGeom prst="rect">
            <a:avLst/>
          </a:prstGeom>
        </p:spPr>
      </p:pic>
      <p:sp>
        <p:nvSpPr>
          <p:cNvPr id="2" name="矩形 1"/>
          <p:cNvSpPr/>
          <p:nvPr/>
        </p:nvSpPr>
        <p:spPr>
          <a:xfrm>
            <a:off x="4396105" y="247650"/>
            <a:ext cx="2976880" cy="937260"/>
          </a:xfrm>
          <a:prstGeom prst="rect">
            <a:avLst/>
          </a:prstGeom>
          <a:noFill/>
          <a:ln>
            <a:noFill/>
          </a:ln>
        </p:spPr>
        <p:txBody>
          <a:bodyPr wrap="none" rtlCol="0" anchor="t">
            <a:spAutoFit/>
            <a:scene3d>
              <a:camera prst="orthographicFront"/>
              <a:lightRig rig="soft" dir="t">
                <a:rot lat="0" lon="0" rev="15600000"/>
              </a:lightRig>
            </a:scene3d>
            <a:sp3d extrusionH="57150" prstMaterial="softEdge">
              <a:bevelT w="25400" h="38100"/>
            </a:sp3d>
          </a:bodyPr>
          <a:lstStyle/>
          <a:p>
            <a:pPr algn="ctr"/>
            <a:r>
              <a:rPr lang="zh-CN" altLang="en-US" sz="5500" b="1">
                <a:solidFill>
                  <a:schemeClr val="accent4"/>
                </a:solidFill>
                <a:effectLst/>
              </a:rPr>
              <a:t>写作指导</a:t>
            </a:r>
            <a:endParaRPr lang="zh-CN" altLang="en-US" sz="5500" b="1">
              <a:solidFill>
                <a:schemeClr val="accent4"/>
              </a:solidFill>
              <a:effectLst/>
            </a:endParaRPr>
          </a:p>
        </p:txBody>
      </p:sp>
      <p:sp>
        <p:nvSpPr>
          <p:cNvPr id="3" name="文本框 2"/>
          <p:cNvSpPr txBox="1"/>
          <p:nvPr/>
        </p:nvSpPr>
        <p:spPr>
          <a:xfrm>
            <a:off x="403225" y="991235"/>
            <a:ext cx="11768455" cy="4246245"/>
          </a:xfrm>
          <a:prstGeom prst="rect">
            <a:avLst/>
          </a:prstGeom>
          <a:noFill/>
        </p:spPr>
        <p:txBody>
          <a:bodyPr wrap="square" rtlCol="0">
            <a:spAutoFit/>
          </a:bodyPr>
          <a:lstStyle/>
          <a:p>
            <a:pPr lvl="0" algn="l">
              <a:buClrTx/>
              <a:buSzTx/>
              <a:buFontTx/>
            </a:pPr>
            <a:r>
              <a:rPr lang="zh-CN" altLang="en-US" sz="3000" b="1">
                <a:sym typeface="+mn-ea"/>
              </a:rPr>
              <a:t>2、论证举例分析时，要紧扣三个关键词：</a:t>
            </a:r>
            <a:endParaRPr lang="zh-CN" altLang="en-US" sz="3000" b="1">
              <a:sym typeface="+mn-ea"/>
            </a:endParaRPr>
          </a:p>
          <a:p>
            <a:pPr lvl="0" algn="l">
              <a:buClrTx/>
              <a:buSzTx/>
              <a:buFontTx/>
            </a:pPr>
            <a:r>
              <a:rPr lang="zh-CN" altLang="en-US" sz="3000" b="1">
                <a:sym typeface="+mn-ea"/>
              </a:rPr>
              <a:t>①理解，即用理解方式，使社会充满温暖；不能离开材料去谈温暖，否则，就变成“套作”。</a:t>
            </a:r>
            <a:endParaRPr lang="zh-CN" altLang="en-US" sz="3000" b="1">
              <a:sym typeface="+mn-ea"/>
            </a:endParaRPr>
          </a:p>
          <a:p>
            <a:pPr lvl="0" algn="l">
              <a:buClrTx/>
              <a:buSzTx/>
              <a:buFontTx/>
            </a:pPr>
            <a:r>
              <a:rPr lang="zh-CN" altLang="en-US" sz="3000" b="1">
                <a:sym typeface="+mn-ea"/>
              </a:rPr>
              <a:t>②温暖，写温暖也必须与中学生给王师傅递来一张小纸条……，纸条上写着：“爷爷，您是好司机，赞!!!”王师傅说：“拿到纸条我感到心里暖暖的，眼泪都要出来了。”吻合。</a:t>
            </a:r>
            <a:endParaRPr lang="zh-CN" altLang="en-US" sz="3000" b="1">
              <a:sym typeface="+mn-ea"/>
            </a:endParaRPr>
          </a:p>
          <a:p>
            <a:pPr lvl="0" algn="l">
              <a:buClrTx/>
              <a:buSzTx/>
              <a:buFontTx/>
            </a:pPr>
            <a:r>
              <a:rPr lang="zh-CN" altLang="en-US" sz="3000" b="1">
                <a:sym typeface="+mn-ea"/>
              </a:rPr>
              <a:t>③“必定有我”，一定要写出自己的行动。</a:t>
            </a:r>
            <a:endParaRPr lang="zh-CN" altLang="en-US" sz="3000" b="1">
              <a:sym typeface="+mn-ea"/>
            </a:endParaRPr>
          </a:p>
          <a:p>
            <a:pPr lvl="0" algn="l">
              <a:buClrTx/>
              <a:buSzTx/>
              <a:buFontTx/>
            </a:pPr>
            <a:r>
              <a:rPr lang="zh-CN" altLang="en-US" sz="3000" b="1">
                <a:sym typeface="+mn-ea"/>
              </a:rPr>
              <a:t>3、这一次作文，都在这方面出了问题。这反映了同学们在理解材料方法上是有问题的；也反映了同学们思考能力和思辨能力较差。</a:t>
            </a:r>
            <a:endParaRPr lang="zh-CN" altLang="en-US" sz="3000" b="1">
              <a:sym typeface="+mn-ea"/>
            </a:endParaRPr>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12065" y="27940"/>
            <a:ext cx="12150090" cy="6800850"/>
          </a:xfrm>
          <a:prstGeom prst="rect">
            <a:avLst/>
          </a:prstGeom>
        </p:spPr>
      </p:pic>
      <p:sp>
        <p:nvSpPr>
          <p:cNvPr id="2" name="矩形 1"/>
          <p:cNvSpPr/>
          <p:nvPr/>
        </p:nvSpPr>
        <p:spPr>
          <a:xfrm>
            <a:off x="5017135" y="27940"/>
            <a:ext cx="1452880" cy="860425"/>
          </a:xfrm>
          <a:prstGeom prst="rect">
            <a:avLst/>
          </a:prstGeom>
          <a:noFill/>
          <a:ln>
            <a:noFill/>
          </a:ln>
        </p:spPr>
        <p:txBody>
          <a:bodyPr wrap="none" rtlCol="0" anchor="t">
            <a:spAutoFit/>
          </a:bodyPr>
          <a:lstStyle/>
          <a:p>
            <a:pPr algn="ctr"/>
            <a:r>
              <a:rPr lang="zh-CN" altLang="en-US" sz="5000" b="1">
                <a:ln w="22225">
                  <a:solidFill>
                    <a:schemeClr val="accent2"/>
                  </a:solidFill>
                  <a:prstDash val="solid"/>
                </a:ln>
                <a:solidFill>
                  <a:schemeClr val="accent2">
                    <a:lumMod val="40000"/>
                    <a:lumOff val="60000"/>
                  </a:schemeClr>
                </a:solidFill>
                <a:effectLst/>
              </a:rPr>
              <a:t>范文</a:t>
            </a:r>
            <a:endParaRPr lang="zh-CN" altLang="en-US" sz="5000" b="1">
              <a:ln w="22225">
                <a:solidFill>
                  <a:schemeClr val="accent2"/>
                </a:solidFill>
                <a:prstDash val="solid"/>
              </a:ln>
              <a:solidFill>
                <a:schemeClr val="accent2">
                  <a:lumMod val="40000"/>
                  <a:lumOff val="60000"/>
                </a:schemeClr>
              </a:solidFill>
              <a:effectLst/>
            </a:endParaRPr>
          </a:p>
        </p:txBody>
      </p:sp>
      <p:sp>
        <p:nvSpPr>
          <p:cNvPr id="3" name="文本框 2"/>
          <p:cNvSpPr txBox="1"/>
          <p:nvPr/>
        </p:nvSpPr>
        <p:spPr>
          <a:xfrm>
            <a:off x="97155" y="1029970"/>
            <a:ext cx="11980545" cy="5262245"/>
          </a:xfrm>
          <a:prstGeom prst="rect">
            <a:avLst/>
          </a:prstGeom>
          <a:noFill/>
        </p:spPr>
        <p:txBody>
          <a:bodyPr wrap="square" rtlCol="0">
            <a:spAutoFit/>
          </a:bodyPr>
          <a:lstStyle/>
          <a:p>
            <a:pPr lvl="0" algn="ctr">
              <a:buClrTx/>
              <a:buSzTx/>
              <a:buFontTx/>
            </a:pPr>
            <a:r>
              <a:rPr lang="zh-CN" altLang="en-US" sz="2800" b="1">
                <a:sym typeface="+mn-ea"/>
              </a:rPr>
              <a:t>给理智中学学生的倡议书</a:t>
            </a:r>
            <a:endParaRPr lang="zh-CN" altLang="en-US" sz="2800" b="1">
              <a:sym typeface="+mn-ea"/>
            </a:endParaRPr>
          </a:p>
          <a:p>
            <a:pPr lvl="0" algn="l">
              <a:buClrTx/>
              <a:buSzTx/>
              <a:buFontTx/>
            </a:pPr>
            <a:r>
              <a:rPr lang="zh-CN" altLang="en-US" sz="2800" b="1">
                <a:sym typeface="+mn-ea"/>
              </a:rPr>
              <a:t>亲爱的同学们：</a:t>
            </a:r>
            <a:endParaRPr lang="zh-CN" altLang="en-US" sz="2800" b="1">
              <a:sym typeface="+mn-ea"/>
            </a:endParaRPr>
          </a:p>
          <a:p>
            <a:pPr lvl="0" algn="l">
              <a:buClrTx/>
              <a:buSzTx/>
              <a:buFontTx/>
            </a:pPr>
            <a:r>
              <a:rPr lang="zh-CN" altLang="en-US" sz="2800" b="1">
                <a:sym typeface="+mn-ea"/>
              </a:rPr>
              <a:t>       你们好！</a:t>
            </a:r>
            <a:endParaRPr lang="zh-CN" altLang="en-US" sz="2800" b="1">
              <a:sym typeface="+mn-ea"/>
            </a:endParaRPr>
          </a:p>
          <a:p>
            <a:pPr lvl="0" algn="l">
              <a:buClrTx/>
              <a:buSzTx/>
              <a:buFontTx/>
            </a:pPr>
            <a:r>
              <a:rPr lang="zh-CN" altLang="en-US" sz="2800" b="1">
                <a:sym typeface="+mn-ea"/>
              </a:rPr>
              <a:t>       关于在2019年南京公共汽车上发生的车门夹人事件，其中一位中学生的暖心做法让人为之喝彩，因此在这里我呼吁大家应当用行动去温暖社会上的每一个人。</a:t>
            </a:r>
            <a:endParaRPr lang="zh-CN" altLang="en-US" sz="2800" b="1">
              <a:sym typeface="+mn-ea"/>
            </a:endParaRPr>
          </a:p>
          <a:p>
            <a:pPr lvl="0" algn="l">
              <a:buClrTx/>
              <a:buSzTx/>
              <a:buFontTx/>
            </a:pPr>
            <a:r>
              <a:rPr lang="zh-CN" altLang="en-US" sz="2800" b="1">
                <a:sym typeface="+mn-ea"/>
              </a:rPr>
              <a:t>       用理性说话，用行动感人。</a:t>
            </a:r>
            <a:endParaRPr lang="zh-CN" altLang="en-US" sz="2800" b="1">
              <a:sym typeface="+mn-ea"/>
            </a:endParaRPr>
          </a:p>
          <a:p>
            <a:pPr lvl="0" algn="l">
              <a:buClrTx/>
              <a:buSzTx/>
              <a:buFontTx/>
            </a:pPr>
            <a:r>
              <a:rPr lang="zh-CN" altLang="en-US" sz="2800" b="1">
                <a:sym typeface="+mn-ea"/>
              </a:rPr>
              <a:t>       理性的思考往往让我们在面对一些问题时可以从容不迫，井井有条的去解决。生活中有很多事并不是有人故意而为之，有时宽待别人，用理性化解矛盾不但能提升自己又能温暖别人。别因为一点小事儿和别人大动干戈，伤人伤己不说，还得不到好的解决。在日常生活中，温暖他人的行为很多。如：看见环卫工人去道声“您辛苦了”，乐于助人，换位思考，理解人生不易。</a:t>
            </a:r>
            <a:endParaRPr lang="zh-CN" altLang="en-US" sz="2800" b="1">
              <a:sym typeface="+mn-ea"/>
            </a:endParaRPr>
          </a:p>
        </p:txBody>
      </p:sp>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20955" y="28575"/>
            <a:ext cx="12150090" cy="6800850"/>
          </a:xfrm>
          <a:prstGeom prst="rect">
            <a:avLst/>
          </a:prstGeom>
        </p:spPr>
      </p:pic>
      <p:sp>
        <p:nvSpPr>
          <p:cNvPr id="2" name="矩形 1"/>
          <p:cNvSpPr/>
          <p:nvPr/>
        </p:nvSpPr>
        <p:spPr>
          <a:xfrm>
            <a:off x="5017135" y="27940"/>
            <a:ext cx="1452880" cy="860425"/>
          </a:xfrm>
          <a:prstGeom prst="rect">
            <a:avLst/>
          </a:prstGeom>
          <a:noFill/>
          <a:ln>
            <a:noFill/>
          </a:ln>
        </p:spPr>
        <p:txBody>
          <a:bodyPr wrap="none" rtlCol="0" anchor="t">
            <a:spAutoFit/>
          </a:bodyPr>
          <a:lstStyle/>
          <a:p>
            <a:pPr algn="ctr"/>
            <a:r>
              <a:rPr lang="zh-CN" altLang="en-US" sz="5000" b="1">
                <a:ln w="22225">
                  <a:solidFill>
                    <a:schemeClr val="accent2"/>
                  </a:solidFill>
                  <a:prstDash val="solid"/>
                </a:ln>
                <a:solidFill>
                  <a:schemeClr val="accent2">
                    <a:lumMod val="40000"/>
                    <a:lumOff val="60000"/>
                  </a:schemeClr>
                </a:solidFill>
                <a:effectLst/>
              </a:rPr>
              <a:t>范文</a:t>
            </a:r>
            <a:endParaRPr lang="zh-CN" altLang="en-US" sz="5000" b="1">
              <a:ln w="22225">
                <a:solidFill>
                  <a:schemeClr val="accent2"/>
                </a:solidFill>
                <a:prstDash val="solid"/>
              </a:ln>
              <a:solidFill>
                <a:schemeClr val="accent2">
                  <a:lumMod val="40000"/>
                  <a:lumOff val="60000"/>
                </a:schemeClr>
              </a:solidFill>
              <a:effectLst/>
            </a:endParaRPr>
          </a:p>
        </p:txBody>
      </p:sp>
      <p:sp>
        <p:nvSpPr>
          <p:cNvPr id="3" name="文本框 2"/>
          <p:cNvSpPr txBox="1"/>
          <p:nvPr/>
        </p:nvSpPr>
        <p:spPr>
          <a:xfrm>
            <a:off x="172720" y="987425"/>
            <a:ext cx="11584305" cy="4707890"/>
          </a:xfrm>
          <a:prstGeom prst="rect">
            <a:avLst/>
          </a:prstGeom>
          <a:noFill/>
        </p:spPr>
        <p:txBody>
          <a:bodyPr wrap="square" rtlCol="0">
            <a:spAutoFit/>
          </a:bodyPr>
          <a:lstStyle/>
          <a:p>
            <a:pPr lvl="0" algn="l">
              <a:buClrTx/>
              <a:buSzTx/>
              <a:buFontTx/>
            </a:pPr>
            <a:r>
              <a:rPr lang="en-US" altLang="zh-CN" sz="3000" b="1">
                <a:sym typeface="+mn-ea"/>
              </a:rPr>
              <a:t>       </a:t>
            </a:r>
            <a:r>
              <a:rPr lang="zh-CN" altLang="en-US" sz="3000" b="1">
                <a:sym typeface="+mn-ea"/>
              </a:rPr>
              <a:t>在十分生气的情况下，不要张口说话，言语伤人才是最能刺痛人心的武器，所以，越是生气的时候就月要强迫使自己冷静下来。换位思考或是表明自己的态度。以和对方寻求更完美的解决方案。生活之中有太多的不容易，有时父母因为工作和生活的压力，也许会对你们进行唠叨和出现因一点儿事而向你们进行批评教育。其实，换位思考一下，父母在外奔波一心为了可以让你有更好的生活环境，在外的不顺心回到家中自然而然就会发泄流露出来。因此，在这时，体谅父母，他们所想在一起时的美好，毕竟这只是少数。生活中总有不顺心，站在别人的角度上看看，也许会有不一样的风景等着你。</a:t>
            </a:r>
            <a:endParaRPr lang="zh-CN" altLang="en-US" sz="3000" b="1">
              <a:sym typeface="+mn-ea"/>
            </a:endParaRPr>
          </a:p>
          <a:p>
            <a:pPr lvl="0" algn="l">
              <a:buClrTx/>
              <a:buSzTx/>
              <a:buFontTx/>
            </a:pPr>
            <a:r>
              <a:rPr lang="zh-CN" altLang="en-US" sz="3000" b="1">
                <a:sym typeface="+mn-ea"/>
              </a:rPr>
              <a:t>让爱传出去，让心温暖世界。</a:t>
            </a:r>
            <a:endParaRPr lang="zh-CN" altLang="en-US" sz="3000" b="1">
              <a:sym typeface="+mn-ea"/>
            </a:endParaRPr>
          </a:p>
        </p:txBody>
      </p:sp>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20955" y="28575"/>
            <a:ext cx="12150090" cy="6800850"/>
          </a:xfrm>
          <a:prstGeom prst="rect">
            <a:avLst/>
          </a:prstGeom>
        </p:spPr>
      </p:pic>
      <p:sp>
        <p:nvSpPr>
          <p:cNvPr id="2" name="矩形 1"/>
          <p:cNvSpPr/>
          <p:nvPr/>
        </p:nvSpPr>
        <p:spPr>
          <a:xfrm>
            <a:off x="5017135" y="27940"/>
            <a:ext cx="1452880" cy="860425"/>
          </a:xfrm>
          <a:prstGeom prst="rect">
            <a:avLst/>
          </a:prstGeom>
          <a:noFill/>
          <a:ln>
            <a:noFill/>
          </a:ln>
        </p:spPr>
        <p:txBody>
          <a:bodyPr wrap="none" rtlCol="0" anchor="t">
            <a:spAutoFit/>
          </a:bodyPr>
          <a:lstStyle/>
          <a:p>
            <a:pPr algn="ctr"/>
            <a:r>
              <a:rPr lang="zh-CN" altLang="en-US" sz="5000" b="1">
                <a:ln w="22225">
                  <a:solidFill>
                    <a:schemeClr val="accent2"/>
                  </a:solidFill>
                  <a:prstDash val="solid"/>
                </a:ln>
                <a:solidFill>
                  <a:schemeClr val="accent2">
                    <a:lumMod val="40000"/>
                    <a:lumOff val="60000"/>
                  </a:schemeClr>
                </a:solidFill>
                <a:effectLst/>
              </a:rPr>
              <a:t>范文</a:t>
            </a:r>
            <a:endParaRPr lang="zh-CN" altLang="en-US" sz="5000" b="1">
              <a:ln w="22225">
                <a:solidFill>
                  <a:schemeClr val="accent2"/>
                </a:solidFill>
                <a:prstDash val="solid"/>
              </a:ln>
              <a:solidFill>
                <a:schemeClr val="accent2">
                  <a:lumMod val="40000"/>
                  <a:lumOff val="60000"/>
                </a:schemeClr>
              </a:solidFill>
              <a:effectLst/>
            </a:endParaRPr>
          </a:p>
        </p:txBody>
      </p:sp>
      <p:sp>
        <p:nvSpPr>
          <p:cNvPr id="3" name="文本框 2"/>
          <p:cNvSpPr txBox="1"/>
          <p:nvPr/>
        </p:nvSpPr>
        <p:spPr>
          <a:xfrm>
            <a:off x="172085" y="888365"/>
            <a:ext cx="11613515" cy="5692775"/>
          </a:xfrm>
          <a:prstGeom prst="rect">
            <a:avLst/>
          </a:prstGeom>
          <a:noFill/>
        </p:spPr>
        <p:txBody>
          <a:bodyPr wrap="square" rtlCol="0">
            <a:spAutoFit/>
          </a:bodyPr>
          <a:lstStyle/>
          <a:p>
            <a:pPr lvl="0" algn="l">
              <a:buClrTx/>
              <a:buSzTx/>
              <a:buFontTx/>
            </a:pPr>
            <a:r>
              <a:rPr lang="en-US" altLang="zh-CN" sz="2800" b="1">
                <a:sym typeface="+mn-ea"/>
              </a:rPr>
              <a:t>       </a:t>
            </a:r>
            <a:r>
              <a:rPr lang="zh-CN" altLang="en-US" sz="2800" b="1">
                <a:sym typeface="+mn-ea"/>
              </a:rPr>
              <a:t>理解和包容让人与人之间的距离会无限缩短，做一个有爱心的青少年，温暖他人往往会让我们收获幸福。地铁上不嘲笑排斥外来务工，因为这座城市源于他们，在路上自觉维护公共治安和卫生，因为我们都是社会的主人；在人潮拥挤的地方不小心被人踩到脚，说声没事更胜于冷眼相对……每一件小事都可以让我们体会到爱与被爱，让我们在生活中有温暖，让远在他乡的人们感受到这个城市的热情和欢迎，让所有的职业都被尊重。在温暖的世界里，我们才会变得温柔变得美丽。</a:t>
            </a:r>
            <a:endParaRPr lang="zh-CN" altLang="en-US" sz="2800" b="1">
              <a:sym typeface="+mn-ea"/>
            </a:endParaRPr>
          </a:p>
          <a:p>
            <a:pPr lvl="0" algn="l">
              <a:buClrTx/>
              <a:buSzTx/>
              <a:buFontTx/>
            </a:pPr>
            <a:r>
              <a:rPr lang="zh-CN" altLang="en-US" sz="2800" b="1">
                <a:sym typeface="+mn-ea"/>
              </a:rPr>
              <a:t>       在力所能及的事面前伸下手，在志愿活动中展现人性之美。在人与人相处中善言相对……理解和温暖社会，我们应当都为其出一份力，哪怕陌生人相视的一个微笑，弯腰捡起路边垃圾等，都是在被爱的过程，就让我们携起手来，共建美好家园。</a:t>
            </a:r>
            <a:endParaRPr lang="zh-CN" altLang="en-US" sz="2800" b="1">
              <a:sym typeface="+mn-ea"/>
            </a:endParaRPr>
          </a:p>
          <a:p>
            <a:pPr lvl="0" algn="r">
              <a:buClrTx/>
              <a:buSzTx/>
              <a:buFontTx/>
            </a:pPr>
            <a:r>
              <a:rPr lang="zh-CN" altLang="en-US" sz="2800" b="1">
                <a:sym typeface="+mn-ea"/>
              </a:rPr>
              <a:t>倡议者：xxxx</a:t>
            </a:r>
            <a:endParaRPr lang="zh-CN" altLang="en-US" sz="2800" b="1">
              <a:sym typeface="+mn-ea"/>
            </a:endParaRPr>
          </a:p>
          <a:p>
            <a:pPr lvl="0" algn="r">
              <a:buClrTx/>
              <a:buSzTx/>
              <a:buFontTx/>
            </a:pPr>
            <a:r>
              <a:rPr lang="zh-CN" altLang="en-US" sz="2800" b="1">
                <a:sym typeface="+mn-ea"/>
              </a:rPr>
              <a:t>Xx年xx月xx日</a:t>
            </a:r>
            <a:endParaRPr lang="zh-CN" altLang="en-US" sz="2800" b="1">
              <a:sym typeface="+mn-ea"/>
            </a:endParaRPr>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12065" y="27940"/>
            <a:ext cx="12150090" cy="6800850"/>
          </a:xfrm>
          <a:prstGeom prst="rect">
            <a:avLst/>
          </a:prstGeom>
        </p:spPr>
      </p:pic>
      <p:sp>
        <p:nvSpPr>
          <p:cNvPr id="2" name="矩形 1"/>
          <p:cNvSpPr/>
          <p:nvPr/>
        </p:nvSpPr>
        <p:spPr>
          <a:xfrm>
            <a:off x="5017135" y="27940"/>
            <a:ext cx="1452880" cy="860425"/>
          </a:xfrm>
          <a:prstGeom prst="rect">
            <a:avLst/>
          </a:prstGeom>
          <a:noFill/>
          <a:ln>
            <a:noFill/>
          </a:ln>
        </p:spPr>
        <p:txBody>
          <a:bodyPr wrap="none" rtlCol="0" anchor="t">
            <a:spAutoFit/>
          </a:bodyPr>
          <a:lstStyle/>
          <a:p>
            <a:pPr algn="ctr"/>
            <a:r>
              <a:rPr lang="zh-CN" altLang="en-US" sz="5000" b="1">
                <a:ln w="22225">
                  <a:solidFill>
                    <a:schemeClr val="accent2"/>
                  </a:solidFill>
                  <a:prstDash val="solid"/>
                </a:ln>
                <a:solidFill>
                  <a:schemeClr val="accent2">
                    <a:lumMod val="40000"/>
                    <a:lumOff val="60000"/>
                  </a:schemeClr>
                </a:solidFill>
                <a:effectLst/>
              </a:rPr>
              <a:t>范文</a:t>
            </a:r>
            <a:endParaRPr lang="zh-CN" altLang="en-US" sz="5000" b="1">
              <a:ln w="22225">
                <a:solidFill>
                  <a:schemeClr val="accent2"/>
                </a:solidFill>
                <a:prstDash val="solid"/>
              </a:ln>
              <a:solidFill>
                <a:schemeClr val="accent2">
                  <a:lumMod val="40000"/>
                  <a:lumOff val="60000"/>
                </a:schemeClr>
              </a:solidFill>
              <a:effectLst/>
            </a:endParaRPr>
          </a:p>
        </p:txBody>
      </p:sp>
      <p:sp>
        <p:nvSpPr>
          <p:cNvPr id="3" name="文本框 2"/>
          <p:cNvSpPr txBox="1"/>
          <p:nvPr/>
        </p:nvSpPr>
        <p:spPr>
          <a:xfrm>
            <a:off x="205105" y="748665"/>
            <a:ext cx="11781790" cy="6092825"/>
          </a:xfrm>
          <a:prstGeom prst="rect">
            <a:avLst/>
          </a:prstGeom>
          <a:noFill/>
        </p:spPr>
        <p:txBody>
          <a:bodyPr wrap="square" rtlCol="0">
            <a:spAutoFit/>
          </a:bodyPr>
          <a:lstStyle/>
          <a:p>
            <a:pPr lvl="0" algn="ctr">
              <a:buClrTx/>
              <a:buSzTx/>
              <a:buFontTx/>
            </a:pPr>
            <a:r>
              <a:rPr lang="zh-CN" altLang="en-US" sz="2600" b="1">
                <a:sym typeface="+mn-ea"/>
              </a:rPr>
              <a:t>怀抱温暖，世无荒原</a:t>
            </a:r>
            <a:endParaRPr lang="zh-CN" altLang="en-US" sz="2600" b="1">
              <a:sym typeface="+mn-ea"/>
            </a:endParaRPr>
          </a:p>
          <a:p>
            <a:pPr lvl="0" algn="l">
              <a:buClrTx/>
              <a:buSzTx/>
              <a:buFontTx/>
            </a:pPr>
            <a:r>
              <a:rPr lang="zh-CN" altLang="en-US" sz="2600" b="1">
                <a:sym typeface="+mn-ea"/>
              </a:rPr>
              <a:t>亲爱的同学们：</a:t>
            </a:r>
            <a:endParaRPr lang="zh-CN" altLang="en-US" sz="2600" b="1">
              <a:sym typeface="+mn-ea"/>
            </a:endParaRPr>
          </a:p>
          <a:p>
            <a:pPr lvl="0" algn="l">
              <a:buClrTx/>
              <a:buSzTx/>
              <a:buFontTx/>
            </a:pPr>
            <a:r>
              <a:rPr lang="zh-CN" altLang="en-US" sz="2600" b="1">
                <a:sym typeface="+mn-ea"/>
              </a:rPr>
              <a:t>       你们好！</a:t>
            </a:r>
            <a:endParaRPr lang="zh-CN" altLang="en-US" sz="2600" b="1">
              <a:sym typeface="+mn-ea"/>
            </a:endParaRPr>
          </a:p>
          <a:p>
            <a:pPr lvl="0" algn="l">
              <a:buClrTx/>
              <a:buSzTx/>
              <a:buFontTx/>
            </a:pPr>
            <a:r>
              <a:rPr lang="zh-CN" altLang="en-US" sz="2600" b="1">
                <a:sym typeface="+mn-ea"/>
              </a:rPr>
              <a:t>        一个女人在楼上正准备关灯了，但她向楼下看后，便没有关灯了。原来是因为楼下正有两名完成工作的环卫工人坐在椅子上吃饭。那时，夜已深，这盏明亮的灯像它的色调一样给他人以温暖的感觉。这是一则公益广告中的画面，它体现了社会的温暖。理智中学的同学们，我在此向大家倡议：”理解温暖社会，其中必定有我”。我们要怀抱温暖，相互理解，让这世界没有一片心灵是一处荒原。</a:t>
            </a:r>
            <a:endParaRPr lang="zh-CN" altLang="en-US" sz="2600" b="1">
              <a:sym typeface="+mn-ea"/>
            </a:endParaRPr>
          </a:p>
          <a:p>
            <a:pPr lvl="0" algn="l">
              <a:buClrTx/>
              <a:buSzTx/>
              <a:buFontTx/>
            </a:pPr>
            <a:r>
              <a:rPr lang="zh-CN" altLang="en-US" sz="2600" b="1">
                <a:sym typeface="+mn-ea"/>
              </a:rPr>
              <a:t>       心怀宽容与理解，是我们行动的前提，是在荒原上除草翻土的开始，雨果说过,比大海更宽广的是人的胸怀。一位刚实习的护士为女儿扎了三四针都没有扎好，但是母亲并没有愤怒。而是宽容并将心比心得对待护士，这是某篇课文中描述的场景，那是宽容和理解的力量的体现。《三国演义》中的周瑜气量小又善妒，被诸葛亮气的吐血，这是没有宽容和理解导致的结果。宽容和理解是一种心态，他并没有摘星捞月那么难实现，它只是需要我们在生活中换位思考多一点，养成良好的习惯。</a:t>
            </a:r>
            <a:endParaRPr lang="zh-CN" altLang="en-US" sz="2600" b="1">
              <a:sym typeface="+mn-ea"/>
            </a:endParaRPr>
          </a:p>
        </p:txBody>
      </p:sp>
    </p:spTree>
    <p:custDataLst>
      <p:tags r:id="rId2"/>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20955" y="28575"/>
            <a:ext cx="12150090" cy="6800850"/>
          </a:xfrm>
          <a:prstGeom prst="rect">
            <a:avLst/>
          </a:prstGeom>
        </p:spPr>
      </p:pic>
      <p:sp>
        <p:nvSpPr>
          <p:cNvPr id="2" name="矩形 1"/>
          <p:cNvSpPr/>
          <p:nvPr/>
        </p:nvSpPr>
        <p:spPr>
          <a:xfrm>
            <a:off x="5017135" y="27940"/>
            <a:ext cx="1452880" cy="860425"/>
          </a:xfrm>
          <a:prstGeom prst="rect">
            <a:avLst/>
          </a:prstGeom>
          <a:noFill/>
          <a:ln>
            <a:noFill/>
          </a:ln>
        </p:spPr>
        <p:txBody>
          <a:bodyPr wrap="none" rtlCol="0" anchor="t">
            <a:spAutoFit/>
          </a:bodyPr>
          <a:lstStyle/>
          <a:p>
            <a:pPr algn="ctr"/>
            <a:r>
              <a:rPr lang="zh-CN" altLang="en-US" sz="5000" b="1">
                <a:ln w="22225">
                  <a:solidFill>
                    <a:schemeClr val="accent2"/>
                  </a:solidFill>
                  <a:prstDash val="solid"/>
                </a:ln>
                <a:solidFill>
                  <a:schemeClr val="accent2">
                    <a:lumMod val="40000"/>
                    <a:lumOff val="60000"/>
                  </a:schemeClr>
                </a:solidFill>
                <a:effectLst/>
              </a:rPr>
              <a:t>范文</a:t>
            </a:r>
            <a:endParaRPr lang="zh-CN" altLang="en-US" sz="5000" b="1">
              <a:ln w="22225">
                <a:solidFill>
                  <a:schemeClr val="accent2"/>
                </a:solidFill>
                <a:prstDash val="solid"/>
              </a:ln>
              <a:solidFill>
                <a:schemeClr val="accent2">
                  <a:lumMod val="40000"/>
                  <a:lumOff val="60000"/>
                </a:schemeClr>
              </a:solidFill>
              <a:effectLst/>
            </a:endParaRPr>
          </a:p>
        </p:txBody>
      </p:sp>
      <p:sp>
        <p:nvSpPr>
          <p:cNvPr id="3" name="文本框 2"/>
          <p:cNvSpPr txBox="1"/>
          <p:nvPr/>
        </p:nvSpPr>
        <p:spPr>
          <a:xfrm>
            <a:off x="130810" y="888365"/>
            <a:ext cx="11894185" cy="6000750"/>
          </a:xfrm>
          <a:prstGeom prst="rect">
            <a:avLst/>
          </a:prstGeom>
          <a:noFill/>
        </p:spPr>
        <p:txBody>
          <a:bodyPr wrap="square" rtlCol="0">
            <a:spAutoFit/>
          </a:bodyPr>
          <a:lstStyle/>
          <a:p>
            <a:pPr lvl="0" algn="l">
              <a:buClrTx/>
              <a:buSzTx/>
              <a:buFontTx/>
            </a:pPr>
            <a:r>
              <a:rPr lang="en-US" altLang="zh-CN" sz="2400" b="1">
                <a:sym typeface="+mn-ea"/>
              </a:rPr>
              <a:t>       </a:t>
            </a:r>
            <a:r>
              <a:rPr lang="zh-CN" altLang="en-US" sz="2400" b="1">
                <a:sym typeface="+mn-ea"/>
              </a:rPr>
              <a:t>心存关爱，必要时给予他人。这是我们行动实施计划，是我们在荒原上植树栽花的行动之始。俗语有云:”赠人玫瑰，手有余香”。关爱他人，也会让人心中升起一阵温暖，正如那位给王师傅温暖纸条的中学生。我们的关爱对象不仅有人还要有动物。随着虐猫虐狗等虐待动物事件的频发，我们应该将此重视起来。有一些在拍鸟时，为了获取自己想要的画面而扔鸟，鸟儿吓得是振翅而逃，但那些人却欣喜自己拍到的”美丽的画面”。这是没有关爱的表现，之中时间必须要由我们来制止。</a:t>
            </a:r>
            <a:endParaRPr lang="zh-CN" altLang="en-US" sz="2400" b="1">
              <a:sym typeface="+mn-ea"/>
            </a:endParaRPr>
          </a:p>
          <a:p>
            <a:pPr lvl="0" algn="l">
              <a:buClrTx/>
              <a:buSzTx/>
              <a:buFontTx/>
            </a:pPr>
            <a:r>
              <a:rPr lang="zh-CN" altLang="en-US" sz="2400" b="1">
                <a:sym typeface="+mn-ea"/>
              </a:rPr>
              <a:t>       主动怀抱温暖，不去伤害别人。这是我们保护我们成果的措施。荒原已不再是荒原，它有鸟语花香，有树静蝉躁，有鱼儿游水嬉戏，还有鸟儿飞翔。动物毛皮象牙买卖和盗版盛行行为，在我们的主动拒绝下，一定有”没有买卖就没有杀害”的实现，一定有盗版无人在买的实现。</a:t>
            </a:r>
            <a:endParaRPr lang="zh-CN" altLang="en-US" sz="2400" b="1">
              <a:sym typeface="+mn-ea"/>
            </a:endParaRPr>
          </a:p>
          <a:p>
            <a:pPr lvl="0" algn="l">
              <a:buClrTx/>
              <a:buSzTx/>
              <a:buFontTx/>
            </a:pPr>
            <a:r>
              <a:rPr lang="zh-CN" altLang="en-US" sz="2400" b="1">
                <a:sym typeface="+mn-ea"/>
              </a:rPr>
              <a:t>       我希望这世界没有一片心灵是一处荒原，人人都会去怀抱温暖，我希望大家可以心怀宽容之心待人，以关爱之心温暖人与动物，并且主动拒绝不良行为。</a:t>
            </a:r>
            <a:endParaRPr lang="zh-CN" altLang="en-US" sz="2400" b="1">
              <a:sym typeface="+mn-ea"/>
            </a:endParaRPr>
          </a:p>
          <a:p>
            <a:pPr lvl="0" algn="l">
              <a:buClrTx/>
              <a:buSzTx/>
              <a:buFontTx/>
            </a:pPr>
            <a:r>
              <a:rPr lang="zh-CN" altLang="en-US" sz="2400" b="1">
                <a:sym typeface="+mn-ea"/>
              </a:rPr>
              <a:t>       希望大家可以怀抱温暖，让这世间再无荒原，希望大家考虑我的建议并采纳我的观点，   谢谢!</a:t>
            </a:r>
            <a:endParaRPr lang="zh-CN" altLang="en-US" sz="2400" b="1">
              <a:sym typeface="+mn-ea"/>
            </a:endParaRPr>
          </a:p>
          <a:p>
            <a:pPr lvl="0" algn="r">
              <a:buClrTx/>
              <a:buSzTx/>
              <a:buFontTx/>
            </a:pPr>
            <a:r>
              <a:rPr lang="zh-CN" altLang="en-US" sz="2400" b="1">
                <a:sym typeface="+mn-ea"/>
              </a:rPr>
              <a:t>倡议人：理智中学学生</a:t>
            </a:r>
            <a:endParaRPr lang="zh-CN" altLang="en-US" sz="2400" b="1">
              <a:sym typeface="+mn-ea"/>
            </a:endParaRPr>
          </a:p>
          <a:p>
            <a:pPr lvl="0" algn="r">
              <a:buClrTx/>
              <a:buSzTx/>
              <a:buFontTx/>
            </a:pPr>
            <a:r>
              <a:rPr lang="zh-CN" altLang="en-US" sz="2400" b="1">
                <a:sym typeface="+mn-ea"/>
              </a:rPr>
              <a:t>Xx年xx月xx日</a:t>
            </a:r>
            <a:endParaRPr lang="zh-CN" altLang="en-US" sz="2400" b="1">
              <a:sym typeface="+mn-ea"/>
            </a:endParaRPr>
          </a:p>
        </p:txBody>
      </p:sp>
    </p:spTree>
    <p:custDataLst>
      <p:tags r:id="rId2"/>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20955" y="28575"/>
            <a:ext cx="12150090" cy="6800850"/>
          </a:xfrm>
          <a:prstGeom prst="rect">
            <a:avLst/>
          </a:prstGeom>
        </p:spPr>
      </p:pic>
      <p:sp>
        <p:nvSpPr>
          <p:cNvPr id="2" name="矩形 1"/>
          <p:cNvSpPr/>
          <p:nvPr/>
        </p:nvSpPr>
        <p:spPr>
          <a:xfrm>
            <a:off x="5017135" y="27940"/>
            <a:ext cx="1452880" cy="860425"/>
          </a:xfrm>
          <a:prstGeom prst="rect">
            <a:avLst/>
          </a:prstGeom>
          <a:noFill/>
          <a:ln>
            <a:noFill/>
          </a:ln>
        </p:spPr>
        <p:txBody>
          <a:bodyPr wrap="none" rtlCol="0" anchor="t">
            <a:spAutoFit/>
          </a:bodyPr>
          <a:lstStyle/>
          <a:p>
            <a:pPr algn="ctr"/>
            <a:r>
              <a:rPr lang="zh-CN" altLang="en-US" sz="5000" b="1">
                <a:ln w="22225">
                  <a:solidFill>
                    <a:schemeClr val="accent2"/>
                  </a:solidFill>
                  <a:prstDash val="solid"/>
                </a:ln>
                <a:solidFill>
                  <a:schemeClr val="accent2">
                    <a:lumMod val="40000"/>
                    <a:lumOff val="60000"/>
                  </a:schemeClr>
                </a:solidFill>
                <a:effectLst/>
              </a:rPr>
              <a:t>范文</a:t>
            </a:r>
            <a:endParaRPr lang="zh-CN" altLang="en-US" sz="5000" b="1">
              <a:ln w="22225">
                <a:solidFill>
                  <a:schemeClr val="accent2"/>
                </a:solidFill>
                <a:prstDash val="solid"/>
              </a:ln>
              <a:solidFill>
                <a:schemeClr val="accent2">
                  <a:lumMod val="40000"/>
                  <a:lumOff val="60000"/>
                </a:schemeClr>
              </a:solidFill>
              <a:effectLst/>
            </a:endParaRPr>
          </a:p>
        </p:txBody>
      </p:sp>
      <p:sp>
        <p:nvSpPr>
          <p:cNvPr id="3" name="文本框 2"/>
          <p:cNvSpPr txBox="1"/>
          <p:nvPr/>
        </p:nvSpPr>
        <p:spPr>
          <a:xfrm>
            <a:off x="158115" y="1015365"/>
            <a:ext cx="11725910" cy="4707890"/>
          </a:xfrm>
          <a:prstGeom prst="rect">
            <a:avLst/>
          </a:prstGeom>
          <a:noFill/>
        </p:spPr>
        <p:txBody>
          <a:bodyPr wrap="square" rtlCol="0">
            <a:spAutoFit/>
          </a:bodyPr>
          <a:lstStyle/>
          <a:p>
            <a:pPr lvl="0" algn="ctr">
              <a:buClrTx/>
              <a:buSzTx/>
              <a:buFontTx/>
            </a:pPr>
            <a:r>
              <a:rPr lang="zh-CN" altLang="en-US" sz="3000" b="1">
                <a:sym typeface="+mn-ea"/>
              </a:rPr>
              <a:t>心存善念，感动善行</a:t>
            </a:r>
            <a:endParaRPr lang="zh-CN" altLang="en-US" sz="3000" b="1">
              <a:sym typeface="+mn-ea"/>
            </a:endParaRPr>
          </a:p>
          <a:p>
            <a:pPr lvl="0" algn="l">
              <a:buClrTx/>
              <a:buSzTx/>
              <a:buFontTx/>
            </a:pPr>
            <a:r>
              <a:rPr lang="zh-CN" altLang="en-US" sz="3000" b="1">
                <a:sym typeface="+mn-ea"/>
              </a:rPr>
              <a:t>理智中学的同学们：</a:t>
            </a:r>
            <a:endParaRPr lang="zh-CN" altLang="en-US" sz="3000" b="1">
              <a:sym typeface="+mn-ea"/>
            </a:endParaRPr>
          </a:p>
          <a:p>
            <a:pPr lvl="0" algn="l">
              <a:buClrTx/>
              <a:buSzTx/>
              <a:buFontTx/>
            </a:pPr>
            <a:r>
              <a:rPr lang="zh-CN" altLang="en-US" sz="3000" b="1">
                <a:sym typeface="+mn-ea"/>
              </a:rPr>
              <a:t>       大家好，今天我要发出的倡议是：“理解温暖社会，其中必定有我”希望大家都能够“心存善念，感动善行”</a:t>
            </a:r>
            <a:endParaRPr lang="zh-CN" altLang="en-US" sz="3000" b="1">
              <a:sym typeface="+mn-ea"/>
            </a:endParaRPr>
          </a:p>
          <a:p>
            <a:pPr lvl="0" algn="l">
              <a:buClrTx/>
              <a:buSzTx/>
              <a:buFontTx/>
            </a:pPr>
            <a:r>
              <a:rPr lang="zh-CN" altLang="en-US" sz="3000" b="1">
                <a:sym typeface="+mn-ea"/>
              </a:rPr>
              <a:t>       日本作家东野圭吾说过：“我们都是社会这个时钟里的齿轮”要想社会秩序有条不紊每个齿轮都该相互磨合。反观南京33路公交车上的男性乘客：“得理不饶人，无理闹三分”的执拗心态，中学生的一张小字条无疑如春风化雨般滋润了王师傅的心，也感动了我们大家的心。因此，我们都应该向那名心存善念的中学生学习。</a:t>
            </a:r>
            <a:endParaRPr lang="zh-CN" altLang="en-US" sz="3000" b="1">
              <a:sym typeface="+mn-ea"/>
            </a:endParaRPr>
          </a:p>
          <a:p>
            <a:pPr lvl="0" algn="l">
              <a:buClrTx/>
              <a:buSzTx/>
              <a:buFontTx/>
            </a:pPr>
            <a:r>
              <a:rPr lang="zh-CN" altLang="en-US" sz="3000" b="1">
                <a:sym typeface="+mn-ea"/>
              </a:rPr>
              <a:t>       理解温暖社会，是我们时代新人应有之品格。</a:t>
            </a:r>
            <a:endParaRPr lang="zh-CN" altLang="en-US" sz="3000" b="1">
              <a:sym typeface="+mn-ea"/>
            </a:endParaRPr>
          </a:p>
        </p:txBody>
      </p:sp>
    </p:spTree>
    <p:custDataLst>
      <p:tags r:id="rId2"/>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20955" y="28575"/>
            <a:ext cx="12150090" cy="6800850"/>
          </a:xfrm>
          <a:prstGeom prst="rect">
            <a:avLst/>
          </a:prstGeom>
        </p:spPr>
      </p:pic>
      <p:sp>
        <p:nvSpPr>
          <p:cNvPr id="2" name="矩形 1"/>
          <p:cNvSpPr/>
          <p:nvPr/>
        </p:nvSpPr>
        <p:spPr>
          <a:xfrm>
            <a:off x="5017135" y="27940"/>
            <a:ext cx="1452880" cy="860425"/>
          </a:xfrm>
          <a:prstGeom prst="rect">
            <a:avLst/>
          </a:prstGeom>
          <a:noFill/>
          <a:ln>
            <a:noFill/>
          </a:ln>
        </p:spPr>
        <p:txBody>
          <a:bodyPr wrap="none" rtlCol="0" anchor="t">
            <a:spAutoFit/>
          </a:bodyPr>
          <a:lstStyle/>
          <a:p>
            <a:pPr algn="ctr"/>
            <a:r>
              <a:rPr lang="zh-CN" altLang="en-US" sz="5000" b="1">
                <a:ln w="22225">
                  <a:solidFill>
                    <a:schemeClr val="accent2"/>
                  </a:solidFill>
                  <a:prstDash val="solid"/>
                </a:ln>
                <a:solidFill>
                  <a:schemeClr val="accent2">
                    <a:lumMod val="40000"/>
                    <a:lumOff val="60000"/>
                  </a:schemeClr>
                </a:solidFill>
                <a:effectLst/>
              </a:rPr>
              <a:t>范文</a:t>
            </a:r>
            <a:endParaRPr lang="zh-CN" altLang="en-US" sz="5000" b="1">
              <a:ln w="22225">
                <a:solidFill>
                  <a:schemeClr val="accent2"/>
                </a:solidFill>
                <a:prstDash val="solid"/>
              </a:ln>
              <a:solidFill>
                <a:schemeClr val="accent2">
                  <a:lumMod val="40000"/>
                  <a:lumOff val="60000"/>
                </a:schemeClr>
              </a:solidFill>
              <a:effectLst/>
            </a:endParaRPr>
          </a:p>
        </p:txBody>
      </p:sp>
      <p:sp>
        <p:nvSpPr>
          <p:cNvPr id="3" name="文本框 2"/>
          <p:cNvSpPr txBox="1"/>
          <p:nvPr/>
        </p:nvSpPr>
        <p:spPr>
          <a:xfrm>
            <a:off x="158750" y="1085850"/>
            <a:ext cx="11824335" cy="5169535"/>
          </a:xfrm>
          <a:prstGeom prst="rect">
            <a:avLst/>
          </a:prstGeom>
          <a:noFill/>
        </p:spPr>
        <p:txBody>
          <a:bodyPr wrap="square" rtlCol="0">
            <a:spAutoFit/>
          </a:bodyPr>
          <a:lstStyle/>
          <a:p>
            <a:pPr lvl="0" algn="l">
              <a:buClrTx/>
              <a:buSzTx/>
              <a:buFontTx/>
            </a:pPr>
            <a:r>
              <a:rPr lang="en-US" altLang="zh-CN" sz="3000" b="1">
                <a:sym typeface="+mn-ea"/>
              </a:rPr>
              <a:t>        </a:t>
            </a:r>
            <a:r>
              <a:rPr lang="zh-CN" altLang="en-US" sz="3000" b="1">
                <a:sym typeface="+mn-ea"/>
              </a:rPr>
              <a:t>习近平总书记曾这样勉励青年人：“要做担当复兴民族大任的时代新人”这就要求我们要心怀礼仁，理解温暖社会。北大女生王心仪在考上自己理想的大学后，写文章《感谢贫穷》。其中不乏对他人默默无闻地帮助的善意之行的理解;哲学家罗丹曾说：“这个世界从不缺乏美，只是缺乏发现美的眼睛。”而我要说：“同学们，这个社会从不缺少温暖，只是缺少理解温暖的心。”理解温暖，不需要你我轰轰烈烈地大干一场，理解温暖就存在于我们身边一点一滴的小事中;当你在夜深人静回到宿舍中，看到宿管阿姨为你在门口留下的一盏小桔灯，桔黄色的灯光温暖着你疲惫的心;当你在接受他人对自己的服务时，能够说上一句谢谢……这个社会的温暖并不遥远。</a:t>
            </a:r>
            <a:endParaRPr lang="zh-CN" altLang="en-US" sz="3000" b="1">
              <a:sym typeface="+mn-ea"/>
            </a:endParaRPr>
          </a:p>
          <a:p>
            <a:pPr lvl="0" algn="l">
              <a:buClrTx/>
              <a:buSzTx/>
              <a:buFontTx/>
            </a:pPr>
            <a:r>
              <a:rPr lang="zh-CN" altLang="en-US" sz="3000" b="1">
                <a:sym typeface="+mn-ea"/>
              </a:rPr>
              <a:t>       善意之举，是我们社会消弭矛盾之润合剂。</a:t>
            </a:r>
            <a:endParaRPr lang="zh-CN" altLang="en-US" sz="3000" b="1">
              <a:sym typeface="+mn-ea"/>
            </a:endParaRPr>
          </a:p>
        </p:txBody>
      </p:sp>
    </p:spTree>
    <p:custDataLst>
      <p:tags r:id="rId2"/>
    </p:custData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20955" y="28575"/>
            <a:ext cx="12150090" cy="6800850"/>
          </a:xfrm>
          <a:prstGeom prst="rect">
            <a:avLst/>
          </a:prstGeom>
        </p:spPr>
      </p:pic>
      <p:sp>
        <p:nvSpPr>
          <p:cNvPr id="2" name="矩形 1"/>
          <p:cNvSpPr/>
          <p:nvPr/>
        </p:nvSpPr>
        <p:spPr>
          <a:xfrm>
            <a:off x="5017135" y="27940"/>
            <a:ext cx="1452880" cy="860425"/>
          </a:xfrm>
          <a:prstGeom prst="rect">
            <a:avLst/>
          </a:prstGeom>
          <a:noFill/>
          <a:ln>
            <a:noFill/>
          </a:ln>
        </p:spPr>
        <p:txBody>
          <a:bodyPr wrap="none" rtlCol="0" anchor="t">
            <a:spAutoFit/>
          </a:bodyPr>
          <a:lstStyle/>
          <a:p>
            <a:pPr algn="ctr"/>
            <a:r>
              <a:rPr lang="zh-CN" altLang="en-US" sz="5000" b="1">
                <a:ln w="22225">
                  <a:solidFill>
                    <a:schemeClr val="accent2"/>
                  </a:solidFill>
                  <a:prstDash val="solid"/>
                </a:ln>
                <a:solidFill>
                  <a:schemeClr val="accent2">
                    <a:lumMod val="40000"/>
                    <a:lumOff val="60000"/>
                  </a:schemeClr>
                </a:solidFill>
                <a:effectLst/>
              </a:rPr>
              <a:t>范文</a:t>
            </a:r>
            <a:endParaRPr lang="zh-CN" altLang="en-US" sz="5000" b="1">
              <a:ln w="22225">
                <a:solidFill>
                  <a:schemeClr val="accent2"/>
                </a:solidFill>
                <a:prstDash val="solid"/>
              </a:ln>
              <a:solidFill>
                <a:schemeClr val="accent2">
                  <a:lumMod val="40000"/>
                  <a:lumOff val="60000"/>
                </a:schemeClr>
              </a:solidFill>
              <a:effectLst/>
            </a:endParaRPr>
          </a:p>
        </p:txBody>
      </p:sp>
      <p:sp>
        <p:nvSpPr>
          <p:cNvPr id="3" name="文本框 2"/>
          <p:cNvSpPr txBox="1"/>
          <p:nvPr/>
        </p:nvSpPr>
        <p:spPr>
          <a:xfrm>
            <a:off x="116205" y="890270"/>
            <a:ext cx="11880850" cy="5908040"/>
          </a:xfrm>
          <a:prstGeom prst="rect">
            <a:avLst/>
          </a:prstGeom>
          <a:noFill/>
        </p:spPr>
        <p:txBody>
          <a:bodyPr wrap="square" rtlCol="0">
            <a:spAutoFit/>
          </a:bodyPr>
          <a:lstStyle/>
          <a:p>
            <a:pPr lvl="0" algn="l">
              <a:buClrTx/>
              <a:buSzTx/>
              <a:buFontTx/>
            </a:pPr>
            <a:r>
              <a:rPr lang="en-US" altLang="zh-CN" sz="2100" b="1">
                <a:sym typeface="+mn-ea"/>
              </a:rPr>
              <a:t>        </a:t>
            </a:r>
            <a:r>
              <a:rPr lang="zh-CN" altLang="en-US" sz="2100" b="1">
                <a:sym typeface="+mn-ea"/>
              </a:rPr>
              <a:t>电影奇迹男孩《奇迹男孩》中曾说：“当你必须在正义与善良中做出选择时，请选择善良。”中学生的一个小善举却让多年的老司机热泪盈眶，这足以说明善良之力量。票房口碑《我不是药神》中的程勇，为了使艾滋病人有活下去的希望，甘愿冒着被抓的风险为病人走私廉价药，在电影的最后，当街道两旁无数艾滋病患者纷纷摘下口罩为程勇送行时，善良，这一人性的力量让无数中国人热泪盈眶。在社会主义新时代，为了建设祖国更美好的明天，我们都应该用自己的善良去弥合那一个个被罪恶撕扯的伤口。</a:t>
            </a:r>
            <a:endParaRPr lang="zh-CN" altLang="en-US" sz="2100" b="1">
              <a:sym typeface="+mn-ea"/>
            </a:endParaRPr>
          </a:p>
          <a:p>
            <a:pPr lvl="0" algn="l">
              <a:buClrTx/>
              <a:buSzTx/>
              <a:buFontTx/>
            </a:pPr>
            <a:r>
              <a:rPr lang="zh-CN" altLang="en-US" sz="2100" b="1">
                <a:sym typeface="+mn-ea"/>
              </a:rPr>
              <a:t>       众人拾柴火焰高，温暖社会，需要我们共同建设。</a:t>
            </a:r>
            <a:endParaRPr lang="zh-CN" altLang="en-US" sz="2100" b="1">
              <a:sym typeface="+mn-ea"/>
            </a:endParaRPr>
          </a:p>
          <a:p>
            <a:pPr lvl="0" algn="l">
              <a:buClrTx/>
              <a:buSzTx/>
              <a:buFontTx/>
            </a:pPr>
            <a:r>
              <a:rPr lang="zh-CN" altLang="en-US" sz="2100" b="1">
                <a:sym typeface="+mn-ea"/>
              </a:rPr>
              <a:t>       合抱之木，生于毫末，九层之台，起于累土。身为社会的一份子，我们每个人都应该成为温暖社会的发展添砖加瓦。法国哲学家柯思说过：“一个人做好的作品，就是他自己”因此，我们应该从自己做起。然而，在这个“天下熙熙皆为利来;天下攘攘皆为利往”的社会，不少人在喧哗之中迷失了自我，丧失了温暖的品格，从高铁霸座还理直气壮冲撞民警到女子只身拦截高铁等丈夫导致高铁晚点……不善之行屡见不鲜。雪崩的时候，每一片雪花都有责任，希望同学们能够团结起来，共建温暖社会。</a:t>
            </a:r>
            <a:endParaRPr lang="zh-CN" altLang="en-US" sz="2100" b="1">
              <a:sym typeface="+mn-ea"/>
            </a:endParaRPr>
          </a:p>
          <a:p>
            <a:pPr lvl="0" algn="l">
              <a:buClrTx/>
              <a:buSzTx/>
              <a:buFontTx/>
            </a:pPr>
            <a:r>
              <a:rPr lang="zh-CN" altLang="en-US" sz="2100" b="1">
                <a:sym typeface="+mn-ea"/>
              </a:rPr>
              <a:t>       电影《无问西东》中曾说：“这个世界从来不缺完美的人，缺的是内心的真实，善良，正义，与同情。希望新时代的你我都能“理解温暖社会”，无问西东。</a:t>
            </a:r>
            <a:endParaRPr lang="zh-CN" altLang="en-US" sz="2100" b="1">
              <a:sym typeface="+mn-ea"/>
            </a:endParaRPr>
          </a:p>
          <a:p>
            <a:pPr lvl="0" algn="l">
              <a:buClrTx/>
              <a:buSzTx/>
              <a:buFontTx/>
            </a:pPr>
            <a:r>
              <a:rPr lang="zh-CN" altLang="en-US" sz="2100" b="1">
                <a:sym typeface="+mn-ea"/>
              </a:rPr>
              <a:t>      我的倡议完毕，谢谢大家！</a:t>
            </a:r>
            <a:endParaRPr lang="zh-CN" altLang="en-US" sz="2100" b="1">
              <a:sym typeface="+mn-ea"/>
            </a:endParaRPr>
          </a:p>
          <a:p>
            <a:pPr lvl="0" algn="r">
              <a:buClrTx/>
              <a:buSzTx/>
              <a:buFontTx/>
            </a:pPr>
            <a:r>
              <a:rPr lang="zh-CN" altLang="en-US" sz="2100" b="1">
                <a:sym typeface="+mn-ea"/>
              </a:rPr>
              <a:t>倡议人：理智中学学生</a:t>
            </a:r>
            <a:endParaRPr lang="zh-CN" altLang="en-US" sz="2100" b="1">
              <a:sym typeface="+mn-ea"/>
            </a:endParaRPr>
          </a:p>
          <a:p>
            <a:pPr lvl="0" algn="r">
              <a:buClrTx/>
              <a:buSzTx/>
              <a:buFontTx/>
            </a:pPr>
            <a:r>
              <a:rPr lang="zh-CN" altLang="en-US" sz="2100" b="1">
                <a:sym typeface="+mn-ea"/>
              </a:rPr>
              <a:t>Xx年xx月xx日</a:t>
            </a:r>
            <a:endParaRPr lang="zh-CN" altLang="en-US" sz="2100" b="1">
              <a:sym typeface="+mn-ea"/>
            </a:endParaRPr>
          </a:p>
        </p:txBody>
      </p:sp>
    </p:spTree>
    <p:custDataLst>
      <p:tags r:id="rId2"/>
    </p:custData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2" y="247850"/>
            <a:ext cx="10852237" cy="648000"/>
          </a:xfrm>
        </p:spPr>
        <p:txBody>
          <a:bodyPr/>
          <a:lstStyle/>
          <a:p>
            <a:pPr algn="ctr"/>
            <a:r>
              <a:rPr altLang="zh-CN">
                <a:solidFill>
                  <a:srgbClr val="FF0000"/>
                </a:solidFill>
              </a:rPr>
              <a:t>新题训练（</a:t>
            </a:r>
            <a:r>
              <a:rPr>
                <a:solidFill>
                  <a:srgbClr val="FF0000"/>
                </a:solidFill>
                <a:effectLst>
                  <a:outerShdw blurRad="38100" dist="38100" dir="2700000" algn="tl">
                    <a:srgbClr val="000000">
                      <a:alpha val="43137"/>
                    </a:srgbClr>
                  </a:outerShdw>
                </a:effectLst>
                <a:sym typeface="+mn-ea"/>
              </a:rPr>
              <a:t>俭以养德，时代弦歌）</a:t>
            </a:r>
            <a:br>
              <a:rPr lang="zh-CN" altLang="en-US" b="1">
                <a:effectLst>
                  <a:outerShdw blurRad="38100" dist="38100" dir="2700000" algn="tl">
                    <a:srgbClr val="000000">
                      <a:alpha val="43137"/>
                    </a:srgbClr>
                  </a:outerShdw>
                </a:effectLst>
              </a:rPr>
            </a:br>
            <a:endParaRPr lang="zh-CN" altLang="en-US" b="1">
              <a:effectLst>
                <a:outerShdw blurRad="38100" dist="38100" dir="2700000" algn="tl">
                  <a:srgbClr val="000000">
                    <a:alpha val="43137"/>
                  </a:srgbClr>
                </a:outerShdw>
              </a:effectLst>
            </a:endParaRPr>
          </a:p>
        </p:txBody>
      </p:sp>
      <p:sp>
        <p:nvSpPr>
          <p:cNvPr id="3" name="内容占位符 2"/>
          <p:cNvSpPr>
            <a:spLocks noGrp="1"/>
          </p:cNvSpPr>
          <p:nvPr>
            <p:ph idx="1"/>
          </p:nvPr>
        </p:nvSpPr>
        <p:spPr/>
        <p:txBody>
          <a:bodyPr/>
          <a:lstStyle/>
          <a:p>
            <a:pPr marL="0" indent="0">
              <a:buNone/>
            </a:pPr>
            <a:r>
              <a:rPr lang="zh-CN" altLang="en-US" sz="1800" b="1">
                <a:effectLst>
                  <a:outerShdw blurRad="38100" dist="38100" dir="2700000" algn="tl">
                    <a:srgbClr val="000000">
                      <a:alpha val="43137"/>
                    </a:srgbClr>
                  </a:outerShdw>
                </a:effectLst>
              </a:rPr>
              <a:t>阅读下面的材料，根据要求写作。</a:t>
            </a:r>
            <a:endParaRPr lang="zh-CN" altLang="en-US" sz="1800" b="1">
              <a:effectLst>
                <a:outerShdw blurRad="38100" dist="38100" dir="2700000" algn="tl">
                  <a:srgbClr val="000000">
                    <a:alpha val="43137"/>
                  </a:srgbClr>
                </a:outerShdw>
              </a:effectLst>
            </a:endParaRPr>
          </a:p>
          <a:p>
            <a:pPr marL="0" indent="0">
              <a:buNone/>
            </a:pPr>
            <a:r>
              <a:rPr lang="zh-CN" altLang="en-US" sz="1800" b="1">
                <a:effectLst>
                  <a:outerShdw blurRad="38100" dist="38100" dir="2700000" algn="tl">
                    <a:srgbClr val="000000">
                      <a:alpha val="43137"/>
                    </a:srgbClr>
                  </a:outerShdw>
                </a:effectLst>
              </a:rPr>
              <a:t>   “俭，德之共也；侈，恶之大也。”节俭是一种德行，奢侈是一种恶行。“俭以养德”，通过节俭的生活来培养道德品质，是自古至今都被倡导的人生之道。古人认为俭有四利：养德、养寿、养神、养气。可是现实生活中，有一些同学不认同节俭生活，不愿意节俭。有的说：“过去中国穷，所以提倡节俭，现在国家富裕了，还节俭啥？”有的说：“我花自己家的钱，想怎么花就怎么花，碍别人啥事了？”也有的说：“根据经济学原理，消费促进经济发展，提倡节俭岂不是打击经济？”此外，我们身边确实有一些生活奢侈的现象。这引起了人们的深思。</a:t>
            </a:r>
            <a:endParaRPr lang="zh-CN" altLang="en-US" sz="1800" b="1">
              <a:effectLst>
                <a:outerShdw blurRad="38100" dist="38100" dir="2700000" algn="tl">
                  <a:srgbClr val="000000">
                    <a:alpha val="43137"/>
                  </a:srgbClr>
                </a:outerShdw>
              </a:effectLst>
            </a:endParaRPr>
          </a:p>
          <a:p>
            <a:pPr marL="0" indent="0">
              <a:buNone/>
            </a:pPr>
            <a:r>
              <a:rPr lang="zh-CN" altLang="en-US" sz="1800" b="1">
                <a:effectLst>
                  <a:outerShdw blurRad="38100" dist="38100" dir="2700000" algn="tl">
                    <a:srgbClr val="000000">
                      <a:alpha val="43137"/>
                    </a:srgbClr>
                  </a:outerShdw>
                </a:effectLst>
              </a:rPr>
              <a:t>     请结合材料内容，面向本校（统称“国庆中学”）同学写一篇</a:t>
            </a:r>
            <a:r>
              <a:rPr sz="1800" b="1">
                <a:effectLst>
                  <a:outerShdw blurRad="38100" dist="38100" dir="2700000" algn="tl">
                    <a:srgbClr val="000000">
                      <a:alpha val="43137"/>
                    </a:srgbClr>
                  </a:outerShdw>
                </a:effectLst>
                <a:sym typeface="+mn-ea"/>
              </a:rPr>
              <a:t>倡议书</a:t>
            </a:r>
            <a:r>
              <a:rPr lang="zh-CN" altLang="en-US" sz="1800" b="1">
                <a:effectLst>
                  <a:outerShdw blurRad="38100" dist="38100" dir="2700000" algn="tl">
                    <a:srgbClr val="000000">
                      <a:alpha val="43137"/>
                    </a:srgbClr>
                  </a:outerShdw>
                </a:effectLst>
              </a:rPr>
              <a:t>，倡议大家“新的时代，仍要节俭”，体现你的认识与思考，并提出希望与建议。</a:t>
            </a:r>
            <a:endParaRPr lang="zh-CN" altLang="en-US" sz="1800" b="1">
              <a:effectLst>
                <a:outerShdw blurRad="38100" dist="38100" dir="2700000" algn="tl">
                  <a:srgbClr val="000000">
                    <a:alpha val="43137"/>
                  </a:srgbClr>
                </a:outerShdw>
              </a:effectLst>
            </a:endParaRPr>
          </a:p>
          <a:p>
            <a:pPr marL="0" indent="0">
              <a:buNone/>
            </a:pPr>
            <a:r>
              <a:rPr lang="zh-CN" altLang="en-US" sz="1800" b="1">
                <a:effectLst>
                  <a:outerShdw blurRad="38100" dist="38100" dir="2700000" algn="tl">
                    <a:srgbClr val="000000">
                      <a:alpha val="43137"/>
                    </a:srgbClr>
                  </a:outerShdw>
                </a:effectLst>
              </a:rPr>
              <a:t>      要求：自拟标题，自选角度，确定立意；不要套作，不得抄袭；不得泄露个人信息；不少于800字。</a:t>
            </a:r>
            <a:endParaRPr lang="zh-CN" altLang="en-US" sz="1800" b="1">
              <a:effectLst>
                <a:outerShdw blurRad="38100" dist="38100" dir="2700000" algn="tl">
                  <a:srgbClr val="000000">
                    <a:alpha val="43137"/>
                  </a:srgbClr>
                </a:outerShdw>
              </a:effectLst>
            </a:endParaRPr>
          </a:p>
        </p:txBody>
      </p:sp>
    </p:spTree>
    <p:custDataLst>
      <p:tags r:id="rId1"/>
    </p:custData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888"/>
          <p:cNvPicPr>
            <a:picLocks noChangeAspect="1"/>
          </p:cNvPicPr>
          <p:nvPr/>
        </p:nvPicPr>
        <p:blipFill>
          <a:blip r:embed="rId1"/>
          <a:stretch>
            <a:fillRect/>
          </a:stretch>
        </p:blipFill>
        <p:spPr>
          <a:xfrm>
            <a:off x="20955" y="28575"/>
            <a:ext cx="12150090" cy="6800850"/>
          </a:xfrm>
          <a:prstGeom prst="rect">
            <a:avLst/>
          </a:prstGeom>
        </p:spPr>
      </p:pic>
      <p:sp>
        <p:nvSpPr>
          <p:cNvPr id="2" name="矩形 1"/>
          <p:cNvSpPr/>
          <p:nvPr/>
        </p:nvSpPr>
        <p:spPr>
          <a:xfrm>
            <a:off x="2307590" y="1616075"/>
            <a:ext cx="7802880" cy="2399665"/>
          </a:xfrm>
          <a:prstGeom prst="rect">
            <a:avLst/>
          </a:prstGeom>
          <a:noFill/>
          <a:ln>
            <a:noFill/>
          </a:ln>
        </p:spPr>
        <p:txBody>
          <a:bodyPr wrap="none" rtlCol="0" anchor="t">
            <a:spAutoFit/>
          </a:bodyPr>
          <a:lstStyle/>
          <a:p>
            <a:pPr algn="ctr"/>
            <a:r>
              <a:rPr lang="zh-CN" altLang="en-US" sz="15000" b="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谢谢指导</a:t>
            </a:r>
            <a:endParaRPr lang="zh-CN" altLang="en-US" sz="15000" b="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Tree>
    <p:custDataLst>
      <p:tags r:id="rId2"/>
    </p:custDataLst>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BEAUTIFY_FLAG" val="#wm#"/>
  <p:tag name="KSO_WM_TEMPLATE_CATEGORY" val="custom"/>
  <p:tag name="KSO_WM_TEMPLATE_INDEX" val="20187308"/>
</p:tagLst>
</file>

<file path=ppt/tags/tag63.xml><?xml version="1.0" encoding="utf-8"?>
<p:tagLst xmlns:p="http://schemas.openxmlformats.org/presentationml/2006/main">
  <p:tag name="KSO_WM_BEAUTIFY_FLAG" val="#wm#"/>
  <p:tag name="KSO_WM_TEMPLATE_CATEGORY" val="custom"/>
  <p:tag name="KSO_WM_TEMPLATE_INDEX" val="20187308"/>
</p:tagLst>
</file>

<file path=ppt/tags/tag64.xml><?xml version="1.0" encoding="utf-8"?>
<p:tagLst xmlns:p="http://schemas.openxmlformats.org/presentationml/2006/main">
  <p:tag name="KSO_WM_BEAUTIFY_FLAG" val="#wm#"/>
  <p:tag name="KSO_WM_TEMPLATE_CATEGORY" val="custom"/>
  <p:tag name="KSO_WM_TEMPLATE_INDEX" val="20187308"/>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8284</Words>
  <Application>WPS 演示</Application>
  <PresentationFormat>自定义</PresentationFormat>
  <Paragraphs>235</Paragraphs>
  <Slides>30</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30</vt:i4>
      </vt:variant>
    </vt:vector>
  </HeadingPairs>
  <TitlesOfParts>
    <vt:vector size="44" baseType="lpstr">
      <vt:lpstr>Arial</vt:lpstr>
      <vt:lpstr>宋体</vt:lpstr>
      <vt:lpstr>Wingdings</vt:lpstr>
      <vt:lpstr>微软雅黑</vt:lpstr>
      <vt:lpstr>华文楷体</vt:lpstr>
      <vt:lpstr>黑体</vt:lpstr>
      <vt:lpstr>Verdana</vt:lpstr>
      <vt:lpstr>楷体_GB2312</vt:lpstr>
      <vt:lpstr>新宋体</vt:lpstr>
      <vt:lpstr>Comic Sans MS</vt:lpstr>
      <vt:lpstr>Gulim</vt:lpstr>
      <vt:lpstr>Arial Unicode MS</vt:lpstr>
      <vt:lpstr>Times New Roman</vt:lpstr>
      <vt:lpstr>Office 主题​​</vt:lpstr>
      <vt:lpstr>PowerPoint 演示文稿</vt:lpstr>
      <vt:lpstr>                         前 言</vt:lpstr>
      <vt:lpstr>[格式]</vt:lpstr>
      <vt:lpstr>[格式]</vt:lpstr>
      <vt:lpstr>[格式]</vt:lpstr>
      <vt:lpstr>[格式]</vt:lpstr>
      <vt:lpstr>PowerPoint 演示文稿</vt:lpstr>
      <vt:lpstr>[格式]</vt:lpstr>
      <vt:lpstr>[格式]</vt:lpstr>
      <vt:lpstr>这份倡议书，在格式上有几处错误，请指出来</vt:lpstr>
      <vt:lpstr>PowerPoint 演示文稿</vt:lpstr>
      <vt:lpstr>平等·善待·和谐 ——向野味说“不”的倡议书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新题训练（俭以养德，时代弦歌）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甘琴慧</dc:creator>
  <cp:lastModifiedBy>Administrator</cp:lastModifiedBy>
  <cp:revision>43</cp:revision>
  <dcterms:created xsi:type="dcterms:W3CDTF">2019-06-19T02:08:00Z</dcterms:created>
  <dcterms:modified xsi:type="dcterms:W3CDTF">2020-08-28T05:15:53Z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2052-11.1.0.9828</vt:lpwstr>
  </property>
</Properties>
</file>
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8" r:id="rId4"/>
    <p:sldId id="269" r:id="rId5"/>
    <p:sldId id="257" r:id="rId6"/>
    <p:sldId id="258" r:id="rId7"/>
    <p:sldId id="259" r:id="rId8"/>
    <p:sldId id="260" r:id="rId9"/>
    <p:sldId id="261" r:id="rId10"/>
    <p:sldId id="270" r:id="rId11"/>
    <p:sldId id="271" r:id="rId12"/>
    <p:sldId id="272" r:id="rId13"/>
    <p:sldId id="273" r:id="rId14"/>
    <p:sldId id="274" r:id="rId15"/>
    <p:sldId id="275" r:id="rId16"/>
    <p:sldId id="262" r:id="rId17"/>
    <p:sldId id="263" r:id="rId18"/>
    <p:sldId id="264" r:id="rId19"/>
    <p:sldId id="265" r:id="rId20"/>
    <p:sldId id="289" r:id="rId21"/>
    <p:sldId id="266" r:id="rId22"/>
    <p:sldId id="294" r:id="rId23"/>
    <p:sldId id="286" r:id="rId24"/>
    <p:sldId id="287" r:id="rId25"/>
    <p:sldId id="288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DD0EB-0EE5-4425-95B0-87399D1737E9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B10CC-314B-4C21-B5D2-31C4C4362F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2910" y="2143116"/>
            <a:ext cx="750099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2020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en-US" b="1" dirty="0">
                <a:solidFill>
                  <a:srgbClr val="FF0000"/>
                </a:solidFill>
              </a:rPr>
              <a:t>2021</a:t>
            </a:r>
            <a:r>
              <a:rPr lang="zh-CN" altLang="en-US" b="1" dirty="0">
                <a:solidFill>
                  <a:srgbClr val="FF0000"/>
                </a:solidFill>
              </a:rPr>
              <a:t>学年第一学期暑期调研试题</a:t>
            </a:r>
            <a:r>
              <a:rPr lang="zh-CN" altLang="en-US" dirty="0">
                <a:solidFill>
                  <a:srgbClr val="FF0000"/>
                </a:solidFill>
              </a:rPr>
              <a:t/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zh-CN" altLang="en-US" b="1" dirty="0">
                <a:solidFill>
                  <a:srgbClr val="FF0000"/>
                </a:solidFill>
              </a:rPr>
              <a:t>高三语文参考答案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 fontScale="92500" lnSpcReduction="20000"/>
          </a:bodyPr>
          <a:lstStyle/>
          <a:p>
            <a:pPr fontAlgn="ctr"/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本题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考查理解分析文章内容的能力。解答这类题目，应先认真阅读文本，理解作者观点，再根据选项确定原文信息所在的位置，然后将选项和原文进行比较，并结合上下文语境进行判断。</a:t>
            </a:r>
          </a:p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项，标志着中国自主建设、独立运行的全球卫星导航系统已全面建成。</a:t>
            </a:r>
          </a:p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C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项，“充分说明了国际间合作共享是多么的重要”于文应是“充分说明了自主创新是多么的重要”。</a:t>
            </a:r>
          </a:p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D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项，“从此积极推动国际交流与合作，促进全球卫星导航事业蓬勃发展”错误，原文“中国将一如既往地积极推动国际交流与合作，促进全球卫星导航事业蓬勃发展”。</a:t>
            </a:r>
          </a:p>
          <a:p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2.D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项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，以偏概全。“是中国实施改革开放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40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余年来取得的最为重要的成就”错误，原文是“是中国实施改革开放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40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余年来取得的重要成就之一”。</a:t>
            </a:r>
          </a:p>
          <a:p>
            <a:pPr fontAlgn="ctr">
              <a:buNone/>
            </a:pP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   </a:t>
            </a:r>
            <a:r>
              <a:rPr lang="en-US" altLang="zh-CN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3.C</a:t>
            </a: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C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项，属于渐进性原则。答案在材料二结尾。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ctr"/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4. 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①自主创新，②开放融合，③万众一心，④追求卓越。（一点一分，意思对即可）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 </a:t>
            </a:r>
            <a:endParaRPr lang="zh-CN" altLang="en-US" b="1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5.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①建设世界一流的卫星导航系统，满足国家安全与经济社会发展需求，为全球用户提供连续、稳定、可靠的服务；②发展北斗产业，服务经济社会发展和民生改善；③深化国际合作，共享卫星导航发展成果，提高全球卫星导航系统的综合应用效益。（一点两分，意思对即可）</a:t>
            </a:r>
          </a:p>
          <a:p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6.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参考答案 ：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D 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欢愉是欧阳修的心境，寂寞是杜甫的心境，两者并非作者游历时的心境。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7.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参考答案：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C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无正侧结合，有远近、动静或点面结合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8.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参考答案：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鸥鸟是雨湖的典型物象（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分）。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作者将游历西湖时见到的鸥鸟与欧阳修艳阳下的沙禽、杜甫星月下的沙鸥进行比较，突出了同一景物在不同意境中有不同的情感依托（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分）；从而引出作者对鸥鸟这一千年延续的恒久生命力量的感动（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分）；写欧阳修和杜甫笔下的鸥鸟是为自己的议论做铺垫（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分）；通过联想丰富了散文的文化内涵（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分）。（任意四点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4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71480"/>
            <a:ext cx="8229600" cy="4525963"/>
          </a:xfrm>
        </p:spPr>
        <p:txBody>
          <a:bodyPr/>
          <a:lstStyle/>
          <a:p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9.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参考答案：（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以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春阳下西湖的多彩、夜幕中西湖的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寂静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来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衬托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雨中西湖的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柔和、诗意，雨中游历西湖更令作者难忘。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以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欧阳修西湖诗中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营造的喜悦、杜甫诗鸥鸟体现的孤寂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来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衬托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作者在雨中游历西湖时所获得的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恒久的生命感动。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以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香港旅游团“新春旅游”的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匆忙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来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反衬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作者游湖时与景物长久的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人文精神共鸣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。（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92500" lnSpcReduction="10000"/>
          </a:bodyPr>
          <a:lstStyle/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10. 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答案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A  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宦者所过纵暴，还过荆州，良嗣囚之，因上疏切谏，称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: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“远方求珍异以疲道路，非圣人抑己爱人之道。又小人窃弄威福，以亏皇明。”</a:t>
            </a:r>
          </a:p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11. 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答案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D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  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古代天子死曰崩，诸侯死曰薨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,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大夫死曰卒。士曰不禄，庶人曰死。古代天子、太后之死称崩、百岁、千秋、山陵崩等；对公、侯、伯的世爵之死，称为“薨”；有官职，有名望的人死曰“卒”；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只有平民之死，才直言不讳地通称“死”。</a:t>
            </a:r>
          </a:p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12. 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答案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D   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苏良嗣擅改寺名，为人鄙薄。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他不知河东寺是西梁皇帝萧詧为纪念兄长河东王所建，人们认为他学问不够。</a:t>
            </a:r>
          </a:p>
          <a:p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483245"/>
          </a:xfrm>
        </p:spPr>
        <p:txBody>
          <a:bodyPr>
            <a:normAutofit lnSpcReduction="10000"/>
          </a:bodyPr>
          <a:lstStyle/>
          <a:p>
            <a:pPr fontAlgn="ctr"/>
            <a:r>
              <a:rPr lang="en-US" b="1" dirty="0">
                <a:latin typeface="华文楷体" pitchFamily="2" charset="-122"/>
                <a:ea typeface="华文楷体" pitchFamily="2" charset="-122"/>
              </a:rPr>
              <a:t>13.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答案解析：（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）尚方监裴匪亲自督造各处园林，提出要卖掉园中的水果、蔬菜，储备钱财补贴王公大臣。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（案：考察，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分；鬻，卖，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分；佐：辅助，帮助，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分；句意连贯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分。）</a:t>
            </a:r>
          </a:p>
          <a:p>
            <a:pPr fontAlgn="ctr"/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）上朝时遇到薛怀义，薛怀义傲慢无礼，苏良嗣大怒，命随从扇薛怀义耳光，拽其离开。</a:t>
            </a:r>
          </a:p>
          <a:p>
            <a:pPr fontAlgn="ctr"/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（遇薛怀义于朝，状后，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分；偃蹇：骄傲，傲慢无礼，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分；批：用手击打，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分；句意连贯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分。）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14.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答案解析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：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①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远途运输本身沿路劳民伤财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；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②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宦官沿途弄权作福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；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③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有损皇帝的英明，有悖于圣上约束自己爱惜百姓的本意。（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点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分。）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水龙吟</a:t>
            </a: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·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过南剑双溪楼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pPr algn="ctr"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辛弃疾 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    举头西北浮云，倚天万里须长剑。人言此地，夜深长见，斗牛光焰。我觉山高，潭空水冷，月明星淡。待燃犀下看，凭栏却怕，风雷怒，鱼龙惨。</a:t>
            </a:r>
            <a:br>
              <a:rPr lang="zh-CN" altLang="en-US" b="1" dirty="0" smtClean="0">
                <a:latin typeface="华文楷体" pitchFamily="2" charset="-122"/>
                <a:ea typeface="华文楷体" pitchFamily="2" charset="-122"/>
              </a:rPr>
            </a:b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 峡束苍江对起，过危楼，欲飞还敛。元龙老矣！不妨高卧，冰壶凉簟。千古兴亡，百年悲笑，一时登览。问何人又卸，片帆沙岸，系斜阳缆？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举头西北浮云，倚天万里须长剑。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zh-CN" altLang="en-US" b="1" dirty="0" smtClean="0"/>
              <a:t>西北浮云：西北的天空被浮云遮蔽，这里</a:t>
            </a:r>
            <a:r>
              <a:rPr lang="zh-CN" altLang="en-US" b="1" dirty="0" smtClean="0">
                <a:solidFill>
                  <a:srgbClr val="FF0000"/>
                </a:solidFill>
              </a:rPr>
              <a:t>隐喻</a:t>
            </a:r>
            <a:r>
              <a:rPr lang="zh-CN" altLang="en-US" b="1" dirty="0" smtClean="0"/>
              <a:t>中原河山沦陷于金人之手。</a:t>
            </a:r>
            <a:endParaRPr lang="en-US" altLang="zh-CN" b="1" dirty="0" smtClean="0"/>
          </a:p>
          <a:p>
            <a:r>
              <a:rPr lang="zh-CN" altLang="en-US" b="1" dirty="0" smtClean="0"/>
              <a:t>宝剑既</a:t>
            </a:r>
            <a:r>
              <a:rPr lang="zh-CN" altLang="en-US" b="1" dirty="0" smtClean="0">
                <a:solidFill>
                  <a:srgbClr val="FF0000"/>
                </a:solidFill>
              </a:rPr>
              <a:t>喻指</a:t>
            </a:r>
            <a:r>
              <a:rPr lang="zh-CN" altLang="en-US" b="1" dirty="0" smtClean="0"/>
              <a:t>坚持抗敌的军民，又是作者自况。</a:t>
            </a:r>
            <a:endParaRPr lang="en-US" altLang="zh-CN" b="1" dirty="0" smtClean="0"/>
          </a:p>
          <a:p>
            <a:r>
              <a:rPr lang="zh-CN" altLang="en-US" b="1" dirty="0" smtClean="0">
                <a:solidFill>
                  <a:srgbClr val="002060"/>
                </a:solidFill>
              </a:rPr>
              <a:t>开篇远望西北，点染出国土沦丧，战云密布这一时代特征。</a:t>
            </a:r>
            <a:endParaRPr lang="en-US" altLang="zh-CN" b="1" dirty="0" smtClean="0">
              <a:solidFill>
                <a:srgbClr val="002060"/>
              </a:solidFill>
            </a:endParaRPr>
          </a:p>
          <a:p>
            <a:r>
              <a:rPr lang="zh-CN" altLang="en-US" b="1" dirty="0" smtClean="0">
                <a:solidFill>
                  <a:srgbClr val="002060"/>
                </a:solidFill>
              </a:rPr>
              <a:t>接着便直截提出了解决这一主要矛盾的主要方法：</a:t>
            </a:r>
            <a:r>
              <a:rPr lang="en-US" altLang="zh-CN" b="1" dirty="0" smtClean="0">
                <a:solidFill>
                  <a:srgbClr val="002060"/>
                </a:solidFill>
              </a:rPr>
              <a:t>"</a:t>
            </a:r>
            <a:r>
              <a:rPr lang="zh-CN" altLang="en-US" b="1" dirty="0" smtClean="0">
                <a:solidFill>
                  <a:srgbClr val="002060"/>
                </a:solidFill>
              </a:rPr>
              <a:t>倚天万里须长剑！</a:t>
            </a:r>
            <a:r>
              <a:rPr lang="en-US" altLang="zh-CN" b="1" dirty="0" smtClean="0">
                <a:solidFill>
                  <a:srgbClr val="002060"/>
                </a:solidFill>
              </a:rPr>
              <a:t>"</a:t>
            </a:r>
            <a:r>
              <a:rPr lang="zh-CN" altLang="en-US" b="1" dirty="0" smtClean="0">
                <a:solidFill>
                  <a:srgbClr val="002060"/>
                </a:solidFill>
              </a:rPr>
              <a:t>也就是说，要用自卫反击和收复失地的战争来消灭人侵之敌。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2088232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人言此地，夜深长见，斗牛光焰。我觉山高，潭空水冷，月明星淡。待燃犀下看，凭栏却怕，风雷怒，鱼龙惨。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2332037"/>
            <a:ext cx="8229600" cy="4525963"/>
          </a:xfrm>
        </p:spPr>
        <p:txBody>
          <a:bodyPr/>
          <a:lstStyle/>
          <a:p>
            <a:r>
              <a:rPr lang="zh-CN" altLang="en-US" b="1" dirty="0" smtClean="0"/>
              <a:t>斗牛：星名，二十八宿的斗宿与牛宿。</a:t>
            </a:r>
            <a:endParaRPr lang="en-US" altLang="zh-CN" b="1" dirty="0" smtClean="0"/>
          </a:p>
          <a:p>
            <a:r>
              <a:rPr lang="zh-CN" altLang="en-US" b="1" dirty="0" smtClean="0"/>
              <a:t>待：打算，想要。</a:t>
            </a:r>
            <a:endParaRPr lang="en-US" altLang="zh-CN" b="1" dirty="0" smtClean="0"/>
          </a:p>
          <a:p>
            <a:r>
              <a:rPr lang="zh-CN" altLang="en-US" b="1" dirty="0" smtClean="0"/>
              <a:t>鱼龙：指水中怪物，暗喻朝中阻遏抗战的小人。</a:t>
            </a:r>
            <a:endParaRPr lang="en-US" altLang="zh-CN" b="1" dirty="0" smtClean="0"/>
          </a:p>
          <a:p>
            <a:r>
              <a:rPr lang="zh-CN" altLang="en-US" b="1" dirty="0" smtClean="0"/>
              <a:t>惨：狠毒。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6868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 smtClean="0">
                <a:latin typeface="华文楷体" pitchFamily="2" charset="-122"/>
                <a:ea typeface="华文楷体" pitchFamily="2" charset="-122"/>
              </a:rPr>
              <a:t>人言此地，夜深长见，斗牛光焰。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64704"/>
            <a:ext cx="8568952" cy="1368152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/>
              <a:t>从延平津双剑故事翻腾出剑气上冲斗牛的词境。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251520" y="155679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 smtClean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+mj-cs"/>
              </a:rPr>
              <a:t>我觉山高，潭空水冷，月明星淡。</a:t>
            </a:r>
            <a:endParaRPr lang="zh-CN" altLang="en-US" sz="3600" b="1" dirty="0"/>
          </a:p>
        </p:txBody>
      </p:sp>
      <p:sp>
        <p:nvSpPr>
          <p:cNvPr id="5" name="矩形 4"/>
          <p:cNvSpPr/>
          <p:nvPr/>
        </p:nvSpPr>
        <p:spPr>
          <a:xfrm>
            <a:off x="323528" y="2420888"/>
            <a:ext cx="82089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/>
              <a:t>作者又把山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高</a:t>
            </a:r>
            <a:r>
              <a:rPr lang="zh-CN" altLang="en-US" sz="3200" b="1" dirty="0" smtClean="0"/>
              <a:t>、潭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空</a:t>
            </a:r>
            <a:r>
              <a:rPr lang="zh-CN" altLang="en-US" sz="3200" b="1" dirty="0" smtClean="0"/>
              <a:t>、水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冷</a:t>
            </a:r>
            <a:r>
              <a:rPr lang="zh-CN" altLang="en-US" sz="3200" b="1" dirty="0" smtClean="0"/>
              <a:t>、月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明</a:t>
            </a:r>
            <a:r>
              <a:rPr lang="zh-CN" altLang="en-US" sz="3200" b="1" dirty="0" smtClean="0"/>
              <a:t>、星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淡</a:t>
            </a:r>
            <a:r>
              <a:rPr lang="zh-CN" altLang="en-US" sz="3200" b="1" dirty="0" smtClean="0"/>
              <a:t>等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清寒</a:t>
            </a:r>
            <a:r>
              <a:rPr lang="zh-CN" altLang="en-US" sz="3200" b="1" dirty="0" smtClean="0"/>
              <a:t>景色，汇集在一起，以“我觉”二字领起，给人以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寒意凄冷</a:t>
            </a:r>
            <a:r>
              <a:rPr lang="zh-CN" altLang="en-US" sz="3200" b="1" dirty="0" smtClean="0"/>
              <a:t>的感觉。</a:t>
            </a:r>
          </a:p>
        </p:txBody>
      </p:sp>
      <p:sp>
        <p:nvSpPr>
          <p:cNvPr id="6" name="矩形 5"/>
          <p:cNvSpPr/>
          <p:nvPr/>
        </p:nvSpPr>
        <p:spPr>
          <a:xfrm>
            <a:off x="323528" y="4149080"/>
            <a:ext cx="8820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 smtClean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待燃犀下看，凭栏却怕，风雷怒，鱼龙惨。</a:t>
            </a:r>
            <a:endParaRPr lang="zh-CN" altLang="en-US" sz="3600" b="1" dirty="0"/>
          </a:p>
        </p:txBody>
      </p:sp>
      <p:sp>
        <p:nvSpPr>
          <p:cNvPr id="7" name="矩形 6"/>
          <p:cNvSpPr/>
          <p:nvPr/>
        </p:nvSpPr>
        <p:spPr>
          <a:xfrm>
            <a:off x="323528" y="4795897"/>
            <a:ext cx="846043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/>
              <a:t>然后转到要“燃犀下看”，一探究竟。“风雷怒，鱼龙惨”，一个怒字，一个惨字，紧接着上句的怕字，从静止中进入到惊心动魄的境界，字里行间，却跳跃着虎虎的生气。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748464" cy="1156990"/>
          </a:xfrm>
        </p:spPr>
        <p:txBody>
          <a:bodyPr>
            <a:noAutofit/>
          </a:bodyPr>
          <a:lstStyle/>
          <a:p>
            <a:pPr algn="l"/>
            <a:r>
              <a:rPr lang="zh-CN" altLang="en-US" sz="3600" b="1" dirty="0" smtClean="0">
                <a:latin typeface="华文楷体" pitchFamily="2" charset="-122"/>
                <a:ea typeface="华文楷体" pitchFamily="2" charset="-122"/>
              </a:rPr>
              <a:t>峡束苍江对起，过危楼，欲飞还敛。元龙老矣！不妨高卧，冰壶凉簟。千古兴亡，百年悲笑，一时登览。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 smtClean="0"/>
              <a:t>从高峡的“欲飞还敛”，</a:t>
            </a:r>
            <a:r>
              <a:rPr lang="zh-CN" altLang="en-US" b="1" dirty="0" smtClean="0">
                <a:solidFill>
                  <a:srgbClr val="FF0000"/>
                </a:solidFill>
              </a:rPr>
              <a:t>双关</a:t>
            </a:r>
            <a:r>
              <a:rPr lang="zh-CN" altLang="en-US" b="1" dirty="0" smtClean="0"/>
              <a:t>到词人从炽烈的民族斗争场合上被迫地退下来的悲凉心情。</a:t>
            </a:r>
            <a:endParaRPr lang="en-US" altLang="zh-CN" b="1" dirty="0" smtClean="0"/>
          </a:p>
          <a:p>
            <a:r>
              <a:rPr lang="zh-CN" altLang="en-US" b="1" dirty="0" smtClean="0"/>
              <a:t>“不妨高卧，冰壶凉簟”，</a:t>
            </a:r>
            <a:r>
              <a:rPr lang="zh-CN" altLang="en-US" b="1" dirty="0" smtClean="0">
                <a:solidFill>
                  <a:srgbClr val="FF0000"/>
                </a:solidFill>
              </a:rPr>
              <a:t>以淡静之词，勉强抑遏自己飞腾的壮志。</a:t>
            </a:r>
            <a:r>
              <a:rPr lang="zh-CN" altLang="en-US" b="1" dirty="0" smtClean="0"/>
              <a:t>这时作者年已在五十二岁以后，任福建提点刑狱之职，是无从施展收复中原的抱负的。</a:t>
            </a:r>
            <a:endParaRPr lang="en-US" altLang="zh-CN" b="1" dirty="0" smtClean="0"/>
          </a:p>
          <a:p>
            <a:r>
              <a:rPr lang="zh-CN" altLang="en-US" b="1" dirty="0" smtClean="0"/>
              <a:t>以下千古兴亡的感慨，低徊往复，</a:t>
            </a:r>
            <a:r>
              <a:rPr lang="zh-CN" altLang="en-US" b="1" dirty="0" smtClean="0">
                <a:solidFill>
                  <a:srgbClr val="FF0000"/>
                </a:solidFill>
              </a:rPr>
              <a:t>表面看来，情绪似乎低沉，但隐藏在词句背后的，又正是不能忘怀国事的忧愤。它跟江湖山林的词人们所抒写的悠闲自在心情，显然是大异其趣的。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问何人又卸，片帆沙岸，系斜阳缆？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52736"/>
            <a:ext cx="8424936" cy="5589240"/>
          </a:xfrm>
        </p:spPr>
        <p:txBody>
          <a:bodyPr>
            <a:normAutofit lnSpcReduction="10000"/>
          </a:bodyPr>
          <a:lstStyle/>
          <a:p>
            <a:r>
              <a:rPr lang="zh-CN" altLang="en-US" b="1" dirty="0" smtClean="0"/>
              <a:t>是什么人又一次卸下了张开的白帆，在斜阳夕照中抛锚系缆？</a:t>
            </a:r>
            <a:endParaRPr lang="en-US" altLang="zh-CN" b="1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紧密照应开篇</a:t>
            </a:r>
            <a:r>
              <a:rPr lang="zh-CN" altLang="en-US" b="1" dirty="0" smtClean="0"/>
              <a:t>，以</a:t>
            </a:r>
            <a:r>
              <a:rPr lang="zh-CN" altLang="en-US" b="1" dirty="0" smtClean="0">
                <a:solidFill>
                  <a:srgbClr val="FF0000"/>
                </a:solidFill>
              </a:rPr>
              <a:t>眼前之所见</a:t>
            </a:r>
            <a:r>
              <a:rPr lang="zh-CN" altLang="en-US" b="1" dirty="0" smtClean="0"/>
              <a:t>结束全篇（</a:t>
            </a:r>
            <a:r>
              <a:rPr lang="zh-CN" altLang="en-US" b="1" dirty="0" smtClean="0">
                <a:solidFill>
                  <a:srgbClr val="FF0000"/>
                </a:solidFill>
              </a:rPr>
              <a:t>以景结情</a:t>
            </a:r>
            <a:r>
              <a:rPr lang="zh-CN" altLang="en-US" b="1" dirty="0" smtClean="0"/>
              <a:t>），描绘了国土沦陷有人却麻木不仁的悠闲景象，蕴含了词人的无限悲慨。</a:t>
            </a:r>
            <a:endParaRPr lang="en-US" altLang="zh-CN" b="1" dirty="0" smtClean="0"/>
          </a:p>
          <a:p>
            <a:r>
              <a:rPr lang="zh-CN" altLang="en-US" b="1" dirty="0" smtClean="0"/>
              <a:t>这与开篇战云密布的形象是何等的不同！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         运用对比，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与开篇直写国家危急存亡的形势形成强烈的反差，表达了词人内心无比的愤慨之情。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         “又”字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精炼传神，不知何人又一次系缆沙岸，表达了词人悲愤深沉的情感。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buNone/>
            </a:pP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15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．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D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项对下片的内容和情感分析不当。词人千古兴亡的感慨表面看来情绪平静，背后却是不能忘怀国事的忧愤、激荡之情。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16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．①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描绘了一幅夕阳沙岸落帆图景。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夕阳中航船卸落白帆，在沙滩上抛锚系缆。②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以景结情。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以眼前所见之景结束全篇，“系斜阳缆”描绘了国土沦陷有人却麻木不仁的悠闲景象，蕴含了词人的无限悲慨。③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运用对比，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与开篇直写国家危急存亡的形势形成强烈的反差，表达了词人内心无比的愤慨之情。④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“又”字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精炼传神，不知何人又一次系缆沙岸，表达了词人悲愤深沉的情感。（任意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点得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6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17.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）未必人间无好汉，谁与宽些尺度？</a:t>
            </a:r>
          </a:p>
          <a:p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）矮纸斜行闲作草，晴窗细乳戏分茶。</a:t>
            </a:r>
          </a:p>
          <a:p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）泻水置平地，各自东西南北流。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18.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答案：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B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如写晨曦“躲、抹、踌躇”是拟人，写朝露“静待”“做梦”是比拟，“镶满整个天空”是夸张，写“梦”是比拟，写雪花“像北方的妾”“金翅的蝴蝶”是比喻，“奔命”、“睁眼”是比拟。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19.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答案：①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原句语言更加生动形象，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运用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比喻、拟人的修辞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，写出了哈尔滨这座北方城市早晨逐步苏醒的过程，充满生机和力量，而改句过于直白浅显。（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②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原句情感更加深厚内敛，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与第一段首尾呼应，深化主题，寄寓了作者对哈尔滨普通市民的生活热情和劳动精神的赞美之情，而改句显平淡客观。（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628652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20.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答案：① </a:t>
            </a:r>
            <a:r>
              <a:rPr lang="zh-CN" altLang="en-US" b="1" u="sng" dirty="0">
                <a:latin typeface="华文楷体" pitchFamily="2" charset="-122"/>
                <a:ea typeface="华文楷体" pitchFamily="2" charset="-122"/>
              </a:rPr>
              <a:t> 扮一回金珠子和红宝石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（手法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分、内容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     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② </a:t>
            </a:r>
            <a:r>
              <a:rPr lang="zh-CN" altLang="en-US" b="1" u="sng" dirty="0">
                <a:latin typeface="华文楷体" pitchFamily="2" charset="-122"/>
                <a:ea typeface="华文楷体" pitchFamily="2" charset="-122"/>
              </a:rPr>
              <a:t> 你仿佛进了生意红火的绸缎店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（手法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分、内容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21.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答案：第一处 ②标点符号错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,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把“喷嚏”后的逗号改顿号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 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     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第二处 ④搭配不当，“减少”和喷射速度不能搭配，英改为“降低”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     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第三处 ⑦前后主语不一致，加主语“我们”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      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第四处 ⑨重复啰嗦，“防止”包含了“不”的意思，去掉“不”。</a:t>
            </a:r>
          </a:p>
          <a:p>
            <a:r>
              <a:rPr lang="en-US" b="1" dirty="0">
                <a:latin typeface="华文楷体" pitchFamily="2" charset="-122"/>
                <a:ea typeface="华文楷体" pitchFamily="2" charset="-122"/>
              </a:rPr>
              <a:t>22.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答案：</a:t>
            </a:r>
            <a:r>
              <a:rPr lang="zh-CN" altLang="en-US" b="1" u="sng" dirty="0">
                <a:latin typeface="华文楷体" pitchFamily="2" charset="-122"/>
                <a:ea typeface="华文楷体" pitchFamily="2" charset="-122"/>
              </a:rPr>
              <a:t>为应对美国的打压与封锁，华为已于</a:t>
            </a:r>
            <a:r>
              <a:rPr lang="en-US" b="1" u="sng" dirty="0">
                <a:latin typeface="华文楷体" pitchFamily="2" charset="-122"/>
                <a:ea typeface="华文楷体" pitchFamily="2" charset="-122"/>
              </a:rPr>
              <a:t>8</a:t>
            </a:r>
            <a:r>
              <a:rPr lang="zh-CN" altLang="en-US" b="1" u="sng" dirty="0">
                <a:latin typeface="华文楷体" pitchFamily="2" charset="-122"/>
                <a:ea typeface="华文楷体" pitchFamily="2" charset="-122"/>
              </a:rPr>
              <a:t>月启动“南泥湾”项目，意在实现终端产品制造的自给自足。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+2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+2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分）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                   </a:t>
            </a:r>
            <a:r>
              <a:rPr lang="en-US" altLang="zh-CN" sz="4000" b="1">
                <a:solidFill>
                  <a:srgbClr val="FF0000"/>
                </a:solidFill>
              </a:rPr>
              <a:t>   </a:t>
            </a:r>
            <a:r>
              <a:rPr lang="zh-CN" altLang="zh-CN" sz="4000" b="1">
                <a:solidFill>
                  <a:srgbClr val="FF0000"/>
                </a:solidFill>
              </a:rPr>
              <a:t>午练五、六答案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68935"/>
            <a:ext cx="8449310" cy="5757545"/>
          </a:xfrm>
        </p:spPr>
        <p:txBody>
          <a:bodyPr>
            <a:normAutofit lnSpcReduction="10000"/>
          </a:bodyPr>
          <a:lstStyle/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13. ⑴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另外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派遣一百名老弱士兵，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拖着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柴薪扬起尘土，多多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竖立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旗帜，敌人害怕（人多），于是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撤去包围离开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了。</a:t>
            </a:r>
          </a:p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⑵军中大将彭智孙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趁机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占据义州反叛，李守忠听说这件事，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长途行军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迅速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到达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城下，奋力作战，</a:t>
            </a:r>
            <a:r>
              <a:rPr lang="zh-CN" altLang="en-US" sz="3600" b="1" u="sng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收复</a:t>
            </a:r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义州。    </a:t>
            </a:r>
          </a:p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14. ①以死回报朝廷对李家的信任和重托；②避免被捕受辱，以捍卫自身及家族尊严；③以绝部下念头，让他们坚定逃生决心，借此保全部下。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588645"/>
            <a:ext cx="8229600" cy="5288280"/>
          </a:xfrm>
        </p:spPr>
        <p:txBody>
          <a:bodyPr>
            <a:noAutofit/>
          </a:bodyPr>
          <a:lstStyle/>
          <a:p>
            <a:r>
              <a:rPr lang="zh-CN" altLang="en-US" b="1"/>
              <a:t>成纪郎官名字叫李义山，身归黄土让人空怀长叹。</a:t>
            </a:r>
          </a:p>
          <a:p>
            <a:r>
              <a:rPr lang="zh-CN" altLang="en-US" b="1"/>
              <a:t>诗词树林的枝叶已落尽，学术界的浪涛一夜枯干。</a:t>
            </a:r>
          </a:p>
          <a:p>
            <a:r>
              <a:rPr lang="zh-CN" altLang="en-US" b="1"/>
              <a:t>狂风暴雨把那灯烛吹灭，姓名一直在我心中思念。</a:t>
            </a:r>
          </a:p>
          <a:p>
            <a:r>
              <a:rPr lang="zh-CN" altLang="en-US" b="1"/>
              <a:t>他应该到世外攀折玉树，身著霓裳登上那仙人坛。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68935"/>
            <a:ext cx="8229600" cy="5757545"/>
          </a:xfrm>
        </p:spPr>
        <p:txBody>
          <a:bodyPr>
            <a:normAutofit fontScale="90000"/>
          </a:bodyPr>
          <a:lstStyle/>
          <a:p>
            <a:r>
              <a:rPr lang="zh-CN" altLang="en-US" sz="3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15.  C项，“颈联上句实写”错误，颈联“狂风暴雨把那灯烛吹灭，姓名一直在我心中思念”意思是狂风暴雨把那灯烛吹灭，姓名一直在我心中思念。对照题目和上文可以看出“狂风暴雨”并非是实景，再结合注释“他热衷政治，曾任秘书省校书郎，志欲革除积弊，却怀才不遇，最终成为朋党之争的牺牲品”可知，此处诗人以比喻手法含蓄地写出李商隐身陷党争而被排挤、郁郁而终的事实，所以“颈联上句实写”说法错误。故选C。   </a:t>
            </a:r>
          </a:p>
          <a:p>
            <a:endParaRPr lang="zh-CN" altLang="en-US" sz="3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250" y="765175"/>
            <a:ext cx="8273415" cy="5361305"/>
          </a:xfrm>
        </p:spPr>
        <p:txBody>
          <a:bodyPr>
            <a:normAutofit fontScale="67500" lnSpcReduction="10000"/>
          </a:bodyPr>
          <a:lstStyle/>
          <a:p>
            <a:pPr marL="0" indent="0">
              <a:buNone/>
            </a:pP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16  </a:t>
            </a:r>
            <a:r>
              <a:rPr lang="en-US" altLang="zh-CN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1.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“词林枝叶”“学海波澜”，以比喻的手法，生动形象地表现了李商隐的卓越才华；</a:t>
            </a:r>
            <a:r>
              <a:rPr lang="en-US" altLang="zh-CN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2.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“三春尽”“一夜干”，以夸张的手法，极写李商隐离世对文坛学界的损失、影响之大。颔联表达了诗人对李商隐才华的高度赞赏以及斯人已逝、才华不再的深切惋惜。</a:t>
            </a:r>
          </a:p>
          <a:p>
            <a:pPr marL="0" indent="0">
              <a:buNone/>
            </a:pP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颔联“词林枝叶三春尽，学海波澜一夜干”的意思是诗词树林的枝叶已落尽，学术界的浪涛一夜枯干。</a:t>
            </a:r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从手法、效果上看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，“词林枝叶”“学海波澜”运用了比喻的修辞手法，形容李商隐才华横溢，形象生动；“三春尽”“一夜干”运用夸张的手法，形容李商隐逝去的影响之大。</a:t>
            </a:r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从情感、主旨上看，</a:t>
            </a:r>
            <a:r>
              <a:rPr lang="zh-CN" altLang="en-US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作者运用比喻、夸张的手法，表达了对李商隐的敬佩、对其才华的赞赏之情，以及因其逝去的深深叹惋之意。</a:t>
            </a:r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作答时综合以上从手法、效果、情感、主旨等角度加以分析即可。</a:t>
            </a: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17．</a:t>
            </a:r>
            <a:r>
              <a:rPr lang="zh-CN" altLang="en-US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夜深忽梦少年事，梦啼妆泪红阑干</a:t>
            </a:r>
          </a:p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己所不欲，勿施于人</a:t>
            </a:r>
          </a:p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吾尝终日而思矣，不如须臾之所学也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47700"/>
            <a:ext cx="8229600" cy="6416675"/>
          </a:xfrm>
        </p:spPr>
        <p:txBody>
          <a:bodyPr/>
          <a:lstStyle/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6. D    7. B    </a:t>
            </a: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8. ①“我”学习成绩一般但是擅长运动，希望母亲能亲眼看到“我”的长处，分享“我”的光荣和喜悦；②“我”和母亲分居两地，母亲还从未亲自来看过“我”在运动会上的优秀表现，这是最后一次机会。    </a:t>
            </a:r>
          </a:p>
          <a:p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9. ①增强了小说的真实性，作者以亲历者的口吻来叙述参加最后一次运动会的过程，使读者感觉更加真实可信；②有利于展示主人公的内心世界，小说中心理描写较多，第一人称使这种展示更加自然顺畅，便于作者抒发感情；③增强了小说的感染力，第一人称更容易使读者进入情境，体会作者对母亲到来的真切期盼，增强对主题的理解；④有利于贯通故事情节，“我”串起了运动会的全过程，展示了复杂的内心世界，使故事叙述杂而不乱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2795</Words>
  <Application>Microsoft Office PowerPoint</Application>
  <PresentationFormat>全屏显示(4:3)</PresentationFormat>
  <Paragraphs>84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华文楷体</vt:lpstr>
      <vt:lpstr>楷体</vt:lpstr>
      <vt:lpstr>宋体</vt:lpstr>
      <vt:lpstr>Arial</vt:lpstr>
      <vt:lpstr>Calibri</vt:lpstr>
      <vt:lpstr>Office 主题</vt:lpstr>
      <vt:lpstr>2020——2021学年第一学期暑期调研试题 高三语文参考答案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举头西北浮云，倚天万里须长剑。</vt:lpstr>
      <vt:lpstr>人言此地，夜深长见，斗牛光焰。我觉山高，潭空水冷，月明星淡。待燃犀下看，凭栏却怕，风雷怒，鱼龙惨。</vt:lpstr>
      <vt:lpstr>人言此地，夜深长见，斗牛光焰。</vt:lpstr>
      <vt:lpstr>峡束苍江对起，过危楼，欲飞还敛。元龙老矣！不妨高卧，冰壶凉簟。千古兴亡，百年悲笑，一时登览。</vt:lpstr>
      <vt:lpstr>问何人又卸，片帆沙岸，系斜阳缆？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甘琴慧</dc:creator>
  <cp:lastModifiedBy>seewo</cp:lastModifiedBy>
  <cp:revision>12</cp:revision>
  <dcterms:created xsi:type="dcterms:W3CDTF">2020-08-26T13:06:00Z</dcterms:created>
  <dcterms:modified xsi:type="dcterms:W3CDTF">2020-09-01T03:55:12Z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